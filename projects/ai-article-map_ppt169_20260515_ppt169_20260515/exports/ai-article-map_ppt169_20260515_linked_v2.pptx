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欢迎大家。今天我想跟你们聊一件事——我花了一年多，写了22篇关于AI工程的文章，今天我把它们整理成了4张读者地图。不需要全读，找到你需要的那一条路径，直接进去就行。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次，我参加了一个AI入门讲座，认识了很多人。他们来自各行各业，有工程师、有职场人、也有完全不懂技术的普通人。我观察到一件事：他们都有点焦虑，有点无助，不知道从哪里开始。正是那次讲座，让我决定写那篇关于普通人用AI搭知识库的文章。我想，如果有人能用他们听得懂的方式，把AI讲清楚，也许就不一样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那次讲座上，我听到了很多问题。AI要来了，但不知道怎么用。工具太多，不知道从哪里下手。不是技术人，觉得AI太难了。是工程师，但感觉跟不上节奏。这些问题你有没有过？如果有，你来对地方了。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做软件超过二十年，最近十年在湾区。AI编程用了一年多，越用越觉得，这东西的威力被大多数人严重低估了。我发现大多数人用AI的方式都是零散的——要什么问什么，用完就走，没有系统化地把它真正融进工作流里。所以我开始写。这些文章不是教程，是我犯过的错，踩过的坑，认知的升级，实战的经验。二十多篇写下来，四个方向自然出来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四张地图，对应四类读者。地图一是给想系统学AI编程的人，从Vibe Coding到Claude Code全流程实战，共8篇。地图二是给Claude Code已经会用、想进阶软件工程方法论的人，SDD、OpenSpec、Agent，共6篇。地图三是给想搞清楚自己职业处境的工程师，Junior、Senior、工程经理、运维，各一篇。地图四是给不是技术人的你，关于心法、判断、从零开始的真实案例，共4篇。找到你是哪类读者，往下翻就行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地图一，系统学AI编程，共8篇。建议按顺序读——从Vibe Coding是什么开始，到Claude Code是什么，再到全流程实战、方法论演进、适用边界，最后到SDD的实战。如果你已经用了Claude Code但没有系统化，从第四篇开始也可以。这8篇是一条完整的路径。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地图二，AI时代软件工程方法论，共6篇。这里不是AI编程的入门，而是进阶。如果你已经把Claude Code用起来了，想知道怎么用SDD驾驭更复杂的项目，怎么构建Agent系统，怎么让不稳定的Agent变得可用，这6篇按需取用就好。不需要全读。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地图三，AI时代职业发展，共4篇。这里有四个角色的处境——Senior工程师、Junior工程师、软件开发经理、运维工程师。对号入座，找到你的那篇。每篇都不长，但都是真实的判断和思考，不是鸡汤。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地图四，非技术人的AI之路，共4篇。这条路不需要你会写代码。关于普通人的杠杆在哪里，善用AI的三个心法，用Claude Code搭知识库的真实案例，以及新工具爆火时该怎么判断。如果你在那次讲座的人群里，这四篇就是为你写的。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这是22篇文章的完整索引，你可以截图保存。地图一8篇，地图二6篇，地图三4篇，地图四4篇。这些文章的价值不是让你看完，是让你在需要时能找到。掘金搜AustinXu，或者直接访问原文链接。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已经在等你了。不需要全读，找到你需要的那一篇，今天就开始。AI是暖男。它不会评判你的进度，不会嫌你问题太多，不会因为你不是技术人就拒绝帮你。它只是在等你迈出第一步。打开掘金，搜索AustinXu，找到你的那张地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感谢大家。22篇文章，4张读者地图，按需取用。AI等着每一个愿意迈出第一步的人。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juejin.cn/post/7585397173023178771" TargetMode="External"/><Relationship Id="rId4" Type="http://schemas.openxmlformats.org/officeDocument/2006/relationships/hyperlink" Target="https://juejin.cn/post/7585397173023113235" TargetMode="External"/><Relationship Id="rId5" Type="http://schemas.openxmlformats.org/officeDocument/2006/relationships/hyperlink" Target="https://juejin.cn/post/7585412203978047531" TargetMode="External"/><Relationship Id="rId6" Type="http://schemas.openxmlformats.org/officeDocument/2006/relationships/hyperlink" Target="https://juejin.cn/post/7585412203978063915" TargetMode="External"/><Relationship Id="rId7" Type="http://schemas.openxmlformats.org/officeDocument/2006/relationships/hyperlink" Target="https://juejin.cn/post/7585390679398907910" TargetMode="External"/><Relationship Id="rId8" Type="http://schemas.openxmlformats.org/officeDocument/2006/relationships/hyperlink" Target="https://juejin.cn/post/7585390679398924294" TargetMode="External"/><Relationship Id="rId9" Type="http://schemas.openxmlformats.org/officeDocument/2006/relationships/hyperlink" Target="https://juejin.cn/post/7613975134063591476" TargetMode="External"/><Relationship Id="rId10" Type="http://schemas.openxmlformats.org/officeDocument/2006/relationships/hyperlink" Target="https://juejin.cn/post/758540049568350212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juejin.cn/post/7612144065903427636" TargetMode="External"/><Relationship Id="rId4" Type="http://schemas.openxmlformats.org/officeDocument/2006/relationships/hyperlink" Target="https://juejin.cn/post/7614752576312721460" TargetMode="External"/><Relationship Id="rId5" Type="http://schemas.openxmlformats.org/officeDocument/2006/relationships/hyperlink" Target="https://juejin.cn/post/7630755707556118562" TargetMode="External"/><Relationship Id="rId6" Type="http://schemas.openxmlformats.org/officeDocument/2006/relationships/hyperlink" Target="https://juejin.cn/post/7639268681235333160" TargetMode="External"/><Relationship Id="rId7" Type="http://schemas.openxmlformats.org/officeDocument/2006/relationships/hyperlink" Target="https://juejin.cn/post/7636978905913409576" TargetMode="External"/><Relationship Id="rId8" Type="http://schemas.openxmlformats.org/officeDocument/2006/relationships/hyperlink" Target="https://juejin.cn/post/7593215107405692964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juejin.cn/post/7639239837708730403" TargetMode="External"/><Relationship Id="rId4" Type="http://schemas.openxmlformats.org/officeDocument/2006/relationships/hyperlink" Target="https://juejin.cn/post/7615801634950283298" TargetMode="External"/><Relationship Id="rId5" Type="http://schemas.openxmlformats.org/officeDocument/2006/relationships/hyperlink" Target="https://juejin.cn/post/7624102246314426422" TargetMode="External"/><Relationship Id="rId6" Type="http://schemas.openxmlformats.org/officeDocument/2006/relationships/hyperlink" Target="https://juejin.cn/post/761823954052949611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juejin.cn/post/7626336868328718376" TargetMode="External"/><Relationship Id="rId4" Type="http://schemas.openxmlformats.org/officeDocument/2006/relationships/hyperlink" Target="https://juejin.cn/post/7636587578021560355" TargetMode="External"/><Relationship Id="rId5" Type="http://schemas.openxmlformats.org/officeDocument/2006/relationships/hyperlink" Target="https://juejin.cn/post/7635681418753163304" TargetMode="External"/><Relationship Id="rId6" Type="http://schemas.openxmlformats.org/officeDocument/2006/relationships/hyperlink" Target="https://juejin.cn/post/7618764794955300927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juejin.cn/post/7585397173023113235" TargetMode="External"/><Relationship Id="rId4" Type="http://schemas.openxmlformats.org/officeDocument/2006/relationships/hyperlink" Target="https://juejin.cn/post/7585412203978047531" TargetMode="External"/><Relationship Id="rId5" Type="http://schemas.openxmlformats.org/officeDocument/2006/relationships/hyperlink" Target="https://juejin.cn/post/7585397173023178771" TargetMode="External"/><Relationship Id="rId6" Type="http://schemas.openxmlformats.org/officeDocument/2006/relationships/hyperlink" Target="https://juejin.cn/post/7585412203978063915" TargetMode="External"/><Relationship Id="rId7" Type="http://schemas.openxmlformats.org/officeDocument/2006/relationships/hyperlink" Target="https://juejin.cn/post/7585390679398907910" TargetMode="External"/><Relationship Id="rId8" Type="http://schemas.openxmlformats.org/officeDocument/2006/relationships/hyperlink" Target="https://juejin.cn/post/7585390679398924294" TargetMode="External"/><Relationship Id="rId9" Type="http://schemas.openxmlformats.org/officeDocument/2006/relationships/hyperlink" Target="https://juejin.cn/post/7613975134063591476" TargetMode="External"/><Relationship Id="rId10" Type="http://schemas.openxmlformats.org/officeDocument/2006/relationships/hyperlink" Target="https://juejin.cn/post/7585400495683502122" TargetMode="External"/><Relationship Id="rId11" Type="http://schemas.openxmlformats.org/officeDocument/2006/relationships/hyperlink" Target="https://juejin.cn/post/7612144065903427636" TargetMode="External"/><Relationship Id="rId12" Type="http://schemas.openxmlformats.org/officeDocument/2006/relationships/hyperlink" Target="https://juejin.cn/post/7614752576312721460" TargetMode="External"/><Relationship Id="rId13" Type="http://schemas.openxmlformats.org/officeDocument/2006/relationships/hyperlink" Target="https://juejin.cn/post/7630755707556118562" TargetMode="External"/><Relationship Id="rId14" Type="http://schemas.openxmlformats.org/officeDocument/2006/relationships/hyperlink" Target="https://juejin.cn/post/7639268681235333160" TargetMode="External"/><Relationship Id="rId15" Type="http://schemas.openxmlformats.org/officeDocument/2006/relationships/hyperlink" Target="https://juejin.cn/post/7636978905913409576" TargetMode="External"/><Relationship Id="rId16" Type="http://schemas.openxmlformats.org/officeDocument/2006/relationships/hyperlink" Target="https://juejin.cn/post/7593215107405692964" TargetMode="External"/><Relationship Id="rId17" Type="http://schemas.openxmlformats.org/officeDocument/2006/relationships/hyperlink" Target="https://juejin.cn/post/7639239837708730403" TargetMode="External"/><Relationship Id="rId18" Type="http://schemas.openxmlformats.org/officeDocument/2006/relationships/hyperlink" Target="https://juejin.cn/post/7615801634950283298" TargetMode="External"/><Relationship Id="rId19" Type="http://schemas.openxmlformats.org/officeDocument/2006/relationships/hyperlink" Target="https://juejin.cn/post/7624102246314426422" TargetMode="External"/><Relationship Id="rId20" Type="http://schemas.openxmlformats.org/officeDocument/2006/relationships/hyperlink" Target="https://juejin.cn/post/7618239540529496118" TargetMode="External"/><Relationship Id="rId21" Type="http://schemas.openxmlformats.org/officeDocument/2006/relationships/hyperlink" Target="https://juejin.cn/post/7626336868328718376" TargetMode="External"/><Relationship Id="rId22" Type="http://schemas.openxmlformats.org/officeDocument/2006/relationships/hyperlink" Target="https://juejin.cn/post/7636587578021560355" TargetMode="External"/><Relationship Id="rId23" Type="http://schemas.openxmlformats.org/officeDocument/2006/relationships/hyperlink" Target="https://juejin.cn/post/7635681418753163304" TargetMode="External"/><Relationship Id="rId24" Type="http://schemas.openxmlformats.org/officeDocument/2006/relationships/hyperlink" Target="https://juejin.cn/post/7618764794955300927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9E0B">
                  <a:alpha val="14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4899">
                  <a:alpha val="800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E8640A"/>
              </a:gs>
              <a:gs pos="50000">
                <a:srgbClr val="F59E0B"/>
              </a:gs>
              <a:gs pos="100000">
                <a:srgbClr val="EC4899"/>
              </a:gs>
            </a:gsLst>
            <a:lin ang="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8289" y="321217"/>
            <a:ext cx="232172" cy="214564"/>
            <a:chOff x="598289" y="321217"/>
            <a:chExt cx="232172" cy="214564"/>
          </a:xfrm>
        </p:grpSpPr>
        <p:sp>
          <p:nvSpPr>
            <p:cNvPr id="6" name="Freeform 6"/>
            <p:cNvSpPr/>
            <p:nvPr/>
          </p:nvSpPr>
          <p:spPr>
            <a:xfrm>
              <a:off x="678656" y="330398"/>
              <a:ext cx="71438" cy="196453"/>
            </a:xfrm>
            <a:custGeom>
              <a:avLst/>
              <a:gdLst/>
              <a:ahLst/>
              <a:cxnLst/>
              <a:rect l="l" t="t" r="r" b="b"/>
              <a:pathLst>
                <a:path w="71438" h="196453">
                  <a:moveTo>
                    <a:pt x="71438" y="35719"/>
                  </a:moveTo>
                  <a:lnTo>
                    <a:pt x="71438" y="196453"/>
                  </a:lnTo>
                  <a:lnTo>
                    <a:pt x="0" y="160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98289" y="321217"/>
              <a:ext cx="232172" cy="214564"/>
            </a:xfrm>
            <a:custGeom>
              <a:avLst/>
              <a:gdLst/>
              <a:ahLst/>
              <a:cxnLst/>
              <a:rect l="l" t="t" r="r" b="b"/>
              <a:pathLst>
                <a:path w="232172" h="214564">
                  <a:moveTo>
                    <a:pt x="228734" y="19997"/>
                  </a:moveTo>
                  <a:cubicBezTo>
                    <a:pt x="226566" y="18309"/>
                    <a:pt x="223742" y="17712"/>
                    <a:pt x="221077" y="18379"/>
                  </a:cubicBezTo>
                  <a:lnTo>
                    <a:pt x="152843" y="35435"/>
                  </a:lnTo>
                  <a:lnTo>
                    <a:pt x="84363" y="1189"/>
                  </a:lnTo>
                  <a:cubicBezTo>
                    <a:pt x="82455" y="238"/>
                    <a:pt x="80270" y="0"/>
                    <a:pt x="78202" y="520"/>
                  </a:cubicBezTo>
                  <a:lnTo>
                    <a:pt x="6764" y="18379"/>
                  </a:lnTo>
                  <a:cubicBezTo>
                    <a:pt x="2789" y="19372"/>
                    <a:pt x="1" y="22944"/>
                    <a:pt x="0" y="27041"/>
                  </a:cubicBezTo>
                  <a:lnTo>
                    <a:pt x="0" y="187775"/>
                  </a:lnTo>
                  <a:cubicBezTo>
                    <a:pt x="0" y="190525"/>
                    <a:pt x="1267" y="193121"/>
                    <a:pt x="3435" y="194812"/>
                  </a:cubicBezTo>
                  <a:cubicBezTo>
                    <a:pt x="5602" y="196504"/>
                    <a:pt x="8428" y="197104"/>
                    <a:pt x="11095" y="196437"/>
                  </a:cubicBezTo>
                  <a:lnTo>
                    <a:pt x="79329" y="179381"/>
                  </a:lnTo>
                  <a:lnTo>
                    <a:pt x="147809" y="213627"/>
                  </a:lnTo>
                  <a:cubicBezTo>
                    <a:pt x="149052" y="214239"/>
                    <a:pt x="150419" y="214560"/>
                    <a:pt x="151805" y="214564"/>
                  </a:cubicBezTo>
                  <a:cubicBezTo>
                    <a:pt x="152535" y="214564"/>
                    <a:pt x="153262" y="214474"/>
                    <a:pt x="153970" y="214296"/>
                  </a:cubicBezTo>
                  <a:lnTo>
                    <a:pt x="225408" y="196437"/>
                  </a:lnTo>
                  <a:cubicBezTo>
                    <a:pt x="229383" y="195443"/>
                    <a:pt x="232171" y="191872"/>
                    <a:pt x="232172" y="187775"/>
                  </a:cubicBezTo>
                  <a:lnTo>
                    <a:pt x="232172" y="27041"/>
                  </a:lnTo>
                  <a:cubicBezTo>
                    <a:pt x="232172" y="24289"/>
                    <a:pt x="230904" y="21690"/>
                    <a:pt x="228734" y="19997"/>
                  </a:cubicBezTo>
                  <a:close/>
                  <a:moveTo>
                    <a:pt x="89297" y="23625"/>
                  </a:moveTo>
                  <a:lnTo>
                    <a:pt x="142875" y="50414"/>
                  </a:lnTo>
                  <a:lnTo>
                    <a:pt x="142875" y="191191"/>
                  </a:lnTo>
                  <a:lnTo>
                    <a:pt x="89297" y="164402"/>
                  </a:lnTo>
                  <a:close/>
                  <a:moveTo>
                    <a:pt x="17859" y="34017"/>
                  </a:moveTo>
                  <a:lnTo>
                    <a:pt x="71438" y="20622"/>
                  </a:lnTo>
                  <a:lnTo>
                    <a:pt x="71438" y="162939"/>
                  </a:lnTo>
                  <a:lnTo>
                    <a:pt x="17859" y="176334"/>
                  </a:lnTo>
                  <a:close/>
                  <a:moveTo>
                    <a:pt x="214312" y="180799"/>
                  </a:moveTo>
                  <a:lnTo>
                    <a:pt x="160734" y="194193"/>
                  </a:lnTo>
                  <a:lnTo>
                    <a:pt x="160734" y="51876"/>
                  </a:lnTo>
                  <a:lnTo>
                    <a:pt x="214312" y="38482"/>
                  </a:ln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920115" y="372428"/>
            <a:ext cx="2004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Vibe Coding 专栏</a:t>
            </a:r>
          </a:p>
        </p:txBody>
      </p:sp>
      <p:sp>
        <p:nvSpPr>
          <p:cNvPr id="10" name="Ellipse 10"/>
          <p:cNvSpPr/>
          <p:nvPr/>
        </p:nvSpPr>
        <p:spPr>
          <a:xfrm>
            <a:off x="11287125" y="238125"/>
            <a:ext cx="171450" cy="171450"/>
          </a:xfrm>
          <a:prstGeom prst="ellipse">
            <a:avLst/>
          </a:prstGeom>
          <a:solidFill>
            <a:srgbClr val="E8640A">
              <a:alpha val="8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515725" y="238125"/>
            <a:ext cx="171450" cy="171450"/>
          </a:xfrm>
          <a:prstGeom prst="ellipse">
            <a:avLst/>
          </a:prstGeom>
          <a:solidFill>
            <a:srgbClr val="F59E0B">
              <a:alpha val="8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1287125" y="466725"/>
            <a:ext cx="171450" cy="171450"/>
          </a:xfrm>
          <a:prstGeom prst="ellipse">
            <a:avLst/>
          </a:prstGeom>
          <a:solidFill>
            <a:srgbClr val="10B981">
              <a:alpha val="85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1515725" y="466725"/>
            <a:ext cx="171450" cy="171450"/>
          </a:xfrm>
          <a:prstGeom prst="ellipse">
            <a:avLst/>
          </a:prstGeom>
          <a:solidFill>
            <a:srgbClr val="8B5CF6">
              <a:alpha val="8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65504" y="1409700"/>
            <a:ext cx="3737991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E8640A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375" y="2018348"/>
            <a:ext cx="3883250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95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22篇AI文章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38851" y="2996565"/>
            <a:ext cx="471429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整理成 4 张读者地图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14645" y="3689032"/>
            <a:ext cx="41627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不需要全读——找到你的路径，按需取用</a:t>
            </a:r>
          </a:p>
        </p:txBody>
      </p:sp>
      <p:sp>
        <p:nvSpPr>
          <p:cNvPr id="18" name="Line 18"/>
          <p:cNvSpPr/>
          <p:nvPr/>
        </p:nvSpPr>
        <p:spPr>
          <a:xfrm>
            <a:off x="4953000" y="41148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4288">
            <a:solidFill>
              <a:srgbClr val="E7D5C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2190750" y="4381500"/>
            <a:ext cx="1762125" cy="43815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4288">
            <a:solidFill>
              <a:srgbClr val="E8640A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2390775" y="4533900"/>
            <a:ext cx="133350" cy="133350"/>
          </a:xfrm>
          <a:prstGeom prst="ellipse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95562" y="45267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地图一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68015" y="45348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AI编程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43375" y="4381500"/>
            <a:ext cx="1762125" cy="43815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4288">
            <a:solidFill>
              <a:srgbClr val="F59E0B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4343400" y="4533900"/>
            <a:ext cx="133350" cy="1333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48188" y="45267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地图二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0640" y="45348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工程方法论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96000" y="4381500"/>
            <a:ext cx="1762125" cy="4381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4288">
            <a:solidFill>
              <a:srgbClr val="10B981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6296025" y="4533900"/>
            <a:ext cx="133350" cy="1333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00812" y="45267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地图三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73265" y="45348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职业发展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48625" y="4381500"/>
            <a:ext cx="1762125" cy="43815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4288">
            <a:solidFill>
              <a:srgbClr val="8B5CF6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8248650" y="4533900"/>
            <a:ext cx="133350" cy="1333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53438" y="45267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地图四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25890" y="45348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非技术人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07205" y="5441156"/>
            <a:ext cx="3577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2026-05-14 · 掘金 Vibe Coding 专栏</a:t>
            </a:r>
          </a:p>
        </p:txBody>
      </p:sp>
      <p:sp>
        <p:nvSpPr>
          <p:cNvPr id="36" name="Ellipse 36"/>
          <p:cNvSpPr/>
          <p:nvPr/>
        </p:nvSpPr>
        <p:spPr>
          <a:xfrm>
            <a:off x="5686425" y="5762625"/>
            <a:ext cx="57150" cy="57150"/>
          </a:xfrm>
          <a:prstGeom prst="ellipse">
            <a:avLst/>
          </a:prstGeom>
          <a:solidFill>
            <a:srgbClr val="E7D5C0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5876925" y="5762625"/>
            <a:ext cx="57150" cy="57150"/>
          </a:xfrm>
          <a:prstGeom prst="ellipse">
            <a:avLst/>
          </a:prstGeom>
          <a:solidFill>
            <a:srgbClr val="E7D5C0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6067425" y="5762625"/>
            <a:ext cx="57150" cy="57150"/>
          </a:xfrm>
          <a:prstGeom prst="ellipse">
            <a:avLst/>
          </a:prstGeom>
          <a:solidFill>
            <a:srgbClr val="E7D5C0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257925" y="5762625"/>
            <a:ext cx="57150" cy="57150"/>
          </a:xfrm>
          <a:prstGeom prst="ellipse">
            <a:avLst/>
          </a:prstGeom>
          <a:solidFill>
            <a:srgbClr val="E7D5C0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448425" y="5762625"/>
            <a:ext cx="57150" cy="57150"/>
          </a:xfrm>
          <a:prstGeom prst="ellipse">
            <a:avLst/>
          </a:prstGeom>
          <a:solidFill>
            <a:srgbClr val="E7D5C0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92418" y="3328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98682" y="5400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一次讲座，让我决定写这些文章</a:t>
            </a:r>
          </a:p>
        </p:txBody>
      </p:sp>
      <p:sp>
        <p:nvSpPr>
          <p:cNvPr id="7" name="Line 7"/>
          <p:cNvSpPr/>
          <p:nvPr/>
        </p:nvSpPr>
        <p:spPr>
          <a:xfrm>
            <a:off x="4953000" y="8001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1166812" y="1633538"/>
            <a:ext cx="333375" cy="466725"/>
            <a:chOff x="1166812" y="1633538"/>
            <a:chExt cx="333375" cy="466725"/>
          </a:xfrm>
        </p:grpSpPr>
        <p:sp>
          <p:nvSpPr>
            <p:cNvPr id="8" name="Freeform 8"/>
            <p:cNvSpPr/>
            <p:nvPr/>
          </p:nvSpPr>
          <p:spPr>
            <a:xfrm>
              <a:off x="1250156" y="1650206"/>
              <a:ext cx="166688" cy="300038"/>
            </a:xfrm>
            <a:custGeom>
              <a:avLst/>
              <a:gdLst/>
              <a:ahLst/>
              <a:cxnLst/>
              <a:rect l="l" t="t" r="r" b="b"/>
              <a:pathLst>
                <a:path w="166688" h="300038">
                  <a:moveTo>
                    <a:pt x="166688" y="83344"/>
                  </a:moveTo>
                  <a:lnTo>
                    <a:pt x="166688" y="216694"/>
                  </a:lnTo>
                  <a:cubicBezTo>
                    <a:pt x="166688" y="262723"/>
                    <a:pt x="129373" y="300038"/>
                    <a:pt x="83344" y="300038"/>
                  </a:cubicBezTo>
                  <a:lnTo>
                    <a:pt x="83344" y="300038"/>
                  </a:lnTo>
                  <a:cubicBezTo>
                    <a:pt x="37314" y="300038"/>
                    <a:pt x="0" y="262723"/>
                    <a:pt x="0" y="216694"/>
                  </a:cubicBezTo>
                  <a:lnTo>
                    <a:pt x="0" y="83344"/>
                  </a:lnTo>
                  <a:cubicBezTo>
                    <a:pt x="0" y="37314"/>
                    <a:pt x="37314" y="0"/>
                    <a:pt x="83344" y="0"/>
                  </a:cubicBezTo>
                  <a:lnTo>
                    <a:pt x="83344" y="0"/>
                  </a:lnTo>
                  <a:cubicBezTo>
                    <a:pt x="129373" y="0"/>
                    <a:pt x="166688" y="37314"/>
                    <a:pt x="166688" y="83344"/>
                  </a:cubicBez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66812" y="1633538"/>
              <a:ext cx="333375" cy="466725"/>
            </a:xfrm>
            <a:custGeom>
              <a:avLst/>
              <a:gdLst/>
              <a:ahLst/>
              <a:cxnLst/>
              <a:rect l="l" t="t" r="r" b="b"/>
              <a:pathLst>
                <a:path w="333375" h="466725">
                  <a:moveTo>
                    <a:pt x="166688" y="333375"/>
                  </a:moveTo>
                  <a:cubicBezTo>
                    <a:pt x="221899" y="333318"/>
                    <a:pt x="266643" y="288574"/>
                    <a:pt x="266700" y="233362"/>
                  </a:cubicBezTo>
                  <a:lnTo>
                    <a:pt x="266700" y="100012"/>
                  </a:lnTo>
                  <a:cubicBezTo>
                    <a:pt x="266700" y="44777"/>
                    <a:pt x="221923" y="0"/>
                    <a:pt x="166688" y="0"/>
                  </a:cubicBezTo>
                  <a:cubicBezTo>
                    <a:pt x="111452" y="0"/>
                    <a:pt x="66675" y="44777"/>
                    <a:pt x="66675" y="100012"/>
                  </a:cubicBezTo>
                  <a:lnTo>
                    <a:pt x="66675" y="233362"/>
                  </a:lnTo>
                  <a:cubicBezTo>
                    <a:pt x="66732" y="288574"/>
                    <a:pt x="111476" y="333318"/>
                    <a:pt x="166687" y="333375"/>
                  </a:cubicBezTo>
                  <a:close/>
                  <a:moveTo>
                    <a:pt x="100012" y="100012"/>
                  </a:moveTo>
                  <a:cubicBezTo>
                    <a:pt x="100012" y="63189"/>
                    <a:pt x="129864" y="33338"/>
                    <a:pt x="166688" y="33338"/>
                  </a:cubicBezTo>
                  <a:cubicBezTo>
                    <a:pt x="203511" y="33338"/>
                    <a:pt x="233362" y="63189"/>
                    <a:pt x="233362" y="100012"/>
                  </a:cubicBezTo>
                  <a:lnTo>
                    <a:pt x="233362" y="233362"/>
                  </a:lnTo>
                  <a:cubicBezTo>
                    <a:pt x="233362" y="270186"/>
                    <a:pt x="203511" y="300038"/>
                    <a:pt x="166688" y="300038"/>
                  </a:cubicBezTo>
                  <a:cubicBezTo>
                    <a:pt x="129864" y="300038"/>
                    <a:pt x="100012" y="270186"/>
                    <a:pt x="100012" y="233362"/>
                  </a:cubicBezTo>
                  <a:close/>
                  <a:moveTo>
                    <a:pt x="183356" y="399217"/>
                  </a:moveTo>
                  <a:lnTo>
                    <a:pt x="183356" y="450056"/>
                  </a:lnTo>
                  <a:cubicBezTo>
                    <a:pt x="183356" y="459262"/>
                    <a:pt x="175893" y="466725"/>
                    <a:pt x="166688" y="466725"/>
                  </a:cubicBezTo>
                  <a:cubicBezTo>
                    <a:pt x="157482" y="466725"/>
                    <a:pt x="150019" y="459262"/>
                    <a:pt x="150019" y="450056"/>
                  </a:cubicBezTo>
                  <a:lnTo>
                    <a:pt x="150019" y="399217"/>
                  </a:lnTo>
                  <a:cubicBezTo>
                    <a:pt x="64894" y="390554"/>
                    <a:pt x="105" y="318926"/>
                    <a:pt x="0" y="233362"/>
                  </a:cubicBezTo>
                  <a:cubicBezTo>
                    <a:pt x="0" y="224157"/>
                    <a:pt x="7463" y="216694"/>
                    <a:pt x="16669" y="216694"/>
                  </a:cubicBezTo>
                  <a:cubicBezTo>
                    <a:pt x="25875" y="216694"/>
                    <a:pt x="33338" y="224157"/>
                    <a:pt x="33338" y="233362"/>
                  </a:cubicBezTo>
                  <a:cubicBezTo>
                    <a:pt x="33338" y="307010"/>
                    <a:pt x="93040" y="366712"/>
                    <a:pt x="166688" y="366712"/>
                  </a:cubicBezTo>
                  <a:cubicBezTo>
                    <a:pt x="240335" y="366712"/>
                    <a:pt x="300038" y="307010"/>
                    <a:pt x="300038" y="233362"/>
                  </a:cubicBezTo>
                  <a:cubicBezTo>
                    <a:pt x="300038" y="224157"/>
                    <a:pt x="307500" y="216694"/>
                    <a:pt x="316706" y="216694"/>
                  </a:cubicBezTo>
                  <a:cubicBezTo>
                    <a:pt x="325912" y="216694"/>
                    <a:pt x="333375" y="224157"/>
                    <a:pt x="333375" y="233362"/>
                  </a:cubicBezTo>
                  <a:cubicBezTo>
                    <a:pt x="333270" y="318926"/>
                    <a:pt x="268481" y="390554"/>
                    <a:pt x="183356" y="399217"/>
                  </a:cubicBez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051560" y="23279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8702" y="2551271"/>
            <a:ext cx="221106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参加了一次 AI 入门讲座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8702" y="2837021"/>
            <a:ext cx="128492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认识了不少人</a:t>
            </a:r>
          </a:p>
        </p:txBody>
      </p:sp>
      <p:sp>
        <p:nvSpPr>
          <p:cNvPr id="14" name="Line 14"/>
          <p:cNvSpPr/>
          <p:nvPr/>
        </p:nvSpPr>
        <p:spPr>
          <a:xfrm>
            <a:off x="1066800" y="321945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051560" y="33566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观察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8702" y="3579971"/>
            <a:ext cx="19092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他们感到焦虑、无助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702" y="3865721"/>
            <a:ext cx="17011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不知道从哪里下手</a:t>
            </a:r>
          </a:p>
        </p:txBody>
      </p:sp>
      <p:sp>
        <p:nvSpPr>
          <p:cNvPr id="18" name="Line 18"/>
          <p:cNvSpPr/>
          <p:nvPr/>
        </p:nvSpPr>
        <p:spPr>
          <a:xfrm>
            <a:off x="1066800" y="424815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51560" y="43853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触发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8702" y="4608671"/>
            <a:ext cx="232552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正是他们，让我写了那篇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8702" y="4894421"/>
            <a:ext cx="262730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普通人用 AI 搭知识库的文章</a:t>
            </a:r>
          </a:p>
        </p:txBody>
      </p:sp>
      <p:sp>
        <p:nvSpPr>
          <p:cNvPr id="22" name="Line 22"/>
          <p:cNvSpPr/>
          <p:nvPr/>
        </p:nvSpPr>
        <p:spPr>
          <a:xfrm>
            <a:off x="3810000" y="133350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9525">
            <a:solidFill>
              <a:srgbClr val="E7D5C0"/>
            </a:solidFill>
            <a:prstDash val="dash"/>
          </a:ln>
        </p:spPr>
      </p:sp>
      <p:sp>
        <p:nvSpPr>
          <p:cNvPr id="23" name="TextBox 23"/>
          <p:cNvSpPr txBox="1"/>
          <p:nvPr/>
        </p:nvSpPr>
        <p:spPr>
          <a:xfrm>
            <a:off x="7575947" y="233600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他们说的话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67200" y="2552700"/>
            <a:ext cx="951547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dirty="0">
                <a:solidFill>
                  <a:srgbClr val="E8640A">
                    <a:alphaMod val="12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98336" y="27508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他们不是没有能力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98336" y="32080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只是还没找到入口</a:t>
            </a:r>
          </a:p>
        </p:txBody>
      </p:sp>
      <p:sp>
        <p:nvSpPr>
          <p:cNvPr id="27" name="Line 27"/>
          <p:cNvSpPr/>
          <p:nvPr/>
        </p:nvSpPr>
        <p:spPr>
          <a:xfrm>
            <a:off x="6858000" y="37338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62547" y="3851910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——那次讲座之后，我写下了第一篇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63200" y="3409950"/>
            <a:ext cx="951547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dirty="0">
                <a:solidFill>
                  <a:srgbClr val="E8640A">
                    <a:alphaMod val="12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86062" y="4807268"/>
            <a:ext cx="24298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 能帮到他们，只是还没人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00850" y="50739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用他们听得懂的方式讲清楚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  <p:sp>
        <p:nvSpPr>
          <p:cNvPr id="33" name="Ellipse 33"/>
          <p:cNvSpPr/>
          <p:nvPr/>
        </p:nvSpPr>
        <p:spPr>
          <a:xfrm>
            <a:off x="4438650" y="6038850"/>
            <a:ext cx="6210300" cy="304800"/>
          </a:xfrm>
          <a:prstGeom prst="ellipse">
            <a:avLst/>
          </a:prstGeom>
          <a:solidFill>
            <a:srgbClr val="F59E0B">
              <a:alpha val="6000"/>
            </a:srgb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4581525" y="5381625"/>
            <a:ext cx="285750" cy="285750"/>
          </a:xfrm>
          <a:prstGeom prst="ellipse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610100" y="5657850"/>
            <a:ext cx="228600" cy="361950"/>
          </a:xfrm>
          <a:prstGeom prst="roundRect">
            <a:avLst>
              <a:gd name="adj" fmla="val 41667"/>
            </a:avLst>
          </a:prstGeom>
          <a:solidFill>
            <a:srgbClr val="E8640A">
              <a:alpha val="90000"/>
            </a:srgb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5495925" y="5457825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514975" y="5695950"/>
            <a:ext cx="209550" cy="323850"/>
          </a:xfrm>
          <a:prstGeom prst="roundRect">
            <a:avLst>
              <a:gd name="adj" fmla="val 45455"/>
            </a:avLst>
          </a:prstGeom>
          <a:solidFill>
            <a:srgbClr val="F59E0B">
              <a:alpha val="78000"/>
            </a:srgb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6200775" y="5486400"/>
            <a:ext cx="228600" cy="228600"/>
          </a:xfrm>
          <a:prstGeom prst="ellipse">
            <a:avLst/>
          </a:prstGeom>
          <a:solidFill>
            <a:srgbClr val="E8640A">
              <a:alpha val="85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219825" y="5705475"/>
            <a:ext cx="190500" cy="314325"/>
          </a:xfrm>
          <a:prstGeom prst="roundRect">
            <a:avLst>
              <a:gd name="adj" fmla="val 50000"/>
            </a:avLst>
          </a:prstGeom>
          <a:solidFill>
            <a:srgbClr val="E8640A">
              <a:alpha val="68000"/>
            </a:srgb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896100" y="5505450"/>
            <a:ext cx="228600" cy="228600"/>
          </a:xfrm>
          <a:prstGeom prst="ellipse">
            <a:avLst/>
          </a:prstGeom>
          <a:solidFill>
            <a:srgbClr val="F59E0B">
              <a:alpha val="90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915150" y="5724525"/>
            <a:ext cx="190500" cy="295275"/>
          </a:xfrm>
          <a:prstGeom prst="roundRect">
            <a:avLst>
              <a:gd name="adj" fmla="val 50000"/>
            </a:avLst>
          </a:prstGeom>
          <a:solidFill>
            <a:srgbClr val="F59E0B">
              <a:alpha val="66000"/>
            </a:srgb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7591425" y="5543550"/>
            <a:ext cx="209550" cy="209550"/>
          </a:xfrm>
          <a:prstGeom prst="ellipse">
            <a:avLst/>
          </a:prstGeom>
          <a:solidFill>
            <a:srgbClr val="E8640A">
              <a:alpha val="74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610475" y="5753100"/>
            <a:ext cx="171450" cy="266700"/>
          </a:xfrm>
          <a:prstGeom prst="roundRect">
            <a:avLst>
              <a:gd name="adj" fmla="val 50000"/>
            </a:avLst>
          </a:prstGeom>
          <a:solidFill>
            <a:srgbClr val="E8640A">
              <a:alpha val="55000"/>
            </a:srgb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8248650" y="5572125"/>
            <a:ext cx="190500" cy="190500"/>
          </a:xfrm>
          <a:prstGeom prst="ellipse">
            <a:avLst/>
          </a:prstGeom>
          <a:solidFill>
            <a:srgbClr val="F59E0B">
              <a:alpha val="64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8267700" y="5753100"/>
            <a:ext cx="161925" cy="257175"/>
          </a:xfrm>
          <a:prstGeom prst="roundRect">
            <a:avLst>
              <a:gd name="adj" fmla="val 50000"/>
            </a:avLst>
          </a:prstGeom>
          <a:solidFill>
            <a:srgbClr val="F59E0B">
              <a:alpha val="47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8867775" y="5600700"/>
            <a:ext cx="171450" cy="171450"/>
          </a:xfrm>
          <a:prstGeom prst="ellipse">
            <a:avLst/>
          </a:prstGeom>
          <a:solidFill>
            <a:srgbClr val="E8640A">
              <a:alpha val="54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877300" y="5772150"/>
            <a:ext cx="152400" cy="238125"/>
          </a:xfrm>
          <a:prstGeom prst="roundRect">
            <a:avLst>
              <a:gd name="adj" fmla="val 50000"/>
            </a:avLst>
          </a:prstGeom>
          <a:solidFill>
            <a:srgbClr val="E8640A">
              <a:alpha val="38000"/>
            </a:srgbClr>
          </a:solidFill>
          <a:ln>
            <a:noFill/>
          </a:ln>
        </p:spPr>
      </p:sp>
      <p:sp>
        <p:nvSpPr>
          <p:cNvPr id="48" name="Line 48"/>
          <p:cNvSpPr/>
          <p:nvPr/>
        </p:nvSpPr>
        <p:spPr>
          <a:xfrm>
            <a:off x="4419600" y="6153150"/>
            <a:ext cx="5886450" cy="9525"/>
          </a:xfrm>
          <a:custGeom>
            <a:avLst/>
            <a:gdLst/>
            <a:ahLst/>
            <a:cxnLst/>
            <a:rect l="l" t="t" r="r" b="b"/>
            <a:pathLst>
              <a:path w="5886450" h="9525">
                <a:moveTo>
                  <a:pt x="0" y="0"/>
                </a:moveTo>
                <a:lnTo>
                  <a:pt x="5886450" y="0"/>
                </a:lnTo>
              </a:path>
            </a:pathLst>
          </a:custGeom>
          <a:noFill/>
          <a:ln w="14288">
            <a:solidFill>
              <a:srgbClr val="E7D5C0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4899">
                  <a:alpha val="700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92418" y="3328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09887" y="58388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这些问题，你有没有？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9144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E8640A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794147" y="1327547"/>
            <a:ext cx="278606" cy="278606"/>
            <a:chOff x="794147" y="1327547"/>
            <a:chExt cx="278606" cy="278606"/>
          </a:xfrm>
        </p:grpSpPr>
        <p:sp>
          <p:nvSpPr>
            <p:cNvPr id="8" name="Freeform 8"/>
            <p:cNvSpPr/>
            <p:nvPr/>
          </p:nvSpPr>
          <p:spPr>
            <a:xfrm>
              <a:off x="804862" y="1338262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7175" y="128588"/>
                  </a:moveTo>
                  <a:cubicBezTo>
                    <a:pt x="257175" y="199604"/>
                    <a:pt x="199604" y="257175"/>
                    <a:pt x="128588" y="257175"/>
                  </a:cubicBezTo>
                  <a:cubicBezTo>
                    <a:pt x="57571" y="257175"/>
                    <a:pt x="0" y="199604"/>
                    <a:pt x="0" y="128588"/>
                  </a:cubicBezTo>
                  <a:cubicBezTo>
                    <a:pt x="0" y="57571"/>
                    <a:pt x="57571" y="0"/>
                    <a:pt x="128588" y="0"/>
                  </a:cubicBezTo>
                  <a:cubicBezTo>
                    <a:pt x="199604" y="0"/>
                    <a:pt x="257175" y="57571"/>
                    <a:pt x="257175" y="128588"/>
                  </a:cubicBez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94147" y="1327547"/>
              <a:ext cx="278606" cy="278606"/>
            </a:xfrm>
            <a:custGeom>
              <a:avLst/>
              <a:gdLst/>
              <a:ahLst/>
              <a:cxnLst/>
              <a:rect l="l" t="t" r="r" b="b"/>
              <a:pathLst>
                <a:path w="278606" h="278606">
                  <a:moveTo>
                    <a:pt x="155377" y="208955"/>
                  </a:moveTo>
                  <a:cubicBezTo>
                    <a:pt x="155377" y="217832"/>
                    <a:pt x="148180" y="225028"/>
                    <a:pt x="139303" y="225028"/>
                  </a:cubicBezTo>
                  <a:cubicBezTo>
                    <a:pt x="130426" y="225028"/>
                    <a:pt x="123230" y="217832"/>
                    <a:pt x="123230" y="208955"/>
                  </a:cubicBezTo>
                  <a:cubicBezTo>
                    <a:pt x="123230" y="200078"/>
                    <a:pt x="130426" y="192881"/>
                    <a:pt x="139303" y="192881"/>
                  </a:cubicBezTo>
                  <a:cubicBezTo>
                    <a:pt x="148180" y="192881"/>
                    <a:pt x="155377" y="200078"/>
                    <a:pt x="155377" y="208955"/>
                  </a:cubicBezTo>
                  <a:close/>
                  <a:moveTo>
                    <a:pt x="139303" y="64294"/>
                  </a:moveTo>
                  <a:cubicBezTo>
                    <a:pt x="109755" y="64294"/>
                    <a:pt x="85725" y="85926"/>
                    <a:pt x="85725" y="112514"/>
                  </a:cubicBezTo>
                  <a:lnTo>
                    <a:pt x="85725" y="117872"/>
                  </a:lnTo>
                  <a:cubicBezTo>
                    <a:pt x="85725" y="123790"/>
                    <a:pt x="90523" y="128588"/>
                    <a:pt x="96441" y="128588"/>
                  </a:cubicBezTo>
                  <a:cubicBezTo>
                    <a:pt x="102359" y="128588"/>
                    <a:pt x="107156" y="123790"/>
                    <a:pt x="107156" y="117872"/>
                  </a:cubicBezTo>
                  <a:lnTo>
                    <a:pt x="107156" y="112514"/>
                  </a:lnTo>
                  <a:cubicBezTo>
                    <a:pt x="107156" y="97780"/>
                    <a:pt x="121582" y="85725"/>
                    <a:pt x="139303" y="85725"/>
                  </a:cubicBezTo>
                  <a:cubicBezTo>
                    <a:pt x="157024" y="85725"/>
                    <a:pt x="171450" y="97780"/>
                    <a:pt x="171450" y="112514"/>
                  </a:cubicBezTo>
                  <a:cubicBezTo>
                    <a:pt x="171450" y="127248"/>
                    <a:pt x="157024" y="139303"/>
                    <a:pt x="139303" y="139303"/>
                  </a:cubicBezTo>
                  <a:cubicBezTo>
                    <a:pt x="133385" y="139303"/>
                    <a:pt x="128588" y="144101"/>
                    <a:pt x="128588" y="150019"/>
                  </a:cubicBezTo>
                  <a:lnTo>
                    <a:pt x="128588" y="160734"/>
                  </a:lnTo>
                  <a:cubicBezTo>
                    <a:pt x="128588" y="166652"/>
                    <a:pt x="133385" y="171450"/>
                    <a:pt x="139303" y="171450"/>
                  </a:cubicBezTo>
                  <a:cubicBezTo>
                    <a:pt x="145221" y="171450"/>
                    <a:pt x="150019" y="166652"/>
                    <a:pt x="150019" y="160734"/>
                  </a:cubicBezTo>
                  <a:lnTo>
                    <a:pt x="150019" y="159770"/>
                  </a:lnTo>
                  <a:cubicBezTo>
                    <a:pt x="174450" y="155283"/>
                    <a:pt x="192881" y="135794"/>
                    <a:pt x="192881" y="112514"/>
                  </a:cubicBezTo>
                  <a:cubicBezTo>
                    <a:pt x="192881" y="85926"/>
                    <a:pt x="168851" y="64294"/>
                    <a:pt x="139303" y="64294"/>
                  </a:cubicBezTo>
                  <a:close/>
                  <a:moveTo>
                    <a:pt x="278606" y="139303"/>
                  </a:moveTo>
                  <a:cubicBezTo>
                    <a:pt x="278606" y="216238"/>
                    <a:pt x="216238" y="278606"/>
                    <a:pt x="139303" y="278606"/>
                  </a:cubicBezTo>
                  <a:cubicBezTo>
                    <a:pt x="62368" y="278606"/>
                    <a:pt x="0" y="216238"/>
                    <a:pt x="0" y="139303"/>
                  </a:cubicBezTo>
                  <a:cubicBezTo>
                    <a:pt x="0" y="62368"/>
                    <a:pt x="62368" y="0"/>
                    <a:pt x="139303" y="0"/>
                  </a:cubicBezTo>
                  <a:cubicBezTo>
                    <a:pt x="216204" y="81"/>
                    <a:pt x="278525" y="62402"/>
                    <a:pt x="278606" y="139303"/>
                  </a:cubicBezTo>
                  <a:close/>
                  <a:moveTo>
                    <a:pt x="257175" y="139303"/>
                  </a:moveTo>
                  <a:cubicBezTo>
                    <a:pt x="257175" y="74204"/>
                    <a:pt x="204402" y="21431"/>
                    <a:pt x="139303" y="21431"/>
                  </a:cubicBezTo>
                  <a:cubicBezTo>
                    <a:pt x="74204" y="21431"/>
                    <a:pt x="21431" y="74204"/>
                    <a:pt x="21431" y="139303"/>
                  </a:cubicBezTo>
                  <a:cubicBezTo>
                    <a:pt x="21431" y="204402"/>
                    <a:pt x="74204" y="257175"/>
                    <a:pt x="139303" y="257175"/>
                  </a:cubicBezTo>
                  <a:cubicBezTo>
                    <a:pt x="204371" y="257101"/>
                    <a:pt x="257101" y="204371"/>
                    <a:pt x="257175" y="139303"/>
                  </a:cubicBez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11" name="Rectangle 11"/>
          <p:cNvSpPr/>
          <p:nvPr/>
        </p:nvSpPr>
        <p:spPr>
          <a:xfrm>
            <a:off x="762000" y="13906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65835" y="1484948"/>
            <a:ext cx="410789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"AI 要来了，但我不知道怎么用"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1907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5835" y="2285048"/>
            <a:ext cx="43499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"工具那么多，不知道从哪里下手"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9908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65835" y="3085148"/>
            <a:ext cx="524708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"我不是技术人，AI 对我来说太难了吧？"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7909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65835" y="3885248"/>
            <a:ext cx="49195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"我是工程师，但感觉自己跟不上节奏"</a:t>
            </a:r>
          </a:p>
        </p:txBody>
      </p:sp>
      <p:sp>
        <p:nvSpPr>
          <p:cNvPr id="19" name="Line 19"/>
          <p:cNvSpPr/>
          <p:nvPr/>
        </p:nvSpPr>
        <p:spPr>
          <a:xfrm>
            <a:off x="762000" y="45339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78669" y="4814888"/>
            <a:ext cx="233362" cy="200309"/>
            <a:chOff x="778669" y="4814888"/>
            <a:chExt cx="233362" cy="200309"/>
          </a:xfrm>
        </p:grpSpPr>
        <p:sp>
          <p:nvSpPr>
            <p:cNvPr id="20" name="Freeform 20"/>
            <p:cNvSpPr/>
            <p:nvPr/>
          </p:nvSpPr>
          <p:spPr>
            <a:xfrm>
              <a:off x="787003" y="4823222"/>
              <a:ext cx="216694" cy="183356"/>
            </a:xfrm>
            <a:custGeom>
              <a:avLst/>
              <a:gdLst/>
              <a:ahLst/>
              <a:cxnLst/>
              <a:rect l="l" t="t" r="r" b="b"/>
              <a:pathLst>
                <a:path w="216694" h="183356">
                  <a:moveTo>
                    <a:pt x="216694" y="56257"/>
                  </a:moveTo>
                  <a:cubicBezTo>
                    <a:pt x="216694" y="125016"/>
                    <a:pt x="108347" y="183356"/>
                    <a:pt x="108347" y="183356"/>
                  </a:cubicBezTo>
                  <a:cubicBezTo>
                    <a:pt x="108347" y="183356"/>
                    <a:pt x="0" y="125016"/>
                    <a:pt x="0" y="56257"/>
                  </a:cubicBezTo>
                  <a:cubicBezTo>
                    <a:pt x="0" y="25187"/>
                    <a:pt x="25187" y="0"/>
                    <a:pt x="56257" y="0"/>
                  </a:cubicBezTo>
                  <a:cubicBezTo>
                    <a:pt x="79791" y="0"/>
                    <a:pt x="99950" y="12825"/>
                    <a:pt x="108347" y="33338"/>
                  </a:cubicBezTo>
                  <a:cubicBezTo>
                    <a:pt x="116744" y="12825"/>
                    <a:pt x="136903" y="0"/>
                    <a:pt x="160437" y="0"/>
                  </a:cubicBezTo>
                  <a:cubicBezTo>
                    <a:pt x="191507" y="0"/>
                    <a:pt x="216694" y="25187"/>
                    <a:pt x="216694" y="56257"/>
                  </a:cubicBezTo>
                  <a:close/>
                </a:path>
              </a:pathLst>
            </a:custGeom>
            <a:solidFill>
              <a:srgbClr val="EC4899">
                <a:alpha val="20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78669" y="4814888"/>
              <a:ext cx="233362" cy="200309"/>
            </a:xfrm>
            <a:custGeom>
              <a:avLst/>
              <a:gdLst/>
              <a:ahLst/>
              <a:cxnLst/>
              <a:rect l="l" t="t" r="r" b="b"/>
              <a:pathLst>
                <a:path w="233362" h="200309">
                  <a:moveTo>
                    <a:pt x="168771" y="0"/>
                  </a:moveTo>
                  <a:cubicBezTo>
                    <a:pt x="147258" y="0"/>
                    <a:pt x="128422" y="9251"/>
                    <a:pt x="116681" y="24889"/>
                  </a:cubicBezTo>
                  <a:cubicBezTo>
                    <a:pt x="104940" y="9251"/>
                    <a:pt x="86105" y="0"/>
                    <a:pt x="64591" y="0"/>
                  </a:cubicBezTo>
                  <a:cubicBezTo>
                    <a:pt x="28935" y="40"/>
                    <a:pt x="40" y="28935"/>
                    <a:pt x="0" y="64591"/>
                  </a:cubicBezTo>
                  <a:cubicBezTo>
                    <a:pt x="0" y="137517"/>
                    <a:pt x="108128" y="196545"/>
                    <a:pt x="112733" y="198983"/>
                  </a:cubicBezTo>
                  <a:cubicBezTo>
                    <a:pt x="115198" y="200309"/>
                    <a:pt x="118164" y="200309"/>
                    <a:pt x="120630" y="198983"/>
                  </a:cubicBezTo>
                  <a:cubicBezTo>
                    <a:pt x="125234" y="196545"/>
                    <a:pt x="233362" y="137517"/>
                    <a:pt x="233362" y="64591"/>
                  </a:cubicBezTo>
                  <a:cubicBezTo>
                    <a:pt x="233322" y="28935"/>
                    <a:pt x="204427" y="40"/>
                    <a:pt x="168771" y="0"/>
                  </a:cubicBezTo>
                  <a:close/>
                  <a:moveTo>
                    <a:pt x="116681" y="182106"/>
                  </a:moveTo>
                  <a:cubicBezTo>
                    <a:pt x="97658" y="171021"/>
                    <a:pt x="16669" y="120525"/>
                    <a:pt x="16669" y="64591"/>
                  </a:cubicBezTo>
                  <a:cubicBezTo>
                    <a:pt x="16703" y="38139"/>
                    <a:pt x="38139" y="16703"/>
                    <a:pt x="64591" y="16669"/>
                  </a:cubicBezTo>
                  <a:cubicBezTo>
                    <a:pt x="84854" y="16669"/>
                    <a:pt x="101867" y="27462"/>
                    <a:pt x="108972" y="44797"/>
                  </a:cubicBezTo>
                  <a:cubicBezTo>
                    <a:pt x="110256" y="47924"/>
                    <a:pt x="113301" y="49965"/>
                    <a:pt x="116681" y="49965"/>
                  </a:cubicBezTo>
                  <a:cubicBezTo>
                    <a:pt x="120061" y="49965"/>
                    <a:pt x="123106" y="47924"/>
                    <a:pt x="124391" y="44797"/>
                  </a:cubicBezTo>
                  <a:cubicBezTo>
                    <a:pt x="131496" y="27431"/>
                    <a:pt x="148508" y="16669"/>
                    <a:pt x="168771" y="16669"/>
                  </a:cubicBezTo>
                  <a:cubicBezTo>
                    <a:pt x="195224" y="16703"/>
                    <a:pt x="216659" y="38139"/>
                    <a:pt x="216694" y="64591"/>
                  </a:cubicBezTo>
                  <a:cubicBezTo>
                    <a:pt x="216694" y="120442"/>
                    <a:pt x="135684" y="171011"/>
                    <a:pt x="116681" y="182106"/>
                  </a:cubicBezTo>
                  <a:close/>
                </a:path>
              </a:pathLst>
            </a:custGeom>
            <a:solidFill>
              <a:srgbClr val="EC4899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04900" y="4810125"/>
            <a:ext cx="3762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这些问题，我在那次讲座上都听到了。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4900" y="5133975"/>
            <a:ext cx="55149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所以我决定用写文章的方式，给每一类人都找一条路径。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89556" y="5893118"/>
            <a:ext cx="44128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AI 是暖男。它等着每一个愿意迈出第一步的人。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53400" y="1143000"/>
            <a:ext cx="3143250" cy="3257550"/>
          </a:xfrm>
          <a:prstGeom prst="roundRect">
            <a:avLst>
              <a:gd name="adj" fmla="val 3636"/>
            </a:avLst>
          </a:prstGeom>
          <a:solidFill>
            <a:srgbClr val="FFF3E0">
              <a:alpha val="55000"/>
            </a:srgbClr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8210550" y="1238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9563100" y="1447800"/>
            <a:ext cx="342900" cy="342900"/>
          </a:xfrm>
          <a:prstGeom prst="ellipse">
            <a:avLst/>
          </a:prstGeom>
          <a:solidFill>
            <a:srgbClr val="E8640A">
              <a:alpha val="85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9582150" y="1781175"/>
            <a:ext cx="304800" cy="323850"/>
          </a:xfrm>
          <a:prstGeom prst="roundRect">
            <a:avLst>
              <a:gd name="adj" fmla="val 31250"/>
            </a:avLst>
          </a:prstGeom>
          <a:solidFill>
            <a:srgbClr val="E8640A">
              <a:alpha val="65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0048875" y="1266825"/>
            <a:ext cx="361950" cy="361950"/>
          </a:xfrm>
          <a:prstGeom prst="ellipse">
            <a:avLst/>
          </a:prstGeom>
          <a:noFill/>
          <a:ln w="14288">
            <a:solidFill>
              <a:srgbClr val="E8640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143427" y="1363504"/>
            <a:ext cx="17284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E8640A"/>
                </a:solidFill>
                <a:latin typeface="Georgia"/>
                <a:ea typeface="SimSun"/>
                <a:cs typeface="Georgia"/>
              </a:rPr>
              <a:t>?</a:t>
            </a:r>
          </a:p>
        </p:txBody>
      </p:sp>
      <p:sp>
        <p:nvSpPr>
          <p:cNvPr id="33" name="Line 33"/>
          <p:cNvSpPr/>
          <p:nvPr/>
        </p:nvSpPr>
        <p:spPr>
          <a:xfrm>
            <a:off x="9915525" y="1562100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15240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E8640A">
                <a:alpha val="55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8305800" y="2228850"/>
            <a:ext cx="2838450" cy="9525"/>
          </a:xfrm>
          <a:custGeom>
            <a:avLst/>
            <a:gdLst/>
            <a:ahLst/>
            <a:cxnLst/>
            <a:rect l="l" t="t" r="r" b="b"/>
            <a:pathLst>
              <a:path w="2838450" h="9525">
                <a:moveTo>
                  <a:pt x="0" y="0"/>
                </a:moveTo>
                <a:lnTo>
                  <a:pt x="28384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9563100" y="2286000"/>
            <a:ext cx="342900" cy="342900"/>
          </a:xfrm>
          <a:prstGeom prst="ellipse">
            <a:avLst/>
          </a:prstGeom>
          <a:solidFill>
            <a:srgbClr val="F59E0B">
              <a:alpha val="8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9582150" y="2619375"/>
            <a:ext cx="304800" cy="323850"/>
          </a:xfrm>
          <a:prstGeom prst="roundRect">
            <a:avLst>
              <a:gd name="adj" fmla="val 31250"/>
            </a:avLst>
          </a:prstGeom>
          <a:solidFill>
            <a:srgbClr val="F59E0B">
              <a:alpha val="65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9058275" y="2105025"/>
            <a:ext cx="361950" cy="361950"/>
          </a:xfrm>
          <a:prstGeom prst="ellipse">
            <a:avLst/>
          </a:prstGeom>
          <a:noFill/>
          <a:ln w="14288">
            <a:solidFill>
              <a:srgbClr val="F59E0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152827" y="2201704"/>
            <a:ext cx="17284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59E0B"/>
                </a:solidFill>
                <a:latin typeface="Georgia"/>
                <a:ea typeface="SimSun"/>
                <a:cs typeface="Georgia"/>
              </a:rPr>
              <a:t>?</a:t>
            </a:r>
          </a:p>
        </p:txBody>
      </p:sp>
      <p:sp>
        <p:nvSpPr>
          <p:cNvPr id="39" name="Line 39"/>
          <p:cNvSpPr/>
          <p:nvPr/>
        </p:nvSpPr>
        <p:spPr>
          <a:xfrm>
            <a:off x="9401175" y="2400300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0" y="0"/>
                </a:moveTo>
                <a:lnTo>
                  <a:pt x="152400" y="95250"/>
                </a:lnTo>
              </a:path>
            </a:pathLst>
          </a:custGeom>
          <a:noFill/>
          <a:ln w="14288">
            <a:solidFill>
              <a:srgbClr val="F59E0B">
                <a:alpha val="55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8305800" y="3028950"/>
            <a:ext cx="2838450" cy="9525"/>
          </a:xfrm>
          <a:custGeom>
            <a:avLst/>
            <a:gdLst/>
            <a:ahLst/>
            <a:cxnLst/>
            <a:rect l="l" t="t" r="r" b="b"/>
            <a:pathLst>
              <a:path w="2838450" h="9525">
                <a:moveTo>
                  <a:pt x="0" y="0"/>
                </a:moveTo>
                <a:lnTo>
                  <a:pt x="28384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9563100" y="3086100"/>
            <a:ext cx="342900" cy="342900"/>
          </a:xfrm>
          <a:prstGeom prst="ellipse">
            <a:avLst/>
          </a:prstGeom>
          <a:solidFill>
            <a:srgbClr val="10B981">
              <a:alpha val="8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9582150" y="3419475"/>
            <a:ext cx="304800" cy="323850"/>
          </a:xfrm>
          <a:prstGeom prst="roundRect">
            <a:avLst>
              <a:gd name="adj" fmla="val 31250"/>
            </a:avLst>
          </a:prstGeom>
          <a:solidFill>
            <a:srgbClr val="10B981">
              <a:alpha val="65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10048875" y="2905125"/>
            <a:ext cx="361950" cy="361950"/>
          </a:xfrm>
          <a:prstGeom prst="ellipse">
            <a:avLst/>
          </a:prstGeom>
          <a:noFill/>
          <a:ln w="14288">
            <a:solidFill>
              <a:srgbClr val="10B98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0143427" y="3001804"/>
            <a:ext cx="17284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10B981"/>
                </a:solidFill>
                <a:latin typeface="Georgia"/>
                <a:ea typeface="SimSun"/>
                <a:cs typeface="Georgia"/>
              </a:rPr>
              <a:t>?</a:t>
            </a:r>
          </a:p>
        </p:txBody>
      </p:sp>
      <p:sp>
        <p:nvSpPr>
          <p:cNvPr id="45" name="Line 45"/>
          <p:cNvSpPr/>
          <p:nvPr/>
        </p:nvSpPr>
        <p:spPr>
          <a:xfrm>
            <a:off x="9915525" y="3200400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152400" y="0"/>
                </a:moveTo>
                <a:lnTo>
                  <a:pt x="0" y="104775"/>
                </a:lnTo>
              </a:path>
            </a:pathLst>
          </a:custGeom>
          <a:noFill/>
          <a:ln w="14288">
            <a:solidFill>
              <a:srgbClr val="10B981">
                <a:alpha val="55000"/>
              </a:srgbClr>
            </a:solidFill>
          </a:ln>
        </p:spPr>
      </p:sp>
      <p:sp>
        <p:nvSpPr>
          <p:cNvPr id="46" name="Line 46"/>
          <p:cNvSpPr/>
          <p:nvPr/>
        </p:nvSpPr>
        <p:spPr>
          <a:xfrm>
            <a:off x="8305800" y="3829050"/>
            <a:ext cx="2838450" cy="9525"/>
          </a:xfrm>
          <a:custGeom>
            <a:avLst/>
            <a:gdLst/>
            <a:ahLst/>
            <a:cxnLst/>
            <a:rect l="l" t="t" r="r" b="b"/>
            <a:pathLst>
              <a:path w="2838450" h="9525">
                <a:moveTo>
                  <a:pt x="0" y="0"/>
                </a:moveTo>
                <a:lnTo>
                  <a:pt x="28384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9563100" y="3848100"/>
            <a:ext cx="342900" cy="342900"/>
          </a:xfrm>
          <a:prstGeom prst="ellipse">
            <a:avLst/>
          </a:prstGeom>
          <a:solidFill>
            <a:srgbClr val="8B5CF6">
              <a:alpha val="85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9582150" y="4181475"/>
            <a:ext cx="304800" cy="323850"/>
          </a:xfrm>
          <a:prstGeom prst="roundRect">
            <a:avLst>
              <a:gd name="adj" fmla="val 31250"/>
            </a:avLst>
          </a:prstGeom>
          <a:solidFill>
            <a:srgbClr val="8B5CF6">
              <a:alpha val="65000"/>
            </a:srgb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9058275" y="3667125"/>
            <a:ext cx="361950" cy="361950"/>
          </a:xfrm>
          <a:prstGeom prst="ellipse">
            <a:avLst/>
          </a:prstGeom>
          <a:noFill/>
          <a:ln w="14288">
            <a:solidFill>
              <a:srgbClr val="8B5CF6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9152827" y="3763804"/>
            <a:ext cx="17284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8B5CF6"/>
                </a:solidFill>
                <a:latin typeface="Georgia"/>
                <a:ea typeface="SimSun"/>
                <a:cs typeface="Georgia"/>
              </a:rPr>
              <a:t>?</a:t>
            </a:r>
          </a:p>
        </p:txBody>
      </p:sp>
      <p:sp>
        <p:nvSpPr>
          <p:cNvPr id="51" name="Line 51"/>
          <p:cNvSpPr/>
          <p:nvPr/>
        </p:nvSpPr>
        <p:spPr>
          <a:xfrm>
            <a:off x="9401175" y="3971925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0" y="0"/>
                </a:moveTo>
                <a:lnTo>
                  <a:pt x="152400" y="95250"/>
                </a:lnTo>
              </a:path>
            </a:pathLst>
          </a:custGeom>
          <a:noFill/>
          <a:ln w="14288">
            <a:solidFill>
              <a:srgbClr val="8B5CF6">
                <a:alpha val="55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9E0B">
                  <a:alpha val="9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92418" y="3328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62918" y="5457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这些文章不是教程</a:t>
            </a:r>
          </a:p>
        </p:txBody>
      </p:sp>
      <p:sp>
        <p:nvSpPr>
          <p:cNvPr id="7" name="Rectangle 7"/>
          <p:cNvSpPr/>
          <p:nvPr/>
        </p:nvSpPr>
        <p:spPr>
          <a:xfrm>
            <a:off x="4953000" y="819150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31520" y="1245870"/>
            <a:ext cx="158835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AustinXu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88183" y="1810347"/>
            <a:ext cx="163728" cy="163709"/>
            <a:chOff x="788183" y="1810347"/>
            <a:chExt cx="163728" cy="163709"/>
          </a:xfrm>
        </p:grpSpPr>
        <p:sp>
          <p:nvSpPr>
            <p:cNvPr id="9" name="Freeform 9"/>
            <p:cNvSpPr/>
            <p:nvPr/>
          </p:nvSpPr>
          <p:spPr>
            <a:xfrm>
              <a:off x="873323" y="1816254"/>
              <a:ext cx="72046" cy="72673"/>
            </a:xfrm>
            <a:custGeom>
              <a:avLst/>
              <a:gdLst/>
              <a:ahLst/>
              <a:cxnLst/>
              <a:rect l="l" t="t" r="r" b="b"/>
              <a:pathLst>
                <a:path w="72046" h="72673">
                  <a:moveTo>
                    <a:pt x="70117" y="48394"/>
                  </a:moveTo>
                  <a:lnTo>
                    <a:pt x="45839" y="72673"/>
                  </a:lnTo>
                  <a:lnTo>
                    <a:pt x="0" y="26834"/>
                  </a:lnTo>
                  <a:lnTo>
                    <a:pt x="24278" y="2555"/>
                  </a:lnTo>
                  <a:cubicBezTo>
                    <a:pt x="26835" y="0"/>
                    <a:pt x="30979" y="0"/>
                    <a:pt x="33536" y="2555"/>
                  </a:cubicBezTo>
                  <a:lnTo>
                    <a:pt x="70117" y="39112"/>
                  </a:lnTo>
                  <a:cubicBezTo>
                    <a:pt x="71352" y="40341"/>
                    <a:pt x="72046" y="42011"/>
                    <a:pt x="72046" y="43753"/>
                  </a:cubicBezTo>
                  <a:cubicBezTo>
                    <a:pt x="72046" y="45495"/>
                    <a:pt x="71352" y="47165"/>
                    <a:pt x="70117" y="48394"/>
                  </a:cubicBez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88183" y="1810347"/>
              <a:ext cx="163728" cy="163709"/>
            </a:xfrm>
            <a:custGeom>
              <a:avLst/>
              <a:gdLst/>
              <a:ahLst/>
              <a:cxnLst/>
              <a:rect l="l" t="t" r="r" b="b"/>
              <a:pathLst>
                <a:path w="163728" h="163709">
                  <a:moveTo>
                    <a:pt x="159891" y="40410"/>
                  </a:moveTo>
                  <a:lnTo>
                    <a:pt x="123310" y="3837"/>
                  </a:lnTo>
                  <a:cubicBezTo>
                    <a:pt x="120854" y="1380"/>
                    <a:pt x="117522" y="0"/>
                    <a:pt x="114048" y="0"/>
                  </a:cubicBezTo>
                  <a:cubicBezTo>
                    <a:pt x="110574" y="0"/>
                    <a:pt x="107242" y="1380"/>
                    <a:pt x="104786" y="3837"/>
                  </a:cubicBezTo>
                  <a:lnTo>
                    <a:pt x="3850" y="104773"/>
                  </a:lnTo>
                  <a:cubicBezTo>
                    <a:pt x="1383" y="107221"/>
                    <a:pt x="0" y="110555"/>
                    <a:pt x="11" y="114031"/>
                  </a:cubicBezTo>
                  <a:lnTo>
                    <a:pt x="11" y="150612"/>
                  </a:lnTo>
                  <a:cubicBezTo>
                    <a:pt x="11" y="157845"/>
                    <a:pt x="5875" y="163709"/>
                    <a:pt x="13108" y="163709"/>
                  </a:cubicBezTo>
                  <a:lnTo>
                    <a:pt x="150625" y="163709"/>
                  </a:lnTo>
                  <a:cubicBezTo>
                    <a:pt x="154242" y="163709"/>
                    <a:pt x="157174" y="160777"/>
                    <a:pt x="157174" y="157161"/>
                  </a:cubicBezTo>
                  <a:cubicBezTo>
                    <a:pt x="157174" y="153544"/>
                    <a:pt x="154242" y="150612"/>
                    <a:pt x="150625" y="150612"/>
                  </a:cubicBezTo>
                  <a:lnTo>
                    <a:pt x="68213" y="150612"/>
                  </a:lnTo>
                  <a:lnTo>
                    <a:pt x="159891" y="58934"/>
                  </a:lnTo>
                  <a:cubicBezTo>
                    <a:pt x="162348" y="56478"/>
                    <a:pt x="163728" y="53146"/>
                    <a:pt x="163728" y="49672"/>
                  </a:cubicBezTo>
                  <a:cubicBezTo>
                    <a:pt x="163728" y="46198"/>
                    <a:pt x="162348" y="42866"/>
                    <a:pt x="159891" y="40410"/>
                  </a:cubicBezTo>
                  <a:close/>
                  <a:moveTo>
                    <a:pt x="38745" y="134241"/>
                  </a:moveTo>
                  <a:lnTo>
                    <a:pt x="108060" y="64918"/>
                  </a:lnTo>
                  <a:lnTo>
                    <a:pt x="121722" y="78579"/>
                  </a:lnTo>
                  <a:lnTo>
                    <a:pt x="52399" y="147903"/>
                  </a:lnTo>
                  <a:close/>
                  <a:moveTo>
                    <a:pt x="29479" y="124983"/>
                  </a:moveTo>
                  <a:lnTo>
                    <a:pt x="15817" y="111321"/>
                  </a:lnTo>
                  <a:lnTo>
                    <a:pt x="85141" y="41998"/>
                  </a:lnTo>
                  <a:lnTo>
                    <a:pt x="98802" y="55660"/>
                  </a:lnTo>
                  <a:close/>
                  <a:moveTo>
                    <a:pt x="13108" y="127128"/>
                  </a:moveTo>
                  <a:lnTo>
                    <a:pt x="36592" y="150612"/>
                  </a:lnTo>
                  <a:lnTo>
                    <a:pt x="13108" y="150612"/>
                  </a:lnTo>
                  <a:close/>
                  <a:moveTo>
                    <a:pt x="130980" y="69321"/>
                  </a:moveTo>
                  <a:lnTo>
                    <a:pt x="94407" y="32740"/>
                  </a:lnTo>
                  <a:lnTo>
                    <a:pt x="114052" y="13095"/>
                  </a:lnTo>
                  <a:lnTo>
                    <a:pt x="150625" y="49676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30605" y="1806892"/>
            <a:ext cx="15524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做软件超过 20 年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1645" y="2159609"/>
            <a:ext cx="170260" cy="157347"/>
            <a:chOff x="781645" y="2159609"/>
            <a:chExt cx="170260" cy="157347"/>
          </a:xfrm>
        </p:grpSpPr>
        <p:sp>
          <p:nvSpPr>
            <p:cNvPr id="13" name="Freeform 13"/>
            <p:cNvSpPr/>
            <p:nvPr/>
          </p:nvSpPr>
          <p:spPr>
            <a:xfrm>
              <a:off x="840581" y="2166342"/>
              <a:ext cx="52388" cy="144066"/>
            </a:xfrm>
            <a:custGeom>
              <a:avLst/>
              <a:gdLst/>
              <a:ahLst/>
              <a:cxnLst/>
              <a:rect l="l" t="t" r="r" b="b"/>
              <a:pathLst>
                <a:path w="52388" h="144066">
                  <a:moveTo>
                    <a:pt x="52388" y="26194"/>
                  </a:moveTo>
                  <a:lnTo>
                    <a:pt x="52388" y="144066"/>
                  </a:lnTo>
                  <a:lnTo>
                    <a:pt x="0" y="117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81645" y="2159609"/>
              <a:ext cx="170260" cy="157347"/>
            </a:xfrm>
            <a:custGeom>
              <a:avLst/>
              <a:gdLst/>
              <a:ahLst/>
              <a:cxnLst/>
              <a:rect l="l" t="t" r="r" b="b"/>
              <a:pathLst>
                <a:path w="170260" h="157347">
                  <a:moveTo>
                    <a:pt x="167738" y="14665"/>
                  </a:moveTo>
                  <a:cubicBezTo>
                    <a:pt x="166149" y="13426"/>
                    <a:pt x="164078" y="12988"/>
                    <a:pt x="162123" y="13478"/>
                  </a:cubicBezTo>
                  <a:lnTo>
                    <a:pt x="112085" y="25985"/>
                  </a:lnTo>
                  <a:lnTo>
                    <a:pt x="61866" y="872"/>
                  </a:lnTo>
                  <a:cubicBezTo>
                    <a:pt x="60467" y="174"/>
                    <a:pt x="58864" y="0"/>
                    <a:pt x="57348" y="381"/>
                  </a:cubicBezTo>
                  <a:lnTo>
                    <a:pt x="4960" y="13478"/>
                  </a:lnTo>
                  <a:cubicBezTo>
                    <a:pt x="2046" y="14206"/>
                    <a:pt x="0" y="16825"/>
                    <a:pt x="0" y="19830"/>
                  </a:cubicBezTo>
                  <a:lnTo>
                    <a:pt x="0" y="137702"/>
                  </a:lnTo>
                  <a:cubicBezTo>
                    <a:pt x="0" y="139718"/>
                    <a:pt x="929" y="141622"/>
                    <a:pt x="2519" y="142862"/>
                  </a:cubicBezTo>
                  <a:cubicBezTo>
                    <a:pt x="4108" y="144103"/>
                    <a:pt x="6180" y="144543"/>
                    <a:pt x="8136" y="144054"/>
                  </a:cubicBezTo>
                  <a:lnTo>
                    <a:pt x="58175" y="131546"/>
                  </a:lnTo>
                  <a:lnTo>
                    <a:pt x="108393" y="156659"/>
                  </a:lnTo>
                  <a:cubicBezTo>
                    <a:pt x="109305" y="157109"/>
                    <a:pt x="110307" y="157344"/>
                    <a:pt x="111323" y="157347"/>
                  </a:cubicBezTo>
                  <a:cubicBezTo>
                    <a:pt x="111859" y="157347"/>
                    <a:pt x="112392" y="157281"/>
                    <a:pt x="112911" y="157151"/>
                  </a:cubicBezTo>
                  <a:lnTo>
                    <a:pt x="165299" y="144054"/>
                  </a:lnTo>
                  <a:cubicBezTo>
                    <a:pt x="168214" y="143325"/>
                    <a:pt x="170259" y="140706"/>
                    <a:pt x="170259" y="137702"/>
                  </a:cubicBezTo>
                  <a:lnTo>
                    <a:pt x="170259" y="19830"/>
                  </a:lnTo>
                  <a:cubicBezTo>
                    <a:pt x="170260" y="17812"/>
                    <a:pt x="169330" y="15906"/>
                    <a:pt x="167738" y="14665"/>
                  </a:cubicBezTo>
                  <a:close/>
                  <a:moveTo>
                    <a:pt x="65484" y="17325"/>
                  </a:moveTo>
                  <a:lnTo>
                    <a:pt x="104775" y="36970"/>
                  </a:lnTo>
                  <a:lnTo>
                    <a:pt x="104775" y="140206"/>
                  </a:lnTo>
                  <a:lnTo>
                    <a:pt x="65484" y="120561"/>
                  </a:lnTo>
                  <a:close/>
                  <a:moveTo>
                    <a:pt x="13097" y="24946"/>
                  </a:moveTo>
                  <a:lnTo>
                    <a:pt x="52388" y="15123"/>
                  </a:lnTo>
                  <a:lnTo>
                    <a:pt x="52388" y="119489"/>
                  </a:lnTo>
                  <a:lnTo>
                    <a:pt x="13097" y="129312"/>
                  </a:lnTo>
                  <a:close/>
                  <a:moveTo>
                    <a:pt x="157162" y="132586"/>
                  </a:moveTo>
                  <a:lnTo>
                    <a:pt x="117872" y="142408"/>
                  </a:lnTo>
                  <a:lnTo>
                    <a:pt x="117872" y="38043"/>
                  </a:lnTo>
                  <a:lnTo>
                    <a:pt x="157162" y="2822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30605" y="2149792"/>
            <a:ext cx="15031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最近 10 年在湾区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94529" y="2489129"/>
            <a:ext cx="144336" cy="183824"/>
            <a:chOff x="794529" y="2489129"/>
            <a:chExt cx="144336" cy="183824"/>
          </a:xfrm>
        </p:grpSpPr>
        <p:sp>
          <p:nvSpPr>
            <p:cNvPr id="17" name="Freeform 17"/>
            <p:cNvSpPr/>
            <p:nvPr/>
          </p:nvSpPr>
          <p:spPr>
            <a:xfrm>
              <a:off x="801094" y="2495720"/>
              <a:ext cx="131183" cy="144491"/>
            </a:xfrm>
            <a:custGeom>
              <a:avLst/>
              <a:gdLst/>
              <a:ahLst/>
              <a:cxnLst/>
              <a:rect l="l" t="t" r="r" b="b"/>
              <a:pathLst>
                <a:path w="131183" h="144491">
                  <a:moveTo>
                    <a:pt x="131165" y="65910"/>
                  </a:moveTo>
                  <a:cubicBezTo>
                    <a:pt x="131183" y="86015"/>
                    <a:pt x="121948" y="105010"/>
                    <a:pt x="106126" y="117414"/>
                  </a:cubicBezTo>
                  <a:cubicBezTo>
                    <a:pt x="101294" y="121159"/>
                    <a:pt x="98453" y="126918"/>
                    <a:pt x="98423" y="133032"/>
                  </a:cubicBezTo>
                  <a:lnTo>
                    <a:pt x="98423" y="137943"/>
                  </a:lnTo>
                  <a:cubicBezTo>
                    <a:pt x="98423" y="141559"/>
                    <a:pt x="95491" y="144491"/>
                    <a:pt x="91875" y="144491"/>
                  </a:cubicBezTo>
                  <a:lnTo>
                    <a:pt x="39487" y="144491"/>
                  </a:lnTo>
                  <a:cubicBezTo>
                    <a:pt x="35870" y="144491"/>
                    <a:pt x="32939" y="141559"/>
                    <a:pt x="32939" y="137943"/>
                  </a:cubicBezTo>
                  <a:lnTo>
                    <a:pt x="32939" y="133032"/>
                  </a:lnTo>
                  <a:cubicBezTo>
                    <a:pt x="32932" y="126952"/>
                    <a:pt x="30124" y="121214"/>
                    <a:pt x="25326" y="117479"/>
                  </a:cubicBezTo>
                  <a:cubicBezTo>
                    <a:pt x="9554" y="105158"/>
                    <a:pt x="295" y="86292"/>
                    <a:pt x="196" y="66278"/>
                  </a:cubicBezTo>
                  <a:cubicBezTo>
                    <a:pt x="0" y="30786"/>
                    <a:pt x="28617" y="1244"/>
                    <a:pt x="64101" y="426"/>
                  </a:cubicBezTo>
                  <a:cubicBezTo>
                    <a:pt x="81741" y="0"/>
                    <a:pt x="98806" y="6711"/>
                    <a:pt x="111430" y="19038"/>
                  </a:cubicBezTo>
                  <a:cubicBezTo>
                    <a:pt x="124055" y="31365"/>
                    <a:pt x="131170" y="48265"/>
                    <a:pt x="131165" y="65910"/>
                  </a:cubicBez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94529" y="2489129"/>
              <a:ext cx="144336" cy="183824"/>
            </a:xfrm>
            <a:custGeom>
              <a:avLst/>
              <a:gdLst/>
              <a:ahLst/>
              <a:cxnLst/>
              <a:rect l="l" t="t" r="r" b="b"/>
              <a:pathLst>
                <a:path w="144336" h="183824">
                  <a:moveTo>
                    <a:pt x="111536" y="177275"/>
                  </a:moveTo>
                  <a:cubicBezTo>
                    <a:pt x="111536" y="180892"/>
                    <a:pt x="108604" y="183824"/>
                    <a:pt x="104988" y="183824"/>
                  </a:cubicBezTo>
                  <a:lnTo>
                    <a:pt x="39503" y="183824"/>
                  </a:lnTo>
                  <a:cubicBezTo>
                    <a:pt x="35887" y="183824"/>
                    <a:pt x="32955" y="180892"/>
                    <a:pt x="32955" y="177275"/>
                  </a:cubicBezTo>
                  <a:cubicBezTo>
                    <a:pt x="32955" y="173659"/>
                    <a:pt x="35887" y="170727"/>
                    <a:pt x="39503" y="170727"/>
                  </a:cubicBezTo>
                  <a:lnTo>
                    <a:pt x="104988" y="170727"/>
                  </a:lnTo>
                  <a:cubicBezTo>
                    <a:pt x="108604" y="170727"/>
                    <a:pt x="111536" y="173659"/>
                    <a:pt x="111536" y="177275"/>
                  </a:cubicBezTo>
                  <a:close/>
                  <a:moveTo>
                    <a:pt x="144278" y="72500"/>
                  </a:moveTo>
                  <a:cubicBezTo>
                    <a:pt x="144336" y="94622"/>
                    <a:pt x="134173" y="115531"/>
                    <a:pt x="116742" y="129153"/>
                  </a:cubicBezTo>
                  <a:cubicBezTo>
                    <a:pt x="113483" y="131651"/>
                    <a:pt x="111561" y="135515"/>
                    <a:pt x="111536" y="139622"/>
                  </a:cubicBezTo>
                  <a:lnTo>
                    <a:pt x="111536" y="144533"/>
                  </a:lnTo>
                  <a:cubicBezTo>
                    <a:pt x="111536" y="151766"/>
                    <a:pt x="105673" y="157630"/>
                    <a:pt x="98439" y="157630"/>
                  </a:cubicBezTo>
                  <a:lnTo>
                    <a:pt x="46052" y="157630"/>
                  </a:lnTo>
                  <a:cubicBezTo>
                    <a:pt x="38819" y="157630"/>
                    <a:pt x="32955" y="151766"/>
                    <a:pt x="32955" y="144533"/>
                  </a:cubicBezTo>
                  <a:lnTo>
                    <a:pt x="32955" y="139622"/>
                  </a:lnTo>
                  <a:cubicBezTo>
                    <a:pt x="32952" y="135564"/>
                    <a:pt x="31069" y="131737"/>
                    <a:pt x="27855" y="129259"/>
                  </a:cubicBezTo>
                  <a:cubicBezTo>
                    <a:pt x="10470" y="115719"/>
                    <a:pt x="277" y="94937"/>
                    <a:pt x="213" y="72901"/>
                  </a:cubicBezTo>
                  <a:cubicBezTo>
                    <a:pt x="0" y="33889"/>
                    <a:pt x="31531" y="1401"/>
                    <a:pt x="70510" y="468"/>
                  </a:cubicBezTo>
                  <a:cubicBezTo>
                    <a:pt x="89913" y="0"/>
                    <a:pt x="108684" y="7382"/>
                    <a:pt x="122571" y="20942"/>
                  </a:cubicBezTo>
                  <a:cubicBezTo>
                    <a:pt x="136457" y="34502"/>
                    <a:pt x="144284" y="53092"/>
                    <a:pt x="144278" y="72500"/>
                  </a:cubicBezTo>
                  <a:close/>
                  <a:moveTo>
                    <a:pt x="131182" y="72500"/>
                  </a:moveTo>
                  <a:cubicBezTo>
                    <a:pt x="131186" y="56620"/>
                    <a:pt x="124782" y="41409"/>
                    <a:pt x="113419" y="30315"/>
                  </a:cubicBezTo>
                  <a:cubicBezTo>
                    <a:pt x="102057" y="19220"/>
                    <a:pt x="86697" y="13181"/>
                    <a:pt x="70821" y="13564"/>
                  </a:cubicBezTo>
                  <a:cubicBezTo>
                    <a:pt x="38898" y="14318"/>
                    <a:pt x="13138" y="40896"/>
                    <a:pt x="13310" y="72820"/>
                  </a:cubicBezTo>
                  <a:cubicBezTo>
                    <a:pt x="13370" y="90841"/>
                    <a:pt x="21713" y="107835"/>
                    <a:pt x="35935" y="118904"/>
                  </a:cubicBezTo>
                  <a:cubicBezTo>
                    <a:pt x="42328" y="123875"/>
                    <a:pt x="46064" y="131523"/>
                    <a:pt x="46052" y="139622"/>
                  </a:cubicBezTo>
                  <a:lnTo>
                    <a:pt x="46052" y="144533"/>
                  </a:lnTo>
                  <a:lnTo>
                    <a:pt x="98439" y="144533"/>
                  </a:lnTo>
                  <a:lnTo>
                    <a:pt x="98439" y="139622"/>
                  </a:lnTo>
                  <a:cubicBezTo>
                    <a:pt x="98458" y="131501"/>
                    <a:pt x="102225" y="123843"/>
                    <a:pt x="108647" y="118872"/>
                  </a:cubicBezTo>
                  <a:cubicBezTo>
                    <a:pt x="122914" y="107722"/>
                    <a:pt x="131231" y="90607"/>
                    <a:pt x="131182" y="72500"/>
                  </a:cubicBezTo>
                  <a:close/>
                  <a:moveTo>
                    <a:pt x="117995" y="64855"/>
                  </a:moveTo>
                  <a:cubicBezTo>
                    <a:pt x="114517" y="45429"/>
                    <a:pt x="99309" y="30225"/>
                    <a:pt x="79883" y="26751"/>
                  </a:cubicBezTo>
                  <a:cubicBezTo>
                    <a:pt x="76316" y="26150"/>
                    <a:pt x="72937" y="28554"/>
                    <a:pt x="72336" y="32121"/>
                  </a:cubicBezTo>
                  <a:cubicBezTo>
                    <a:pt x="71734" y="35688"/>
                    <a:pt x="74139" y="39067"/>
                    <a:pt x="77705" y="39668"/>
                  </a:cubicBezTo>
                  <a:cubicBezTo>
                    <a:pt x="91269" y="41952"/>
                    <a:pt x="102778" y="53461"/>
                    <a:pt x="105078" y="67049"/>
                  </a:cubicBezTo>
                  <a:cubicBezTo>
                    <a:pt x="105613" y="70198"/>
                    <a:pt x="108342" y="72502"/>
                    <a:pt x="111536" y="72500"/>
                  </a:cubicBezTo>
                  <a:cubicBezTo>
                    <a:pt x="111906" y="72498"/>
                    <a:pt x="112276" y="72468"/>
                    <a:pt x="112641" y="72410"/>
                  </a:cubicBezTo>
                  <a:cubicBezTo>
                    <a:pt x="116206" y="71802"/>
                    <a:pt x="118602" y="68420"/>
                    <a:pt x="117995" y="64855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30605" y="2492692"/>
            <a:ext cx="16412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 编程用了一年多</a:t>
            </a:r>
          </a:p>
        </p:txBody>
      </p:sp>
      <p:sp>
        <p:nvSpPr>
          <p:cNvPr id="21" name="Line 21"/>
          <p:cNvSpPr/>
          <p:nvPr/>
        </p:nvSpPr>
        <p:spPr>
          <a:xfrm>
            <a:off x="762000" y="29337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6760" y="31089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期望不高，结果越用越觉得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6760" y="33566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这东西的威力被大多数人低估了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3886200"/>
            <a:ext cx="3238500" cy="838200"/>
          </a:xfrm>
          <a:prstGeom prst="roundRect">
            <a:avLst>
              <a:gd name="adj" fmla="val 13636"/>
            </a:avLst>
          </a:prstGeom>
          <a:solidFill>
            <a:srgbClr val="FFF3E0"/>
          </a:solidFill>
          <a:ln w="14288">
            <a:solidFill>
              <a:srgbClr val="E8640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560195" y="3889058"/>
            <a:ext cx="61137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95500" y="406717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篇文章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84960" y="440436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4 个方向，自然出来了</a:t>
            </a:r>
          </a:p>
        </p:txBody>
      </p:sp>
      <p:sp>
        <p:nvSpPr>
          <p:cNvPr id="28" name="Line 28"/>
          <p:cNvSpPr/>
          <p:nvPr/>
        </p:nvSpPr>
        <p:spPr>
          <a:xfrm>
            <a:off x="4762500" y="11430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124450" y="13430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我发现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2545" y="1707832"/>
            <a:ext cx="33313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"大多数使用方式都是零散的——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22545" y="203168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要什么问什么，用完就走，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22545" y="2355532"/>
            <a:ext cx="3307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没有系统化地把它融进工作流"</a:t>
            </a:r>
          </a:p>
        </p:txBody>
      </p:sp>
      <p:sp>
        <p:nvSpPr>
          <p:cNvPr id="33" name="Line 33"/>
          <p:cNvSpPr/>
          <p:nvPr/>
        </p:nvSpPr>
        <p:spPr>
          <a:xfrm>
            <a:off x="5143500" y="28003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124450" y="29813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所以这些文章是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143500" y="3352800"/>
            <a:ext cx="47625" cy="19050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77802" y="3351371"/>
            <a:ext cx="232552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有我犯过的错，踩过的坑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143500" y="3714750"/>
            <a:ext cx="47625" cy="190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277802" y="3713321"/>
            <a:ext cx="27417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有认知的升级，有知识的扩展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143500" y="4076700"/>
            <a:ext cx="47625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277802" y="4075271"/>
            <a:ext cx="357425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是一个工程师不断进化的实战经验记录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143500" y="4686300"/>
            <a:ext cx="6286500" cy="647700"/>
          </a:xfrm>
          <a:prstGeom prst="roundRect">
            <a:avLst>
              <a:gd name="adj" fmla="val 14706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117556" y="48101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不是教程，是实战经验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8910" y="50901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不同的人面对的是完全不同的问题，各有路径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292418" y="3328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78936" y="437198"/>
            <a:ext cx="483412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找到你是哪类读者，直接跳过去就行</a:t>
            </a:r>
          </a:p>
        </p:txBody>
      </p:sp>
      <p:sp>
        <p:nvSpPr>
          <p:cNvPr id="6" name="Rectangle 6"/>
          <p:cNvSpPr/>
          <p:nvPr/>
        </p:nvSpPr>
        <p:spPr>
          <a:xfrm>
            <a:off x="3619500" y="742950"/>
            <a:ext cx="4762500" cy="28575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397353" y="994284"/>
            <a:ext cx="215474" cy="158536"/>
            <a:chOff x="5397353" y="994284"/>
            <a:chExt cx="215474" cy="158536"/>
          </a:xfrm>
        </p:grpSpPr>
        <p:sp>
          <p:nvSpPr>
            <p:cNvPr id="7" name="Freeform 7"/>
            <p:cNvSpPr/>
            <p:nvPr/>
          </p:nvSpPr>
          <p:spPr>
            <a:xfrm>
              <a:off x="5419725" y="1002506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121444" y="78581"/>
                  </a:moveTo>
                  <a:cubicBezTo>
                    <a:pt x="121444" y="98308"/>
                    <a:pt x="105452" y="114300"/>
                    <a:pt x="85725" y="114300"/>
                  </a:cubicBezTo>
                  <a:cubicBezTo>
                    <a:pt x="65998" y="114300"/>
                    <a:pt x="50006" y="98308"/>
                    <a:pt x="50006" y="78581"/>
                  </a:cubicBezTo>
                  <a:cubicBezTo>
                    <a:pt x="50006" y="58854"/>
                    <a:pt x="65998" y="42862"/>
                    <a:pt x="85725" y="42862"/>
                  </a:cubicBezTo>
                  <a:cubicBezTo>
                    <a:pt x="105452" y="42862"/>
                    <a:pt x="121444" y="58854"/>
                    <a:pt x="121444" y="78581"/>
                  </a:cubicBezTo>
                  <a:close/>
                  <a:moveTo>
                    <a:pt x="28575" y="0"/>
                  </a:moveTo>
                  <a:cubicBezTo>
                    <a:pt x="12793" y="0"/>
                    <a:pt x="0" y="12793"/>
                    <a:pt x="0" y="28575"/>
                  </a:cubicBez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lose/>
                  <a:moveTo>
                    <a:pt x="142875" y="0"/>
                  </a:moveTo>
                  <a:cubicBezTo>
                    <a:pt x="127093" y="0"/>
                    <a:pt x="114300" y="12793"/>
                    <a:pt x="114300" y="28575"/>
                  </a:cubicBezTo>
                  <a:cubicBezTo>
                    <a:pt x="114300" y="44357"/>
                    <a:pt x="127093" y="57150"/>
                    <a:pt x="142875" y="57150"/>
                  </a:cubicBezTo>
                  <a:cubicBezTo>
                    <a:pt x="158657" y="57150"/>
                    <a:pt x="171450" y="44357"/>
                    <a:pt x="171450" y="28575"/>
                  </a:cubicBezTo>
                  <a:cubicBezTo>
                    <a:pt x="171450" y="12793"/>
                    <a:pt x="158657" y="0"/>
                    <a:pt x="142875" y="0"/>
                  </a:cubicBezTo>
                  <a:close/>
                </a:path>
              </a:pathLst>
            </a:custGeom>
            <a:solidFill>
              <a:srgbClr val="78716C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397353" y="994284"/>
              <a:ext cx="215474" cy="158536"/>
            </a:xfrm>
            <a:custGeom>
              <a:avLst/>
              <a:gdLst/>
              <a:ahLst/>
              <a:cxnLst/>
              <a:rect l="l" t="t" r="r" b="b"/>
              <a:pathLst>
                <a:path w="215474" h="158536">
                  <a:moveTo>
                    <a:pt x="212396" y="92518"/>
                  </a:moveTo>
                  <a:cubicBezTo>
                    <a:pt x="209240" y="94886"/>
                    <a:pt x="204762" y="94246"/>
                    <a:pt x="202395" y="91090"/>
                  </a:cubicBezTo>
                  <a:cubicBezTo>
                    <a:pt x="193663" y="79352"/>
                    <a:pt x="179876" y="72459"/>
                    <a:pt x="165247" y="72516"/>
                  </a:cubicBezTo>
                  <a:cubicBezTo>
                    <a:pt x="161302" y="72516"/>
                    <a:pt x="158103" y="69317"/>
                    <a:pt x="158103" y="65372"/>
                  </a:cubicBezTo>
                  <a:cubicBezTo>
                    <a:pt x="158103" y="61427"/>
                    <a:pt x="161302" y="58228"/>
                    <a:pt x="165247" y="58228"/>
                  </a:cubicBezTo>
                  <a:cubicBezTo>
                    <a:pt x="176384" y="58227"/>
                    <a:pt x="185664" y="49696"/>
                    <a:pt x="186601" y="38599"/>
                  </a:cubicBezTo>
                  <a:cubicBezTo>
                    <a:pt x="187537" y="27501"/>
                    <a:pt x="179817" y="17536"/>
                    <a:pt x="168838" y="15669"/>
                  </a:cubicBezTo>
                  <a:cubicBezTo>
                    <a:pt x="157858" y="13802"/>
                    <a:pt x="147279" y="20656"/>
                    <a:pt x="144495" y="31439"/>
                  </a:cubicBezTo>
                  <a:cubicBezTo>
                    <a:pt x="143508" y="35261"/>
                    <a:pt x="139610" y="37560"/>
                    <a:pt x="135788" y="36574"/>
                  </a:cubicBezTo>
                  <a:cubicBezTo>
                    <a:pt x="131966" y="35587"/>
                    <a:pt x="129667" y="31689"/>
                    <a:pt x="130654" y="27867"/>
                  </a:cubicBezTo>
                  <a:cubicBezTo>
                    <a:pt x="134469" y="13105"/>
                    <a:pt x="147234" y="2392"/>
                    <a:pt x="162434" y="1196"/>
                  </a:cubicBezTo>
                  <a:cubicBezTo>
                    <a:pt x="177634" y="0"/>
                    <a:pt x="191918" y="8585"/>
                    <a:pt x="197995" y="22568"/>
                  </a:cubicBezTo>
                  <a:cubicBezTo>
                    <a:pt x="204072" y="36552"/>
                    <a:pt x="200603" y="52852"/>
                    <a:pt x="189357" y="63149"/>
                  </a:cubicBezTo>
                  <a:cubicBezTo>
                    <a:pt x="199071" y="67354"/>
                    <a:pt x="207515" y="74029"/>
                    <a:pt x="213851" y="82508"/>
                  </a:cubicBezTo>
                  <a:cubicBezTo>
                    <a:pt x="214988" y="84028"/>
                    <a:pt x="215474" y="85937"/>
                    <a:pt x="215201" y="87815"/>
                  </a:cubicBezTo>
                  <a:cubicBezTo>
                    <a:pt x="214927" y="89693"/>
                    <a:pt x="213918" y="91385"/>
                    <a:pt x="212396" y="92518"/>
                  </a:cubicBezTo>
                  <a:close/>
                  <a:moveTo>
                    <a:pt x="164283" y="147525"/>
                  </a:moveTo>
                  <a:cubicBezTo>
                    <a:pt x="165641" y="149739"/>
                    <a:pt x="165690" y="152515"/>
                    <a:pt x="164412" y="154776"/>
                  </a:cubicBezTo>
                  <a:cubicBezTo>
                    <a:pt x="163133" y="157037"/>
                    <a:pt x="160729" y="158426"/>
                    <a:pt x="158132" y="158403"/>
                  </a:cubicBezTo>
                  <a:cubicBezTo>
                    <a:pt x="155535" y="158381"/>
                    <a:pt x="153154" y="156951"/>
                    <a:pt x="151915" y="154669"/>
                  </a:cubicBezTo>
                  <a:cubicBezTo>
                    <a:pt x="142758" y="139170"/>
                    <a:pt x="126095" y="129660"/>
                    <a:pt x="108093" y="129660"/>
                  </a:cubicBezTo>
                  <a:cubicBezTo>
                    <a:pt x="90091" y="129660"/>
                    <a:pt x="73427" y="139170"/>
                    <a:pt x="64270" y="154669"/>
                  </a:cubicBezTo>
                  <a:cubicBezTo>
                    <a:pt x="63054" y="156994"/>
                    <a:pt x="60661" y="158465"/>
                    <a:pt x="58037" y="158501"/>
                  </a:cubicBezTo>
                  <a:cubicBezTo>
                    <a:pt x="55413" y="158536"/>
                    <a:pt x="52981" y="157130"/>
                    <a:pt x="51702" y="154839"/>
                  </a:cubicBezTo>
                  <a:cubicBezTo>
                    <a:pt x="50424" y="152548"/>
                    <a:pt x="50504" y="149740"/>
                    <a:pt x="51912" y="147525"/>
                  </a:cubicBezTo>
                  <a:cubicBezTo>
                    <a:pt x="58837" y="135625"/>
                    <a:pt x="69398" y="126261"/>
                    <a:pt x="82040" y="120808"/>
                  </a:cubicBezTo>
                  <a:cubicBezTo>
                    <a:pt x="67454" y="109640"/>
                    <a:pt x="61606" y="90418"/>
                    <a:pt x="67502" y="73019"/>
                  </a:cubicBezTo>
                  <a:cubicBezTo>
                    <a:pt x="73398" y="55619"/>
                    <a:pt x="89726" y="43912"/>
                    <a:pt x="108097" y="43912"/>
                  </a:cubicBezTo>
                  <a:cubicBezTo>
                    <a:pt x="126468" y="43912"/>
                    <a:pt x="142796" y="55619"/>
                    <a:pt x="148692" y="73019"/>
                  </a:cubicBezTo>
                  <a:cubicBezTo>
                    <a:pt x="154588" y="90418"/>
                    <a:pt x="148741" y="109640"/>
                    <a:pt x="134154" y="120808"/>
                  </a:cubicBezTo>
                  <a:cubicBezTo>
                    <a:pt x="146797" y="126261"/>
                    <a:pt x="157357" y="135625"/>
                    <a:pt x="164283" y="147525"/>
                  </a:cubicBezTo>
                  <a:close/>
                  <a:moveTo>
                    <a:pt x="108097" y="115378"/>
                  </a:moveTo>
                  <a:cubicBezTo>
                    <a:pt x="123879" y="115378"/>
                    <a:pt x="136672" y="102585"/>
                    <a:pt x="136672" y="86803"/>
                  </a:cubicBezTo>
                  <a:cubicBezTo>
                    <a:pt x="136672" y="71022"/>
                    <a:pt x="123879" y="58228"/>
                    <a:pt x="108097" y="58228"/>
                  </a:cubicBezTo>
                  <a:cubicBezTo>
                    <a:pt x="92316" y="58228"/>
                    <a:pt x="79522" y="71022"/>
                    <a:pt x="79522" y="86803"/>
                  </a:cubicBezTo>
                  <a:cubicBezTo>
                    <a:pt x="79522" y="102585"/>
                    <a:pt x="92316" y="115378"/>
                    <a:pt x="108097" y="115378"/>
                  </a:cubicBezTo>
                  <a:close/>
                  <a:moveTo>
                    <a:pt x="58091" y="65372"/>
                  </a:moveTo>
                  <a:cubicBezTo>
                    <a:pt x="58091" y="61427"/>
                    <a:pt x="54893" y="58228"/>
                    <a:pt x="50947" y="58228"/>
                  </a:cubicBezTo>
                  <a:cubicBezTo>
                    <a:pt x="39810" y="58227"/>
                    <a:pt x="30530" y="49696"/>
                    <a:pt x="29594" y="38599"/>
                  </a:cubicBezTo>
                  <a:cubicBezTo>
                    <a:pt x="28657" y="27501"/>
                    <a:pt x="36377" y="17536"/>
                    <a:pt x="47357" y="15669"/>
                  </a:cubicBezTo>
                  <a:cubicBezTo>
                    <a:pt x="58336" y="13802"/>
                    <a:pt x="68916" y="20656"/>
                    <a:pt x="71700" y="31439"/>
                  </a:cubicBezTo>
                  <a:cubicBezTo>
                    <a:pt x="72686" y="35261"/>
                    <a:pt x="76584" y="37560"/>
                    <a:pt x="80406" y="36574"/>
                  </a:cubicBezTo>
                  <a:cubicBezTo>
                    <a:pt x="84228" y="35587"/>
                    <a:pt x="86527" y="31689"/>
                    <a:pt x="85541" y="27867"/>
                  </a:cubicBezTo>
                  <a:cubicBezTo>
                    <a:pt x="81726" y="13105"/>
                    <a:pt x="68961" y="2392"/>
                    <a:pt x="53760" y="1196"/>
                  </a:cubicBezTo>
                  <a:cubicBezTo>
                    <a:pt x="38560" y="0"/>
                    <a:pt x="24276" y="8585"/>
                    <a:pt x="18199" y="22568"/>
                  </a:cubicBezTo>
                  <a:cubicBezTo>
                    <a:pt x="12122" y="36552"/>
                    <a:pt x="15592" y="52852"/>
                    <a:pt x="26837" y="63149"/>
                  </a:cubicBezTo>
                  <a:cubicBezTo>
                    <a:pt x="17133" y="67358"/>
                    <a:pt x="8698" y="74032"/>
                    <a:pt x="2370" y="82508"/>
                  </a:cubicBezTo>
                  <a:cubicBezTo>
                    <a:pt x="0" y="85664"/>
                    <a:pt x="638" y="90144"/>
                    <a:pt x="3794" y="92514"/>
                  </a:cubicBezTo>
                  <a:cubicBezTo>
                    <a:pt x="6950" y="94884"/>
                    <a:pt x="11430" y="94246"/>
                    <a:pt x="13800" y="91090"/>
                  </a:cubicBezTo>
                  <a:cubicBezTo>
                    <a:pt x="22532" y="79352"/>
                    <a:pt x="36318" y="72459"/>
                    <a:pt x="50947" y="72516"/>
                  </a:cubicBezTo>
                  <a:cubicBezTo>
                    <a:pt x="54893" y="72516"/>
                    <a:pt x="58091" y="69317"/>
                    <a:pt x="58091" y="65372"/>
                  </a:cubicBezTo>
                  <a:close/>
                </a:path>
              </a:pathLst>
            </a:custGeom>
            <a:solidFill>
              <a:srgbClr val="78716C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428059" y="1005364"/>
            <a:ext cx="13358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你是哪类读者？</a:t>
            </a:r>
          </a:p>
        </p:txBody>
      </p:sp>
      <p:sp>
        <p:nvSpPr>
          <p:cNvPr id="11" name="Polygon 11"/>
          <p:cNvSpPr/>
          <p:nvPr/>
        </p:nvSpPr>
        <p:spPr>
          <a:xfrm>
            <a:off x="5981700" y="1181100"/>
            <a:ext cx="228600" cy="133350"/>
          </a:xfrm>
          <a:custGeom>
            <a:avLst/>
            <a:gdLst/>
            <a:ahLst/>
            <a:cxnLst/>
            <a:rect l="l" t="t" r="r" b="b"/>
            <a:pathLst>
              <a:path w="228600" h="133350">
                <a:moveTo>
                  <a:pt x="114300" y="13335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E7D5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95300" y="1447800"/>
            <a:ext cx="2628900" cy="4686300"/>
          </a:xfrm>
          <a:prstGeom prst="roundRect">
            <a:avLst>
              <a:gd name="adj" fmla="val 5072"/>
            </a:avLst>
          </a:prstGeom>
          <a:solidFill>
            <a:srgbClr val="FFF3E0"/>
          </a:solidFill>
          <a:ln w="19050">
            <a:solidFill>
              <a:srgbClr val="E8640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1447800"/>
            <a:ext cx="2628900" cy="7620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95300" y="1485900"/>
            <a:ext cx="2628900" cy="38100"/>
          </a:xfrm>
          <a:prstGeom prst="rect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611169" y="1667828"/>
            <a:ext cx="3971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0271" y="211026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地图一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5575" y="2355056"/>
            <a:ext cx="1088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系统学 AI 编程</a:t>
            </a:r>
          </a:p>
        </p:txBody>
      </p:sp>
      <p:sp>
        <p:nvSpPr>
          <p:cNvPr id="18" name="Line 18"/>
          <p:cNvSpPr/>
          <p:nvPr/>
        </p:nvSpPr>
        <p:spPr>
          <a:xfrm>
            <a:off x="762000" y="26289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E8640A">
                <a:alpha val="3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8238" y="28122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适合：想从零系统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5575" y="3021806"/>
            <a:ext cx="1088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学 AI 编程的你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94519" y="33166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6386" y="36395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篇文章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3675" y="4020502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Vibe Coding 概念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9332" y="4211002"/>
            <a:ext cx="13608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→ Claude Code 实战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38300" y="5532889"/>
            <a:ext cx="342911" cy="288023"/>
            <a:chOff x="1638300" y="5532889"/>
            <a:chExt cx="342911" cy="288023"/>
          </a:xfrm>
        </p:grpSpPr>
        <p:sp>
          <p:nvSpPr>
            <p:cNvPr id="25" name="Freeform 25"/>
            <p:cNvSpPr/>
            <p:nvPr/>
          </p:nvSpPr>
          <p:spPr>
            <a:xfrm>
              <a:off x="1838325" y="5548312"/>
              <a:ext cx="128588" cy="257175"/>
            </a:xfrm>
            <a:custGeom>
              <a:avLst/>
              <a:gdLst/>
              <a:ahLst/>
              <a:cxnLst/>
              <a:rect l="l" t="t" r="r" b="b"/>
              <a:pathLst>
                <a:path w="128588" h="257175">
                  <a:moveTo>
                    <a:pt x="128588" y="128588"/>
                  </a:move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638300" y="5532889"/>
              <a:ext cx="342911" cy="288023"/>
            </a:xfrm>
            <a:custGeom>
              <a:avLst/>
              <a:gdLst/>
              <a:ahLst/>
              <a:cxnLst/>
              <a:rect l="l" t="t" r="r" b="b"/>
              <a:pathLst>
                <a:path w="342911" h="288023">
                  <a:moveTo>
                    <a:pt x="338721" y="133903"/>
                  </a:moveTo>
                  <a:lnTo>
                    <a:pt x="210133" y="5316"/>
                  </a:lnTo>
                  <a:cubicBezTo>
                    <a:pt x="206047" y="1225"/>
                    <a:pt x="199898" y="0"/>
                    <a:pt x="194556" y="2213"/>
                  </a:cubicBezTo>
                  <a:cubicBezTo>
                    <a:pt x="189214" y="4427"/>
                    <a:pt x="185733" y="9642"/>
                    <a:pt x="185738" y="15424"/>
                  </a:cubicBezTo>
                  <a:lnTo>
                    <a:pt x="185738" y="129724"/>
                  </a:lnTo>
                  <a:lnTo>
                    <a:pt x="14288" y="129724"/>
                  </a:lnTo>
                  <a:cubicBezTo>
                    <a:pt x="6397" y="129724"/>
                    <a:pt x="0" y="136121"/>
                    <a:pt x="0" y="144011"/>
                  </a:cubicBezTo>
                  <a:cubicBezTo>
                    <a:pt x="0" y="151902"/>
                    <a:pt x="6397" y="158299"/>
                    <a:pt x="14288" y="158299"/>
                  </a:cubicBezTo>
                  <a:lnTo>
                    <a:pt x="185738" y="158299"/>
                  </a:lnTo>
                  <a:lnTo>
                    <a:pt x="185738" y="272599"/>
                  </a:lnTo>
                  <a:cubicBezTo>
                    <a:pt x="185733" y="278381"/>
                    <a:pt x="189214" y="283596"/>
                    <a:pt x="194556" y="285809"/>
                  </a:cubicBezTo>
                  <a:cubicBezTo>
                    <a:pt x="199898" y="288023"/>
                    <a:pt x="206047" y="286798"/>
                    <a:pt x="210133" y="282707"/>
                  </a:cubicBezTo>
                  <a:lnTo>
                    <a:pt x="338721" y="154120"/>
                  </a:lnTo>
                  <a:cubicBezTo>
                    <a:pt x="341404" y="151440"/>
                    <a:pt x="342911" y="147803"/>
                    <a:pt x="342911" y="144011"/>
                  </a:cubicBezTo>
                  <a:cubicBezTo>
                    <a:pt x="342911" y="140219"/>
                    <a:pt x="341404" y="136583"/>
                    <a:pt x="338721" y="133903"/>
                  </a:cubicBezTo>
                  <a:close/>
                  <a:moveTo>
                    <a:pt x="214312" y="238112"/>
                  </a:moveTo>
                  <a:lnTo>
                    <a:pt x="214312" y="49910"/>
                  </a:lnTo>
                  <a:lnTo>
                    <a:pt x="308414" y="144011"/>
                  </a:ln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512570" y="5971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→ 第 6 页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352800" y="1447800"/>
            <a:ext cx="2628900" cy="4686300"/>
          </a:xfrm>
          <a:prstGeom prst="roundRect">
            <a:avLst>
              <a:gd name="adj" fmla="val 5072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352800" y="1447800"/>
            <a:ext cx="26289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352800" y="1485900"/>
            <a:ext cx="26289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19788" y="1667828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57771" y="211026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地图二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077891" y="23550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软件工程方法论</a:t>
            </a:r>
          </a:p>
        </p:txBody>
      </p:sp>
      <p:sp>
        <p:nvSpPr>
          <p:cNvPr id="35" name="Line 35"/>
          <p:cNvSpPr/>
          <p:nvPr/>
        </p:nvSpPr>
        <p:spPr>
          <a:xfrm>
            <a:off x="3619500" y="26289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F59E0B">
                <a:alpha val="3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950553" y="2812256"/>
            <a:ext cx="1433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适合：Claude Code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95738" y="30218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用起来想进阶的你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52019" y="33166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23886" y="36395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篇文章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86511" y="40205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SDD · OpenSpec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75651" y="421100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Superpowers · Agent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495800" y="5532889"/>
            <a:ext cx="342911" cy="288023"/>
            <a:chOff x="4495800" y="5532889"/>
            <a:chExt cx="342911" cy="288023"/>
          </a:xfrm>
        </p:grpSpPr>
        <p:sp>
          <p:nvSpPr>
            <p:cNvPr id="42" name="Freeform 42"/>
            <p:cNvSpPr/>
            <p:nvPr/>
          </p:nvSpPr>
          <p:spPr>
            <a:xfrm>
              <a:off x="4695825" y="5548312"/>
              <a:ext cx="128588" cy="257175"/>
            </a:xfrm>
            <a:custGeom>
              <a:avLst/>
              <a:gdLst/>
              <a:ahLst/>
              <a:cxnLst/>
              <a:rect l="l" t="t" r="r" b="b"/>
              <a:pathLst>
                <a:path w="128588" h="257175">
                  <a:moveTo>
                    <a:pt x="128588" y="128588"/>
                  </a:move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4495800" y="5532889"/>
              <a:ext cx="342911" cy="288023"/>
            </a:xfrm>
            <a:custGeom>
              <a:avLst/>
              <a:gdLst/>
              <a:ahLst/>
              <a:cxnLst/>
              <a:rect l="l" t="t" r="r" b="b"/>
              <a:pathLst>
                <a:path w="342911" h="288023">
                  <a:moveTo>
                    <a:pt x="338721" y="133903"/>
                  </a:moveTo>
                  <a:lnTo>
                    <a:pt x="210133" y="5316"/>
                  </a:lnTo>
                  <a:cubicBezTo>
                    <a:pt x="206047" y="1225"/>
                    <a:pt x="199898" y="0"/>
                    <a:pt x="194556" y="2213"/>
                  </a:cubicBezTo>
                  <a:cubicBezTo>
                    <a:pt x="189214" y="4427"/>
                    <a:pt x="185733" y="9642"/>
                    <a:pt x="185738" y="15424"/>
                  </a:cubicBezTo>
                  <a:lnTo>
                    <a:pt x="185738" y="129724"/>
                  </a:lnTo>
                  <a:lnTo>
                    <a:pt x="14288" y="129724"/>
                  </a:lnTo>
                  <a:cubicBezTo>
                    <a:pt x="6397" y="129724"/>
                    <a:pt x="0" y="136121"/>
                    <a:pt x="0" y="144011"/>
                  </a:cubicBezTo>
                  <a:cubicBezTo>
                    <a:pt x="0" y="151902"/>
                    <a:pt x="6397" y="158299"/>
                    <a:pt x="14288" y="158299"/>
                  </a:cubicBezTo>
                  <a:lnTo>
                    <a:pt x="185738" y="158299"/>
                  </a:lnTo>
                  <a:lnTo>
                    <a:pt x="185738" y="272599"/>
                  </a:lnTo>
                  <a:cubicBezTo>
                    <a:pt x="185733" y="278381"/>
                    <a:pt x="189214" y="283596"/>
                    <a:pt x="194556" y="285809"/>
                  </a:cubicBezTo>
                  <a:cubicBezTo>
                    <a:pt x="199898" y="288023"/>
                    <a:pt x="206047" y="286798"/>
                    <a:pt x="210133" y="282707"/>
                  </a:cubicBezTo>
                  <a:lnTo>
                    <a:pt x="338721" y="154120"/>
                  </a:lnTo>
                  <a:cubicBezTo>
                    <a:pt x="341404" y="151440"/>
                    <a:pt x="342911" y="147803"/>
                    <a:pt x="342911" y="144011"/>
                  </a:cubicBezTo>
                  <a:cubicBezTo>
                    <a:pt x="342911" y="140219"/>
                    <a:pt x="341404" y="136583"/>
                    <a:pt x="338721" y="133903"/>
                  </a:cubicBezTo>
                  <a:close/>
                  <a:moveTo>
                    <a:pt x="214312" y="238112"/>
                  </a:moveTo>
                  <a:lnTo>
                    <a:pt x="214312" y="49910"/>
                  </a:lnTo>
                  <a:lnTo>
                    <a:pt x="308414" y="144011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4370070" y="5971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→ 第 7 页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210300" y="1447800"/>
            <a:ext cx="2628900" cy="4686300"/>
          </a:xfrm>
          <a:prstGeom prst="roundRect">
            <a:avLst>
              <a:gd name="adj" fmla="val 5072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210300" y="1447800"/>
            <a:ext cx="26289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6210300" y="1485900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277288" y="1667828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15271" y="211026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地图三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23068" y="2355056"/>
            <a:ext cx="12033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AI 时代职业发展</a:t>
            </a:r>
          </a:p>
        </p:txBody>
      </p:sp>
      <p:sp>
        <p:nvSpPr>
          <p:cNvPr id="52" name="Line 52"/>
          <p:cNvSpPr/>
          <p:nvPr/>
        </p:nvSpPr>
        <p:spPr>
          <a:xfrm>
            <a:off x="6477000" y="26289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10B981">
                <a:alpha val="30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017544" y="28122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适合：想看清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853238" y="30218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自己角色处境的你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09519" y="33166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281386" y="36395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篇文章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55512" y="4020502"/>
            <a:ext cx="11384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Junior · Senior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963180" y="42110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工程经理 · 运维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7353300" y="5532889"/>
            <a:ext cx="342911" cy="288023"/>
            <a:chOff x="7353300" y="5532889"/>
            <a:chExt cx="342911" cy="288023"/>
          </a:xfrm>
        </p:grpSpPr>
        <p:sp>
          <p:nvSpPr>
            <p:cNvPr id="59" name="Freeform 59"/>
            <p:cNvSpPr/>
            <p:nvPr/>
          </p:nvSpPr>
          <p:spPr>
            <a:xfrm>
              <a:off x="7553325" y="5548312"/>
              <a:ext cx="128588" cy="257175"/>
            </a:xfrm>
            <a:custGeom>
              <a:avLst/>
              <a:gdLst/>
              <a:ahLst/>
              <a:cxnLst/>
              <a:rect l="l" t="t" r="r" b="b"/>
              <a:pathLst>
                <a:path w="128588" h="257175">
                  <a:moveTo>
                    <a:pt x="128588" y="128588"/>
                  </a:move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B981">
                <a:alpha val="20000"/>
              </a:srgbClr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7353300" y="5532889"/>
              <a:ext cx="342911" cy="288023"/>
            </a:xfrm>
            <a:custGeom>
              <a:avLst/>
              <a:gdLst/>
              <a:ahLst/>
              <a:cxnLst/>
              <a:rect l="l" t="t" r="r" b="b"/>
              <a:pathLst>
                <a:path w="342911" h="288023">
                  <a:moveTo>
                    <a:pt x="338721" y="133903"/>
                  </a:moveTo>
                  <a:lnTo>
                    <a:pt x="210133" y="5316"/>
                  </a:lnTo>
                  <a:cubicBezTo>
                    <a:pt x="206047" y="1225"/>
                    <a:pt x="199898" y="0"/>
                    <a:pt x="194556" y="2213"/>
                  </a:cubicBezTo>
                  <a:cubicBezTo>
                    <a:pt x="189214" y="4427"/>
                    <a:pt x="185733" y="9642"/>
                    <a:pt x="185738" y="15424"/>
                  </a:cubicBezTo>
                  <a:lnTo>
                    <a:pt x="185738" y="129724"/>
                  </a:lnTo>
                  <a:lnTo>
                    <a:pt x="14288" y="129724"/>
                  </a:lnTo>
                  <a:cubicBezTo>
                    <a:pt x="6397" y="129724"/>
                    <a:pt x="0" y="136121"/>
                    <a:pt x="0" y="144011"/>
                  </a:cubicBezTo>
                  <a:cubicBezTo>
                    <a:pt x="0" y="151902"/>
                    <a:pt x="6397" y="158299"/>
                    <a:pt x="14288" y="158299"/>
                  </a:cubicBezTo>
                  <a:lnTo>
                    <a:pt x="185738" y="158299"/>
                  </a:lnTo>
                  <a:lnTo>
                    <a:pt x="185738" y="272599"/>
                  </a:lnTo>
                  <a:cubicBezTo>
                    <a:pt x="185733" y="278381"/>
                    <a:pt x="189214" y="283596"/>
                    <a:pt x="194556" y="285809"/>
                  </a:cubicBezTo>
                  <a:cubicBezTo>
                    <a:pt x="199898" y="288023"/>
                    <a:pt x="206047" y="286798"/>
                    <a:pt x="210133" y="282707"/>
                  </a:cubicBezTo>
                  <a:lnTo>
                    <a:pt x="338721" y="154120"/>
                  </a:lnTo>
                  <a:cubicBezTo>
                    <a:pt x="341404" y="151440"/>
                    <a:pt x="342911" y="147803"/>
                    <a:pt x="342911" y="144011"/>
                  </a:cubicBezTo>
                  <a:cubicBezTo>
                    <a:pt x="342911" y="140219"/>
                    <a:pt x="341404" y="136583"/>
                    <a:pt x="338721" y="133903"/>
                  </a:cubicBezTo>
                  <a:close/>
                  <a:moveTo>
                    <a:pt x="214312" y="238112"/>
                  </a:moveTo>
                  <a:lnTo>
                    <a:pt x="214312" y="49910"/>
                  </a:lnTo>
                  <a:lnTo>
                    <a:pt x="308414" y="144011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7227570" y="5971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→ 第 8 页</a:t>
            </a:r>
          </a:p>
        </p:txBody>
      </p:sp>
      <p:sp>
        <p:nvSpPr>
          <p:cNvPr id="63" name="Rectangle 63"/>
          <p:cNvSpPr/>
          <p:nvPr/>
        </p:nvSpPr>
        <p:spPr>
          <a:xfrm>
            <a:off x="9067800" y="1447800"/>
            <a:ext cx="2628900" cy="4686300"/>
          </a:xfrm>
          <a:prstGeom prst="roundRect">
            <a:avLst>
              <a:gd name="adj" fmla="val 5072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9067800" y="1447800"/>
            <a:ext cx="2628900" cy="76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9067800" y="1485900"/>
            <a:ext cx="26289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0134788" y="1667828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072771" y="211026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地图四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723060" y="235505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非技术人的AI之路</a:t>
            </a:r>
          </a:p>
        </p:txBody>
      </p:sp>
      <p:sp>
        <p:nvSpPr>
          <p:cNvPr id="69" name="Line 69"/>
          <p:cNvSpPr/>
          <p:nvPr/>
        </p:nvSpPr>
        <p:spPr>
          <a:xfrm>
            <a:off x="9334500" y="26289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8B5CF6">
                <a:alpha val="3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9710738" y="28122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适合：不是技术人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875044" y="30218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也没关系的你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267019" y="33166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8886" y="36395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篇文章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974032" y="4020502"/>
            <a:ext cx="8164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心法 · 判断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678829" y="42110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从零开始的真实案例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0210800" y="5532889"/>
            <a:ext cx="342911" cy="288023"/>
            <a:chOff x="10210800" y="5532889"/>
            <a:chExt cx="342911" cy="288023"/>
          </a:xfrm>
        </p:grpSpPr>
        <p:sp>
          <p:nvSpPr>
            <p:cNvPr id="76" name="Freeform 76"/>
            <p:cNvSpPr/>
            <p:nvPr/>
          </p:nvSpPr>
          <p:spPr>
            <a:xfrm>
              <a:off x="10410825" y="5548312"/>
              <a:ext cx="128588" cy="257175"/>
            </a:xfrm>
            <a:custGeom>
              <a:avLst/>
              <a:gdLst/>
              <a:ahLst/>
              <a:cxnLst/>
              <a:rect l="l" t="t" r="r" b="b"/>
              <a:pathLst>
                <a:path w="128588" h="257175">
                  <a:moveTo>
                    <a:pt x="128588" y="128588"/>
                  </a:move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5CF6">
                <a:alpha val="20000"/>
              </a:srgbClr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10210800" y="5532889"/>
              <a:ext cx="342911" cy="288023"/>
            </a:xfrm>
            <a:custGeom>
              <a:avLst/>
              <a:gdLst/>
              <a:ahLst/>
              <a:cxnLst/>
              <a:rect l="l" t="t" r="r" b="b"/>
              <a:pathLst>
                <a:path w="342911" h="288023">
                  <a:moveTo>
                    <a:pt x="338721" y="133903"/>
                  </a:moveTo>
                  <a:lnTo>
                    <a:pt x="210133" y="5316"/>
                  </a:lnTo>
                  <a:cubicBezTo>
                    <a:pt x="206047" y="1225"/>
                    <a:pt x="199898" y="0"/>
                    <a:pt x="194556" y="2213"/>
                  </a:cubicBezTo>
                  <a:cubicBezTo>
                    <a:pt x="189214" y="4427"/>
                    <a:pt x="185733" y="9642"/>
                    <a:pt x="185738" y="15424"/>
                  </a:cubicBezTo>
                  <a:lnTo>
                    <a:pt x="185738" y="129724"/>
                  </a:lnTo>
                  <a:lnTo>
                    <a:pt x="14288" y="129724"/>
                  </a:lnTo>
                  <a:cubicBezTo>
                    <a:pt x="6397" y="129724"/>
                    <a:pt x="0" y="136121"/>
                    <a:pt x="0" y="144011"/>
                  </a:cubicBezTo>
                  <a:cubicBezTo>
                    <a:pt x="0" y="151902"/>
                    <a:pt x="6397" y="158299"/>
                    <a:pt x="14288" y="158299"/>
                  </a:cubicBezTo>
                  <a:lnTo>
                    <a:pt x="185738" y="158299"/>
                  </a:lnTo>
                  <a:lnTo>
                    <a:pt x="185738" y="272599"/>
                  </a:lnTo>
                  <a:cubicBezTo>
                    <a:pt x="185733" y="278381"/>
                    <a:pt x="189214" y="283596"/>
                    <a:pt x="194556" y="285809"/>
                  </a:cubicBezTo>
                  <a:cubicBezTo>
                    <a:pt x="199898" y="288023"/>
                    <a:pt x="206047" y="286798"/>
                    <a:pt x="210133" y="282707"/>
                  </a:cubicBezTo>
                  <a:lnTo>
                    <a:pt x="338721" y="154120"/>
                  </a:lnTo>
                  <a:cubicBezTo>
                    <a:pt x="341404" y="151440"/>
                    <a:pt x="342911" y="147803"/>
                    <a:pt x="342911" y="144011"/>
                  </a:cubicBezTo>
                  <a:cubicBezTo>
                    <a:pt x="342911" y="140219"/>
                    <a:pt x="341404" y="136583"/>
                    <a:pt x="338721" y="133903"/>
                  </a:cubicBezTo>
                  <a:close/>
                  <a:moveTo>
                    <a:pt x="214312" y="238112"/>
                  </a:moveTo>
                  <a:lnTo>
                    <a:pt x="214312" y="49910"/>
                  </a:lnTo>
                  <a:lnTo>
                    <a:pt x="308414" y="144011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</p:grpSp>
      <p:sp>
        <p:nvSpPr>
          <p:cNvPr id="79" name="TextBox 79"/>
          <p:cNvSpPr txBox="1"/>
          <p:nvPr/>
        </p:nvSpPr>
        <p:spPr>
          <a:xfrm>
            <a:off x="10085070" y="5971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→ 第 9 页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gradFill>
            <a:gsLst>
              <a:gs pos="0">
                <a:srgbClr val="E8640A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1357181" y="2376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BF5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265" y="3057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BF5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地图一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9120" y="483870"/>
            <a:ext cx="243485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系统学 AI 编程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87935" y="450056"/>
            <a:ext cx="43087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 u="none">
                <a:solidFill>
                  <a:srgbClr val="FFFBF5">
                    <a:alphaMod val="85000"/>
                  </a:srgbClr>
                </a:solidFill>
                <a:latin typeface="Arial"/>
                <a:ea typeface="Microsoft YaHei"/>
                <a:cs typeface="Arial"/>
                <a:hlinkClick r:id="rId3"/>
              </a:rPr>
              <a:t>按顺序读，从 Vibe Coding 概念到 Claude Code 全流程实战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937" y="1118933"/>
            <a:ext cx="250026" cy="200280"/>
            <a:chOff x="617937" y="1118933"/>
            <a:chExt cx="250026" cy="200280"/>
          </a:xfrm>
        </p:grpSpPr>
        <p:sp>
          <p:nvSpPr>
            <p:cNvPr id="9" name="Freeform 9"/>
            <p:cNvSpPr/>
            <p:nvPr/>
          </p:nvSpPr>
          <p:spPr>
            <a:xfrm>
              <a:off x="626269" y="1177528"/>
              <a:ext cx="233362" cy="83344"/>
            </a:xfrm>
            <a:custGeom>
              <a:avLst/>
              <a:gdLst/>
              <a:ahLst/>
              <a:cxnLst/>
              <a:rect l="l" t="t" r="r" b="b"/>
              <a:pathLst>
                <a:path w="233362" h="83344">
                  <a:moveTo>
                    <a:pt x="233362" y="41672"/>
                  </a:moveTo>
                  <a:lnTo>
                    <a:pt x="183356" y="83344"/>
                  </a:lnTo>
                  <a:lnTo>
                    <a:pt x="50006" y="83344"/>
                  </a:lnTo>
                  <a:lnTo>
                    <a:pt x="0" y="41672"/>
                  </a:lnTo>
                  <a:lnTo>
                    <a:pt x="50006" y="0"/>
                  </a:lnTo>
                  <a:lnTo>
                    <a:pt x="183356" y="0"/>
                  </a:ln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7937" y="1118933"/>
              <a:ext cx="250026" cy="200280"/>
            </a:xfrm>
            <a:custGeom>
              <a:avLst/>
              <a:gdLst/>
              <a:ahLst/>
              <a:cxnLst/>
              <a:rect l="l" t="t" r="r" b="b"/>
              <a:pathLst>
                <a:path w="250026" h="200280">
                  <a:moveTo>
                    <a:pt x="63672" y="65002"/>
                  </a:moveTo>
                  <a:lnTo>
                    <a:pt x="21354" y="100267"/>
                  </a:lnTo>
                  <a:lnTo>
                    <a:pt x="63672" y="135532"/>
                  </a:lnTo>
                  <a:cubicBezTo>
                    <a:pt x="66027" y="137417"/>
                    <a:pt x="67179" y="140427"/>
                    <a:pt x="66685" y="143403"/>
                  </a:cubicBezTo>
                  <a:cubicBezTo>
                    <a:pt x="66191" y="146379"/>
                    <a:pt x="64128" y="148855"/>
                    <a:pt x="61290" y="149878"/>
                  </a:cubicBezTo>
                  <a:cubicBezTo>
                    <a:pt x="58452" y="150901"/>
                    <a:pt x="55283" y="150311"/>
                    <a:pt x="53004" y="148335"/>
                  </a:cubicBezTo>
                  <a:lnTo>
                    <a:pt x="2998" y="106663"/>
                  </a:lnTo>
                  <a:cubicBezTo>
                    <a:pt x="1098" y="105080"/>
                    <a:pt x="0" y="102735"/>
                    <a:pt x="0" y="100262"/>
                  </a:cubicBezTo>
                  <a:cubicBezTo>
                    <a:pt x="0" y="97789"/>
                    <a:pt x="1098" y="95443"/>
                    <a:pt x="2998" y="93860"/>
                  </a:cubicBezTo>
                  <a:lnTo>
                    <a:pt x="53004" y="52188"/>
                  </a:lnTo>
                  <a:cubicBezTo>
                    <a:pt x="56543" y="49242"/>
                    <a:pt x="61799" y="49722"/>
                    <a:pt x="64745" y="53261"/>
                  </a:cubicBezTo>
                  <a:cubicBezTo>
                    <a:pt x="67691" y="56799"/>
                    <a:pt x="67211" y="62056"/>
                    <a:pt x="63672" y="65002"/>
                  </a:cubicBezTo>
                  <a:close/>
                  <a:moveTo>
                    <a:pt x="247028" y="93860"/>
                  </a:moveTo>
                  <a:lnTo>
                    <a:pt x="197022" y="52188"/>
                  </a:lnTo>
                  <a:cubicBezTo>
                    <a:pt x="193484" y="49242"/>
                    <a:pt x="188227" y="49722"/>
                    <a:pt x="185281" y="53261"/>
                  </a:cubicBezTo>
                  <a:cubicBezTo>
                    <a:pt x="182335" y="56799"/>
                    <a:pt x="182816" y="62056"/>
                    <a:pt x="186354" y="65002"/>
                  </a:cubicBezTo>
                  <a:lnTo>
                    <a:pt x="228672" y="100267"/>
                  </a:lnTo>
                  <a:lnTo>
                    <a:pt x="186354" y="135532"/>
                  </a:lnTo>
                  <a:cubicBezTo>
                    <a:pt x="183999" y="137417"/>
                    <a:pt x="182847" y="140427"/>
                    <a:pt x="183341" y="143403"/>
                  </a:cubicBezTo>
                  <a:cubicBezTo>
                    <a:pt x="183835" y="146379"/>
                    <a:pt x="185898" y="148855"/>
                    <a:pt x="188736" y="149878"/>
                  </a:cubicBezTo>
                  <a:cubicBezTo>
                    <a:pt x="191574" y="150901"/>
                    <a:pt x="194743" y="150311"/>
                    <a:pt x="197022" y="148335"/>
                  </a:cubicBezTo>
                  <a:lnTo>
                    <a:pt x="247028" y="106663"/>
                  </a:lnTo>
                  <a:cubicBezTo>
                    <a:pt x="248928" y="105080"/>
                    <a:pt x="250026" y="102735"/>
                    <a:pt x="250026" y="100262"/>
                  </a:cubicBezTo>
                  <a:cubicBezTo>
                    <a:pt x="250026" y="97789"/>
                    <a:pt x="248928" y="95443"/>
                    <a:pt x="247028" y="93860"/>
                  </a:cubicBezTo>
                  <a:close/>
                  <a:moveTo>
                    <a:pt x="161195" y="754"/>
                  </a:moveTo>
                  <a:cubicBezTo>
                    <a:pt x="159117" y="0"/>
                    <a:pt x="156825" y="102"/>
                    <a:pt x="154822" y="1038"/>
                  </a:cubicBezTo>
                  <a:cubicBezTo>
                    <a:pt x="152819" y="1974"/>
                    <a:pt x="151271" y="3667"/>
                    <a:pt x="150516" y="5745"/>
                  </a:cubicBezTo>
                  <a:lnTo>
                    <a:pt x="83841" y="189101"/>
                  </a:lnTo>
                  <a:cubicBezTo>
                    <a:pt x="83084" y="191180"/>
                    <a:pt x="83184" y="193475"/>
                    <a:pt x="84120" y="195480"/>
                  </a:cubicBezTo>
                  <a:cubicBezTo>
                    <a:pt x="85056" y="197485"/>
                    <a:pt x="86751" y="199035"/>
                    <a:pt x="88832" y="199790"/>
                  </a:cubicBezTo>
                  <a:cubicBezTo>
                    <a:pt x="89745" y="200114"/>
                    <a:pt x="90707" y="200280"/>
                    <a:pt x="91676" y="200279"/>
                  </a:cubicBezTo>
                  <a:cubicBezTo>
                    <a:pt x="95182" y="200279"/>
                    <a:pt x="98313" y="198085"/>
                    <a:pt x="99510" y="194789"/>
                  </a:cubicBezTo>
                  <a:lnTo>
                    <a:pt x="166185" y="11433"/>
                  </a:lnTo>
                  <a:cubicBezTo>
                    <a:pt x="166939" y="9355"/>
                    <a:pt x="166837" y="7063"/>
                    <a:pt x="165901" y="5060"/>
                  </a:cubicBezTo>
                  <a:cubicBezTo>
                    <a:pt x="164966" y="3057"/>
                    <a:pt x="163273" y="1509"/>
                    <a:pt x="161195" y="754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37260" y="1146810"/>
            <a:ext cx="1984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共 8 篇，建议按顺序阅读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14668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734037" y="15630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3460" y="1489710"/>
            <a:ext cx="14290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4"/>
              </a:rPr>
              <a:t>引言 Vibe Coding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6318" y="1704499"/>
            <a:ext cx="31788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 u="none">
                <a:solidFill>
                  <a:srgbClr val="A8A29E"/>
                </a:solidFill>
                <a:latin typeface="Arial"/>
                <a:ea typeface="Microsoft YaHei"/>
                <a:cs typeface="Arial"/>
                <a:hlinkClick r:id="rId4"/>
              </a:rPr>
              <a:t>AI 时代的编程新范式，编程范式正在发生什么转变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" y="20002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18" name="Rectangle 18"/>
          <p:cNvSpPr/>
          <p:nvPr/>
        </p:nvSpPr>
        <p:spPr>
          <a:xfrm>
            <a:off x="609600" y="20955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13909" y="21917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3460" y="2118360"/>
            <a:ext cx="14750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5"/>
              </a:rPr>
              <a:t>Claude Code 概述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6318" y="2333149"/>
            <a:ext cx="2296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是什么，和 Copilot 有什么本质不同</a:t>
            </a:r>
          </a:p>
        </p:txBody>
      </p:sp>
      <p:sp>
        <p:nvSpPr>
          <p:cNvPr id="22" name="Line 22"/>
          <p:cNvSpPr/>
          <p:nvPr/>
        </p:nvSpPr>
        <p:spPr>
          <a:xfrm>
            <a:off x="609600" y="262890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23" name="Rectangle 23"/>
          <p:cNvSpPr/>
          <p:nvPr/>
        </p:nvSpPr>
        <p:spPr>
          <a:xfrm>
            <a:off x="609600" y="27241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713909" y="28203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3460" y="2747010"/>
            <a:ext cx="2763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3"/>
              </a:rPr>
              <a:t>Claude Code 项目开发全流程实战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6318" y="2961799"/>
            <a:ext cx="24313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Finance 项目从初始化到部署全程记录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" y="32575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28" name="Rectangle 28"/>
          <p:cNvSpPr/>
          <p:nvPr/>
        </p:nvSpPr>
        <p:spPr>
          <a:xfrm>
            <a:off x="609600" y="3352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713909" y="34490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3460" y="3375660"/>
            <a:ext cx="26896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6"/>
              </a:rPr>
              <a:t>软件开发方法论在 AI 时代的演进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6318" y="3590449"/>
            <a:ext cx="1932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敏捷、TDD 在 AI 时代的新形态</a:t>
            </a:r>
          </a:p>
        </p:txBody>
      </p:sp>
      <p:sp>
        <p:nvSpPr>
          <p:cNvPr id="32" name="Line 32"/>
          <p:cNvSpPr/>
          <p:nvPr/>
        </p:nvSpPr>
        <p:spPr>
          <a:xfrm>
            <a:off x="609600" y="388620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33" name="Rectangle 33"/>
          <p:cNvSpPr/>
          <p:nvPr/>
        </p:nvSpPr>
        <p:spPr>
          <a:xfrm>
            <a:off x="609600" y="39814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34" name="TextBox 34"/>
          <p:cNvSpPr txBox="1"/>
          <p:nvPr/>
        </p:nvSpPr>
        <p:spPr>
          <a:xfrm>
            <a:off x="713909" y="40776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3460" y="4004310"/>
            <a:ext cx="25791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7"/>
              </a:rPr>
              <a:t>Claude Code 的适用场景与边界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6318" y="42190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什么场景最合适，什么场景要谨慎</a:t>
            </a:r>
          </a:p>
        </p:txBody>
      </p:sp>
      <p:sp>
        <p:nvSpPr>
          <p:cNvPr id="37" name="Line 37"/>
          <p:cNvSpPr/>
          <p:nvPr/>
        </p:nvSpPr>
        <p:spPr>
          <a:xfrm>
            <a:off x="609600" y="45148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38" name="Rectangle 38"/>
          <p:cNvSpPr/>
          <p:nvPr/>
        </p:nvSpPr>
        <p:spPr>
          <a:xfrm>
            <a:off x="6286500" y="14668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6390809" y="15630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90360" y="1489710"/>
            <a:ext cx="2763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8"/>
              </a:rPr>
              <a:t>Claude Code 项目开发总结与展望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93218" y="1704499"/>
            <a:ext cx="30792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降低门槛、加速迭代、CLAUDE.md 作为永久记忆</a:t>
            </a:r>
          </a:p>
        </p:txBody>
      </p:sp>
      <p:sp>
        <p:nvSpPr>
          <p:cNvPr id="42" name="Line 42"/>
          <p:cNvSpPr/>
          <p:nvPr/>
        </p:nvSpPr>
        <p:spPr>
          <a:xfrm>
            <a:off x="6286500" y="20002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43" name="Rectangle 43"/>
          <p:cNvSpPr/>
          <p:nvPr/>
        </p:nvSpPr>
        <p:spPr>
          <a:xfrm>
            <a:off x="6286500" y="20955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6390809" y="21917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90360" y="2118360"/>
            <a:ext cx="33152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9"/>
              </a:rPr>
              <a:t>从 Vibe Coding 到 SDD——OpenSpec 实战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93218" y="2333149"/>
            <a:ext cx="23601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Spec-Driven Development 入门实战</a:t>
            </a:r>
          </a:p>
        </p:txBody>
      </p:sp>
      <p:sp>
        <p:nvSpPr>
          <p:cNvPr id="47" name="Line 47"/>
          <p:cNvSpPr/>
          <p:nvPr/>
        </p:nvSpPr>
        <p:spPr>
          <a:xfrm>
            <a:off x="6286500" y="262890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48" name="Rectangle 48"/>
          <p:cNvSpPr/>
          <p:nvPr/>
        </p:nvSpPr>
        <p:spPr>
          <a:xfrm>
            <a:off x="6286500" y="27241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6390809" y="28203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90360" y="2747010"/>
            <a:ext cx="22111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10"/>
              </a:rPr>
              <a:t>Claude Code 实战使用心得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93218" y="2961799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基于家庭理财系统的开发经验，真实项目完整复盘</a:t>
            </a:r>
          </a:p>
        </p:txBody>
      </p:sp>
      <p:sp>
        <p:nvSpPr>
          <p:cNvPr id="52" name="Line 52"/>
          <p:cNvSpPr/>
          <p:nvPr/>
        </p:nvSpPr>
        <p:spPr>
          <a:xfrm>
            <a:off x="6286500" y="32575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53" name="Line 53"/>
          <p:cNvSpPr/>
          <p:nvPr/>
        </p:nvSpPr>
        <p:spPr>
          <a:xfrm>
            <a:off x="6000750" y="1409700"/>
            <a:ext cx="9525" cy="3829050"/>
          </a:xfrm>
          <a:custGeom>
            <a:avLst/>
            <a:gdLst/>
            <a:ahLst/>
            <a:cxnLst/>
            <a:rect l="l" t="t" r="r" b="b"/>
            <a:pathLst>
              <a:path w="9525" h="3829050">
                <a:moveTo>
                  <a:pt x="0" y="0"/>
                </a:moveTo>
                <a:lnTo>
                  <a:pt x="0" y="382905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54" name="Rectangle 54"/>
          <p:cNvSpPr/>
          <p:nvPr/>
        </p:nvSpPr>
        <p:spPr>
          <a:xfrm>
            <a:off x="609600" y="48387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3E0"/>
          </a:solidFill>
          <a:ln>
            <a:noFill/>
          </a:ln>
        </p:spPr>
        <p:txBody>
          <a:bodyPr/>
          <a:p/>
        </p:txBody>
      </p:sp>
      <p:grpSp>
        <p:nvGrpSpPr>
          <p:cNvPr id="57" name="Group 57"/>
          <p:cNvGrpSpPr/>
          <p:nvPr/>
        </p:nvGrpSpPr>
        <p:grpSpPr>
          <a:xfrm>
            <a:off x="841501" y="4969074"/>
            <a:ext cx="183700" cy="233958"/>
            <a:chOff x="841501" y="4969074"/>
            <a:chExt cx="183700" cy="233958"/>
          </a:xfrm>
        </p:grpSpPr>
        <p:sp>
          <p:nvSpPr>
            <p:cNvPr id="55" name="Freeform 55"/>
            <p:cNvSpPr/>
            <p:nvPr/>
          </p:nvSpPr>
          <p:spPr>
            <a:xfrm>
              <a:off x="849856" y="4977461"/>
              <a:ext cx="166960" cy="183898"/>
            </a:xfrm>
            <a:custGeom>
              <a:avLst/>
              <a:gdLst/>
              <a:ahLst/>
              <a:cxnLst/>
              <a:rect l="l" t="t" r="r" b="b"/>
              <a:pathLst>
                <a:path w="166960" h="183898">
                  <a:moveTo>
                    <a:pt x="166938" y="83886"/>
                  </a:moveTo>
                  <a:cubicBezTo>
                    <a:pt x="166960" y="109474"/>
                    <a:pt x="155207" y="133649"/>
                    <a:pt x="135069" y="149435"/>
                  </a:cubicBezTo>
                  <a:cubicBezTo>
                    <a:pt x="128919" y="154202"/>
                    <a:pt x="125304" y="161532"/>
                    <a:pt x="125266" y="169313"/>
                  </a:cubicBezTo>
                  <a:lnTo>
                    <a:pt x="125266" y="175564"/>
                  </a:lnTo>
                  <a:cubicBezTo>
                    <a:pt x="125266" y="180167"/>
                    <a:pt x="121534" y="183898"/>
                    <a:pt x="116931" y="183898"/>
                  </a:cubicBezTo>
                  <a:lnTo>
                    <a:pt x="50256" y="183898"/>
                  </a:lnTo>
                  <a:cubicBezTo>
                    <a:pt x="45653" y="183898"/>
                    <a:pt x="41922" y="180167"/>
                    <a:pt x="41922" y="175564"/>
                  </a:cubicBezTo>
                  <a:lnTo>
                    <a:pt x="41922" y="169313"/>
                  </a:lnTo>
                  <a:cubicBezTo>
                    <a:pt x="41914" y="161575"/>
                    <a:pt x="38339" y="154272"/>
                    <a:pt x="32233" y="149519"/>
                  </a:cubicBezTo>
                  <a:cubicBezTo>
                    <a:pt x="12160" y="133838"/>
                    <a:pt x="375" y="109826"/>
                    <a:pt x="250" y="84354"/>
                  </a:cubicBezTo>
                  <a:cubicBezTo>
                    <a:pt x="0" y="39182"/>
                    <a:pt x="36421" y="1584"/>
                    <a:pt x="81583" y="542"/>
                  </a:cubicBezTo>
                  <a:cubicBezTo>
                    <a:pt x="104034" y="0"/>
                    <a:pt x="125753" y="8541"/>
                    <a:pt x="141820" y="24230"/>
                  </a:cubicBezTo>
                  <a:cubicBezTo>
                    <a:pt x="157888" y="39919"/>
                    <a:pt x="166944" y="61429"/>
                    <a:pt x="166938" y="83886"/>
                  </a:cubicBez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41501" y="4969074"/>
              <a:ext cx="183700" cy="233958"/>
            </a:xfrm>
            <a:custGeom>
              <a:avLst/>
              <a:gdLst/>
              <a:ahLst/>
              <a:cxnLst/>
              <a:rect l="l" t="t" r="r" b="b"/>
              <a:pathLst>
                <a:path w="183700" h="233958">
                  <a:moveTo>
                    <a:pt x="141955" y="225623"/>
                  </a:moveTo>
                  <a:cubicBezTo>
                    <a:pt x="141955" y="230226"/>
                    <a:pt x="138224" y="233958"/>
                    <a:pt x="133621" y="233958"/>
                  </a:cubicBezTo>
                  <a:lnTo>
                    <a:pt x="50277" y="233958"/>
                  </a:lnTo>
                  <a:cubicBezTo>
                    <a:pt x="45674" y="233958"/>
                    <a:pt x="41943" y="230226"/>
                    <a:pt x="41943" y="225623"/>
                  </a:cubicBezTo>
                  <a:cubicBezTo>
                    <a:pt x="41943" y="221020"/>
                    <a:pt x="45674" y="217289"/>
                    <a:pt x="50277" y="217289"/>
                  </a:cubicBezTo>
                  <a:lnTo>
                    <a:pt x="133621" y="217289"/>
                  </a:lnTo>
                  <a:cubicBezTo>
                    <a:pt x="138224" y="217289"/>
                    <a:pt x="141955" y="221020"/>
                    <a:pt x="141955" y="225623"/>
                  </a:cubicBezTo>
                  <a:close/>
                  <a:moveTo>
                    <a:pt x="183627" y="92273"/>
                  </a:moveTo>
                  <a:cubicBezTo>
                    <a:pt x="183700" y="120428"/>
                    <a:pt x="170766" y="147039"/>
                    <a:pt x="148581" y="164376"/>
                  </a:cubicBezTo>
                  <a:cubicBezTo>
                    <a:pt x="144433" y="167556"/>
                    <a:pt x="141987" y="172474"/>
                    <a:pt x="141955" y="177701"/>
                  </a:cubicBezTo>
                  <a:lnTo>
                    <a:pt x="141955" y="183951"/>
                  </a:lnTo>
                  <a:cubicBezTo>
                    <a:pt x="141955" y="193157"/>
                    <a:pt x="134492" y="200620"/>
                    <a:pt x="125286" y="200620"/>
                  </a:cubicBezTo>
                  <a:lnTo>
                    <a:pt x="58611" y="200620"/>
                  </a:lnTo>
                  <a:cubicBezTo>
                    <a:pt x="49406" y="200620"/>
                    <a:pt x="41943" y="193157"/>
                    <a:pt x="41943" y="183951"/>
                  </a:cubicBezTo>
                  <a:lnTo>
                    <a:pt x="41943" y="177701"/>
                  </a:lnTo>
                  <a:cubicBezTo>
                    <a:pt x="41939" y="172536"/>
                    <a:pt x="39542" y="167665"/>
                    <a:pt x="35452" y="164511"/>
                  </a:cubicBezTo>
                  <a:cubicBezTo>
                    <a:pt x="13326" y="147279"/>
                    <a:pt x="352" y="120829"/>
                    <a:pt x="271" y="92784"/>
                  </a:cubicBezTo>
                  <a:cubicBezTo>
                    <a:pt x="0" y="43132"/>
                    <a:pt x="40130" y="1783"/>
                    <a:pt x="89740" y="595"/>
                  </a:cubicBezTo>
                  <a:cubicBezTo>
                    <a:pt x="114435" y="0"/>
                    <a:pt x="138325" y="9396"/>
                    <a:pt x="155999" y="26653"/>
                  </a:cubicBezTo>
                  <a:cubicBezTo>
                    <a:pt x="173673" y="43911"/>
                    <a:pt x="183634" y="67571"/>
                    <a:pt x="183627" y="92273"/>
                  </a:cubicBezTo>
                  <a:close/>
                  <a:moveTo>
                    <a:pt x="166958" y="92273"/>
                  </a:moveTo>
                  <a:cubicBezTo>
                    <a:pt x="166964" y="72061"/>
                    <a:pt x="158813" y="52703"/>
                    <a:pt x="144352" y="38582"/>
                  </a:cubicBezTo>
                  <a:cubicBezTo>
                    <a:pt x="129890" y="24462"/>
                    <a:pt x="110342" y="16775"/>
                    <a:pt x="90136" y="17264"/>
                  </a:cubicBezTo>
                  <a:cubicBezTo>
                    <a:pt x="49506" y="18222"/>
                    <a:pt x="16721" y="52049"/>
                    <a:pt x="16940" y="92680"/>
                  </a:cubicBezTo>
                  <a:cubicBezTo>
                    <a:pt x="17017" y="115616"/>
                    <a:pt x="27635" y="137244"/>
                    <a:pt x="45735" y="151333"/>
                  </a:cubicBezTo>
                  <a:cubicBezTo>
                    <a:pt x="53873" y="157659"/>
                    <a:pt x="58626" y="167393"/>
                    <a:pt x="58611" y="177701"/>
                  </a:cubicBezTo>
                  <a:lnTo>
                    <a:pt x="58611" y="183951"/>
                  </a:lnTo>
                  <a:lnTo>
                    <a:pt x="125286" y="183951"/>
                  </a:lnTo>
                  <a:lnTo>
                    <a:pt x="125286" y="177701"/>
                  </a:lnTo>
                  <a:cubicBezTo>
                    <a:pt x="125310" y="167364"/>
                    <a:pt x="130104" y="157618"/>
                    <a:pt x="138278" y="151291"/>
                  </a:cubicBezTo>
                  <a:cubicBezTo>
                    <a:pt x="156436" y="137100"/>
                    <a:pt x="167021" y="115318"/>
                    <a:pt x="166958" y="92273"/>
                  </a:cubicBezTo>
                  <a:close/>
                  <a:moveTo>
                    <a:pt x="150175" y="82543"/>
                  </a:moveTo>
                  <a:cubicBezTo>
                    <a:pt x="145749" y="57819"/>
                    <a:pt x="126393" y="38468"/>
                    <a:pt x="101669" y="34047"/>
                  </a:cubicBezTo>
                  <a:cubicBezTo>
                    <a:pt x="97129" y="33282"/>
                    <a:pt x="92829" y="36342"/>
                    <a:pt x="92064" y="40881"/>
                  </a:cubicBezTo>
                  <a:cubicBezTo>
                    <a:pt x="91298" y="45421"/>
                    <a:pt x="94358" y="49722"/>
                    <a:pt x="98898" y="50487"/>
                  </a:cubicBezTo>
                  <a:cubicBezTo>
                    <a:pt x="116160" y="53393"/>
                    <a:pt x="130808" y="68041"/>
                    <a:pt x="133735" y="85335"/>
                  </a:cubicBezTo>
                  <a:cubicBezTo>
                    <a:pt x="134416" y="89343"/>
                    <a:pt x="137890" y="92275"/>
                    <a:pt x="141955" y="92273"/>
                  </a:cubicBezTo>
                  <a:cubicBezTo>
                    <a:pt x="142426" y="92270"/>
                    <a:pt x="142896" y="92232"/>
                    <a:pt x="143362" y="92159"/>
                  </a:cubicBezTo>
                  <a:cubicBezTo>
                    <a:pt x="147898" y="91384"/>
                    <a:pt x="150948" y="87079"/>
                    <a:pt x="150175" y="82543"/>
                  </a:cubicBez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1165860" y="49568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适合你的信号：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66812" y="5193506"/>
            <a:ext cx="6666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想系统了解 AI 编程，还没用过 Claude Code，或者用了但没有系统化——按顺序从第一篇开始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1357181" y="2376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BF5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265" y="3057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BF5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地图二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9120" y="483870"/>
            <a:ext cx="379662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时代软件工程方法论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5102" y="450056"/>
            <a:ext cx="4111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BF5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Claude Code 用起来了，下一步是驾驭更复杂的开发模式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1334" y="1106958"/>
            <a:ext cx="219989" cy="223869"/>
            <a:chOff x="631334" y="1106958"/>
            <a:chExt cx="219989" cy="223869"/>
          </a:xfrm>
        </p:grpSpPr>
        <p:sp>
          <p:nvSpPr>
            <p:cNvPr id="9" name="Freeform 9"/>
            <p:cNvSpPr/>
            <p:nvPr/>
          </p:nvSpPr>
          <p:spPr>
            <a:xfrm>
              <a:off x="640449" y="1113453"/>
              <a:ext cx="202526" cy="208248"/>
            </a:xfrm>
            <a:custGeom>
              <a:avLst/>
              <a:gdLst/>
              <a:ahLst/>
              <a:cxnLst/>
              <a:rect l="l" t="t" r="r" b="b"/>
              <a:pathLst>
                <a:path w="202526" h="208248">
                  <a:moveTo>
                    <a:pt x="202514" y="72409"/>
                  </a:moveTo>
                  <a:cubicBezTo>
                    <a:pt x="202505" y="95999"/>
                    <a:pt x="190031" y="117828"/>
                    <a:pt x="169713" y="129813"/>
                  </a:cubicBezTo>
                  <a:cubicBezTo>
                    <a:pt x="149394" y="141798"/>
                    <a:pt x="124255" y="142154"/>
                    <a:pt x="103605" y="130750"/>
                  </a:cubicBezTo>
                  <a:lnTo>
                    <a:pt x="45202" y="198467"/>
                  </a:lnTo>
                  <a:cubicBezTo>
                    <a:pt x="35421" y="208248"/>
                    <a:pt x="19563" y="208248"/>
                    <a:pt x="9781" y="198467"/>
                  </a:cubicBezTo>
                  <a:cubicBezTo>
                    <a:pt x="0" y="188685"/>
                    <a:pt x="0" y="172827"/>
                    <a:pt x="9781" y="163045"/>
                  </a:cubicBezTo>
                  <a:lnTo>
                    <a:pt x="77498" y="104642"/>
                  </a:lnTo>
                  <a:cubicBezTo>
                    <a:pt x="63845" y="79935"/>
                    <a:pt x="67231" y="49307"/>
                    <a:pt x="85952" y="28178"/>
                  </a:cubicBezTo>
                  <a:cubicBezTo>
                    <a:pt x="104672" y="7050"/>
                    <a:pt x="134670" y="0"/>
                    <a:pt x="160842" y="10579"/>
                  </a:cubicBezTo>
                  <a:lnTo>
                    <a:pt x="119170" y="55740"/>
                  </a:lnTo>
                  <a:lnTo>
                    <a:pt x="125067" y="83181"/>
                  </a:lnTo>
                  <a:lnTo>
                    <a:pt x="152507" y="89078"/>
                  </a:lnTo>
                  <a:lnTo>
                    <a:pt x="197669" y="47406"/>
                  </a:lnTo>
                  <a:cubicBezTo>
                    <a:pt x="200881" y="55350"/>
                    <a:pt x="202526" y="63840"/>
                    <a:pt x="202514" y="72409"/>
                  </a:cubicBezTo>
                  <a:close/>
                </a:path>
              </a:pathLst>
            </a:custGeom>
            <a:solidFill>
              <a:srgbClr val="D97706">
                <a:alpha val="2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31334" y="1106958"/>
              <a:ext cx="219989" cy="223869"/>
            </a:xfrm>
            <a:custGeom>
              <a:avLst/>
              <a:gdLst/>
              <a:ahLst/>
              <a:cxnLst/>
              <a:rect l="l" t="t" r="r" b="b"/>
              <a:pathLst>
                <a:path w="219989" h="223869">
                  <a:moveTo>
                    <a:pt x="214504" y="50776"/>
                  </a:moveTo>
                  <a:cubicBezTo>
                    <a:pt x="213478" y="48239"/>
                    <a:pt x="211272" y="46368"/>
                    <a:pt x="208602" y="45769"/>
                  </a:cubicBezTo>
                  <a:cubicBezTo>
                    <a:pt x="205932" y="45171"/>
                    <a:pt x="203139" y="45920"/>
                    <a:pt x="201127" y="47776"/>
                  </a:cubicBezTo>
                  <a:lnTo>
                    <a:pt x="159143" y="86520"/>
                  </a:lnTo>
                  <a:lnTo>
                    <a:pt x="141193" y="82665"/>
                  </a:lnTo>
                  <a:lnTo>
                    <a:pt x="137338" y="64715"/>
                  </a:lnTo>
                  <a:lnTo>
                    <a:pt x="176083" y="22731"/>
                  </a:lnTo>
                  <a:cubicBezTo>
                    <a:pt x="177938" y="20719"/>
                    <a:pt x="178688" y="17926"/>
                    <a:pt x="178089" y="15256"/>
                  </a:cubicBezTo>
                  <a:cubicBezTo>
                    <a:pt x="177490" y="12586"/>
                    <a:pt x="175619" y="10380"/>
                    <a:pt x="173082" y="9354"/>
                  </a:cubicBezTo>
                  <a:cubicBezTo>
                    <a:pt x="149958" y="0"/>
                    <a:pt x="123697" y="2753"/>
                    <a:pt x="103016" y="16699"/>
                  </a:cubicBezTo>
                  <a:cubicBezTo>
                    <a:pt x="82335" y="30646"/>
                    <a:pt x="69939" y="53960"/>
                    <a:pt x="69944" y="78904"/>
                  </a:cubicBezTo>
                  <a:cubicBezTo>
                    <a:pt x="69931" y="89277"/>
                    <a:pt x="72059" y="99541"/>
                    <a:pt x="76195" y="109054"/>
                  </a:cubicBezTo>
                  <a:lnTo>
                    <a:pt x="13469" y="163290"/>
                  </a:lnTo>
                  <a:cubicBezTo>
                    <a:pt x="13312" y="163415"/>
                    <a:pt x="13166" y="163561"/>
                    <a:pt x="13021" y="163696"/>
                  </a:cubicBezTo>
                  <a:cubicBezTo>
                    <a:pt x="0" y="176717"/>
                    <a:pt x="0" y="197827"/>
                    <a:pt x="13021" y="210848"/>
                  </a:cubicBezTo>
                  <a:cubicBezTo>
                    <a:pt x="26041" y="223869"/>
                    <a:pt x="47152" y="223869"/>
                    <a:pt x="60172" y="210848"/>
                  </a:cubicBezTo>
                  <a:cubicBezTo>
                    <a:pt x="60308" y="210713"/>
                    <a:pt x="60454" y="210556"/>
                    <a:pt x="60579" y="210410"/>
                  </a:cubicBezTo>
                  <a:lnTo>
                    <a:pt x="114804" y="147663"/>
                  </a:lnTo>
                  <a:cubicBezTo>
                    <a:pt x="138010" y="157850"/>
                    <a:pt x="164791" y="155629"/>
                    <a:pt x="186003" y="141760"/>
                  </a:cubicBezTo>
                  <a:cubicBezTo>
                    <a:pt x="207215" y="127891"/>
                    <a:pt x="219989" y="104248"/>
                    <a:pt x="219963" y="78904"/>
                  </a:cubicBezTo>
                  <a:cubicBezTo>
                    <a:pt x="219979" y="69263"/>
                    <a:pt x="218125" y="59711"/>
                    <a:pt x="214504" y="50776"/>
                  </a:cubicBezTo>
                  <a:close/>
                  <a:moveTo>
                    <a:pt x="144954" y="137245"/>
                  </a:moveTo>
                  <a:cubicBezTo>
                    <a:pt x="135089" y="137232"/>
                    <a:pt x="125387" y="134723"/>
                    <a:pt x="116752" y="129952"/>
                  </a:cubicBezTo>
                  <a:cubicBezTo>
                    <a:pt x="113305" y="128048"/>
                    <a:pt x="108994" y="128817"/>
                    <a:pt x="106418" y="131796"/>
                  </a:cubicBezTo>
                  <a:lnTo>
                    <a:pt x="48181" y="199242"/>
                  </a:lnTo>
                  <a:cubicBezTo>
                    <a:pt x="41628" y="205469"/>
                    <a:pt x="31306" y="205336"/>
                    <a:pt x="24914" y="198944"/>
                  </a:cubicBezTo>
                  <a:cubicBezTo>
                    <a:pt x="18522" y="192552"/>
                    <a:pt x="18390" y="182230"/>
                    <a:pt x="24616" y="175677"/>
                  </a:cubicBezTo>
                  <a:lnTo>
                    <a:pt x="92010" y="117451"/>
                  </a:lnTo>
                  <a:cubicBezTo>
                    <a:pt x="94995" y="114873"/>
                    <a:pt x="95764" y="110556"/>
                    <a:pt x="93854" y="107106"/>
                  </a:cubicBezTo>
                  <a:cubicBezTo>
                    <a:pt x="83012" y="87497"/>
                    <a:pt x="84358" y="63411"/>
                    <a:pt x="97318" y="45133"/>
                  </a:cubicBezTo>
                  <a:cubicBezTo>
                    <a:pt x="110278" y="26855"/>
                    <a:pt x="132561" y="17614"/>
                    <a:pt x="154653" y="21356"/>
                  </a:cubicBezTo>
                  <a:lnTo>
                    <a:pt x="122149" y="56579"/>
                  </a:lnTo>
                  <a:cubicBezTo>
                    <a:pt x="120314" y="58570"/>
                    <a:pt x="119560" y="61328"/>
                    <a:pt x="120128" y="63975"/>
                  </a:cubicBezTo>
                  <a:lnTo>
                    <a:pt x="126024" y="91406"/>
                  </a:lnTo>
                  <a:cubicBezTo>
                    <a:pt x="126713" y="94611"/>
                    <a:pt x="129216" y="97114"/>
                    <a:pt x="132421" y="97803"/>
                  </a:cubicBezTo>
                  <a:lnTo>
                    <a:pt x="159872" y="103699"/>
                  </a:lnTo>
                  <a:cubicBezTo>
                    <a:pt x="162520" y="104267"/>
                    <a:pt x="165278" y="103513"/>
                    <a:pt x="167269" y="101678"/>
                  </a:cubicBezTo>
                  <a:lnTo>
                    <a:pt x="202492" y="69174"/>
                  </a:lnTo>
                  <a:cubicBezTo>
                    <a:pt x="205334" y="86106"/>
                    <a:pt x="200582" y="103432"/>
                    <a:pt x="189498" y="116544"/>
                  </a:cubicBezTo>
                  <a:cubicBezTo>
                    <a:pt x="178415" y="129656"/>
                    <a:pt x="162123" y="137228"/>
                    <a:pt x="144954" y="137245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37260" y="1146810"/>
            <a:ext cx="49114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共 6 篇，SDD · OpenSpec · Superpowers · Agent，按需取用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14668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734037" y="15630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1558" y="1481614"/>
            <a:ext cx="32194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3"/>
              </a:rPr>
              <a:t>聊聊 AI/Vibe Coding 的十倍效率提升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415" y="1696402"/>
            <a:ext cx="2142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半年 AI Coding 的真实经验教训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18" name="Rectangle 18"/>
          <p:cNvSpPr/>
          <p:nvPr/>
        </p:nvSpPr>
        <p:spPr>
          <a:xfrm>
            <a:off x="609600" y="20955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13909" y="21917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1558" y="2110264"/>
            <a:ext cx="41677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4"/>
              </a:rPr>
              <a:t>敏捷二十年，AI 一年：那些历经考验的核心原则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4415" y="2325052"/>
            <a:ext cx="2089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二十年敏捷在 AI 时代的再检验</a:t>
            </a:r>
          </a:p>
        </p:txBody>
      </p:sp>
      <p:sp>
        <p:nvSpPr>
          <p:cNvPr id="22" name="Line 22"/>
          <p:cNvSpPr/>
          <p:nvPr/>
        </p:nvSpPr>
        <p:spPr>
          <a:xfrm>
            <a:off x="609600" y="262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23" name="Rectangle 23"/>
          <p:cNvSpPr/>
          <p:nvPr/>
        </p:nvSpPr>
        <p:spPr>
          <a:xfrm>
            <a:off x="609600" y="27241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713909" y="28203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1558" y="2738914"/>
            <a:ext cx="47445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5"/>
              </a:rPr>
              <a:t>OpenSpec × Superpowers：3 小时跑完一次 SDD 实战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4415" y="2953702"/>
            <a:ext cx="32010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完整走完一次 Spec-Driven Development 周期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" y="3257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28" name="Rectangle 28"/>
          <p:cNvSpPr/>
          <p:nvPr/>
        </p:nvSpPr>
        <p:spPr>
          <a:xfrm>
            <a:off x="609600" y="3352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713909" y="34490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1558" y="3367564"/>
            <a:ext cx="55852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6"/>
              </a:rPr>
              <a:t>三周之后：OpenSpec + Superpowers 的五个问题和一个 Plugin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4415" y="35823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深度使用后的真实问题与迭代</a:t>
            </a:r>
          </a:p>
        </p:txBody>
      </p:sp>
      <p:sp>
        <p:nvSpPr>
          <p:cNvPr id="32" name="Line 32"/>
          <p:cNvSpPr/>
          <p:nvPr/>
        </p:nvSpPr>
        <p:spPr>
          <a:xfrm>
            <a:off x="609600" y="3886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33" name="Rectangle 33"/>
          <p:cNvSpPr/>
          <p:nvPr/>
        </p:nvSpPr>
        <p:spPr>
          <a:xfrm>
            <a:off x="609600" y="39814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p/>
        </p:txBody>
      </p:sp>
      <p:sp>
        <p:nvSpPr>
          <p:cNvPr id="34" name="TextBox 34"/>
          <p:cNvSpPr txBox="1"/>
          <p:nvPr/>
        </p:nvSpPr>
        <p:spPr>
          <a:xfrm>
            <a:off x="713909" y="40776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1558" y="3996214"/>
            <a:ext cx="46956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7"/>
              </a:rPr>
              <a:t>构建 AI Agent 系统：从复杂 Skills 到企业级 AI Agent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4415" y="42110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多步骤 Skills 组合成 Workflow</a:t>
            </a:r>
          </a:p>
        </p:txBody>
      </p:sp>
      <p:sp>
        <p:nvSpPr>
          <p:cNvPr id="37" name="Line 37"/>
          <p:cNvSpPr/>
          <p:nvPr/>
        </p:nvSpPr>
        <p:spPr>
          <a:xfrm>
            <a:off x="609600" y="4514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38" name="Rectangle 38"/>
          <p:cNvSpPr/>
          <p:nvPr/>
        </p:nvSpPr>
        <p:spPr>
          <a:xfrm>
            <a:off x="609600" y="46101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713909" y="47063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1558" y="4624864"/>
            <a:ext cx="48227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8"/>
              </a:rPr>
              <a:t>驯服 AI Agent 的不确定性：从简历筛选系统得到的教训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4415" y="4839652"/>
            <a:ext cx="17672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让 Agent 从不稳定变可用</a:t>
            </a:r>
          </a:p>
        </p:txBody>
      </p:sp>
      <p:sp>
        <p:nvSpPr>
          <p:cNvPr id="42" name="Line 42"/>
          <p:cNvSpPr/>
          <p:nvPr/>
        </p:nvSpPr>
        <p:spPr>
          <a:xfrm>
            <a:off x="609600" y="5143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43" name="Rectangle 43"/>
          <p:cNvSpPr/>
          <p:nvPr/>
        </p:nvSpPr>
        <p:spPr>
          <a:xfrm>
            <a:off x="609600" y="52959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>
            <a:noFill/>
          </a:ln>
        </p:spPr>
        <p:txBody>
          <a:bodyPr/>
          <a:p/>
        </p:txBody>
      </p:sp>
      <p:grpSp>
        <p:nvGrpSpPr>
          <p:cNvPr id="46" name="Group 46"/>
          <p:cNvGrpSpPr/>
          <p:nvPr/>
        </p:nvGrpSpPr>
        <p:grpSpPr>
          <a:xfrm>
            <a:off x="835587" y="5423977"/>
            <a:ext cx="157457" cy="200535"/>
            <a:chOff x="835587" y="5423977"/>
            <a:chExt cx="157457" cy="200535"/>
          </a:xfrm>
        </p:grpSpPr>
        <p:sp>
          <p:nvSpPr>
            <p:cNvPr id="44" name="Freeform 44"/>
            <p:cNvSpPr/>
            <p:nvPr/>
          </p:nvSpPr>
          <p:spPr>
            <a:xfrm>
              <a:off x="842748" y="5431167"/>
              <a:ext cx="143109" cy="157627"/>
            </a:xfrm>
            <a:custGeom>
              <a:avLst/>
              <a:gdLst/>
              <a:ahLst/>
              <a:cxnLst/>
              <a:rect l="l" t="t" r="r" b="b"/>
              <a:pathLst>
                <a:path w="143109" h="157627">
                  <a:moveTo>
                    <a:pt x="143089" y="71902"/>
                  </a:moveTo>
                  <a:cubicBezTo>
                    <a:pt x="143109" y="93835"/>
                    <a:pt x="133034" y="114556"/>
                    <a:pt x="115773" y="128087"/>
                  </a:cubicBezTo>
                  <a:cubicBezTo>
                    <a:pt x="110502" y="132173"/>
                    <a:pt x="107403" y="138456"/>
                    <a:pt x="107371" y="145125"/>
                  </a:cubicBezTo>
                  <a:lnTo>
                    <a:pt x="107371" y="150483"/>
                  </a:lnTo>
                  <a:cubicBezTo>
                    <a:pt x="107371" y="154429"/>
                    <a:pt x="104172" y="157627"/>
                    <a:pt x="100227" y="157627"/>
                  </a:cubicBezTo>
                  <a:lnTo>
                    <a:pt x="43077" y="157627"/>
                  </a:lnTo>
                  <a:cubicBezTo>
                    <a:pt x="39131" y="157627"/>
                    <a:pt x="35933" y="154429"/>
                    <a:pt x="35933" y="150483"/>
                  </a:cubicBezTo>
                  <a:lnTo>
                    <a:pt x="35933" y="145125"/>
                  </a:lnTo>
                  <a:cubicBezTo>
                    <a:pt x="35926" y="138493"/>
                    <a:pt x="32862" y="132233"/>
                    <a:pt x="27628" y="128159"/>
                  </a:cubicBezTo>
                  <a:cubicBezTo>
                    <a:pt x="10423" y="114718"/>
                    <a:pt x="321" y="94137"/>
                    <a:pt x="214" y="72304"/>
                  </a:cubicBezTo>
                  <a:cubicBezTo>
                    <a:pt x="0" y="33585"/>
                    <a:pt x="31218" y="1357"/>
                    <a:pt x="69928" y="464"/>
                  </a:cubicBezTo>
                  <a:cubicBezTo>
                    <a:pt x="89172" y="0"/>
                    <a:pt x="107788" y="7321"/>
                    <a:pt x="121560" y="20769"/>
                  </a:cubicBezTo>
                  <a:cubicBezTo>
                    <a:pt x="135332" y="34217"/>
                    <a:pt x="143095" y="52653"/>
                    <a:pt x="143089" y="71902"/>
                  </a:cubicBezTo>
                  <a:close/>
                </a:path>
              </a:pathLst>
            </a:custGeom>
            <a:solidFill>
              <a:srgbClr val="D97706">
                <a:alpha val="20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35587" y="5423977"/>
              <a:ext cx="157457" cy="200535"/>
            </a:xfrm>
            <a:custGeom>
              <a:avLst/>
              <a:gdLst/>
              <a:ahLst/>
              <a:cxnLst/>
              <a:rect l="l" t="t" r="r" b="b"/>
              <a:pathLst>
                <a:path w="157457" h="200535">
                  <a:moveTo>
                    <a:pt x="121676" y="193391"/>
                  </a:moveTo>
                  <a:cubicBezTo>
                    <a:pt x="121676" y="197337"/>
                    <a:pt x="118478" y="200535"/>
                    <a:pt x="114532" y="200535"/>
                  </a:cubicBezTo>
                  <a:lnTo>
                    <a:pt x="43095" y="200535"/>
                  </a:lnTo>
                  <a:cubicBezTo>
                    <a:pt x="39149" y="200535"/>
                    <a:pt x="35951" y="197337"/>
                    <a:pt x="35951" y="193391"/>
                  </a:cubicBezTo>
                  <a:cubicBezTo>
                    <a:pt x="35951" y="189446"/>
                    <a:pt x="39149" y="186248"/>
                    <a:pt x="43095" y="186248"/>
                  </a:cubicBezTo>
                  <a:lnTo>
                    <a:pt x="114532" y="186248"/>
                  </a:lnTo>
                  <a:cubicBezTo>
                    <a:pt x="118478" y="186248"/>
                    <a:pt x="121676" y="189446"/>
                    <a:pt x="121676" y="193391"/>
                  </a:cubicBezTo>
                  <a:close/>
                  <a:moveTo>
                    <a:pt x="157395" y="79091"/>
                  </a:moveTo>
                  <a:cubicBezTo>
                    <a:pt x="157457" y="103224"/>
                    <a:pt x="146370" y="126034"/>
                    <a:pt x="127355" y="140894"/>
                  </a:cubicBezTo>
                  <a:cubicBezTo>
                    <a:pt x="123800" y="143619"/>
                    <a:pt x="121703" y="147835"/>
                    <a:pt x="121676" y="152315"/>
                  </a:cubicBezTo>
                  <a:lnTo>
                    <a:pt x="121676" y="157673"/>
                  </a:lnTo>
                  <a:cubicBezTo>
                    <a:pt x="121676" y="165563"/>
                    <a:pt x="115279" y="171960"/>
                    <a:pt x="107388" y="171960"/>
                  </a:cubicBezTo>
                  <a:lnTo>
                    <a:pt x="50238" y="171960"/>
                  </a:lnTo>
                  <a:cubicBezTo>
                    <a:pt x="42348" y="171960"/>
                    <a:pt x="35951" y="165563"/>
                    <a:pt x="35951" y="157673"/>
                  </a:cubicBezTo>
                  <a:lnTo>
                    <a:pt x="35951" y="152315"/>
                  </a:lnTo>
                  <a:cubicBezTo>
                    <a:pt x="35948" y="147888"/>
                    <a:pt x="33893" y="143713"/>
                    <a:pt x="30388" y="141010"/>
                  </a:cubicBezTo>
                  <a:cubicBezTo>
                    <a:pt x="11422" y="126239"/>
                    <a:pt x="302" y="103568"/>
                    <a:pt x="232" y="79529"/>
                  </a:cubicBezTo>
                  <a:cubicBezTo>
                    <a:pt x="0" y="36970"/>
                    <a:pt x="34397" y="1528"/>
                    <a:pt x="76920" y="510"/>
                  </a:cubicBezTo>
                  <a:cubicBezTo>
                    <a:pt x="98087" y="0"/>
                    <a:pt x="118565" y="8053"/>
                    <a:pt x="133714" y="22846"/>
                  </a:cubicBezTo>
                  <a:cubicBezTo>
                    <a:pt x="148862" y="37638"/>
                    <a:pt x="157401" y="57918"/>
                    <a:pt x="157395" y="79091"/>
                  </a:cubicBezTo>
                  <a:close/>
                  <a:moveTo>
                    <a:pt x="143107" y="79091"/>
                  </a:moveTo>
                  <a:cubicBezTo>
                    <a:pt x="143112" y="61767"/>
                    <a:pt x="136126" y="45174"/>
                    <a:pt x="123730" y="33071"/>
                  </a:cubicBezTo>
                  <a:cubicBezTo>
                    <a:pt x="111334" y="20967"/>
                    <a:pt x="94579" y="14379"/>
                    <a:pt x="77260" y="14798"/>
                  </a:cubicBezTo>
                  <a:cubicBezTo>
                    <a:pt x="42434" y="15619"/>
                    <a:pt x="14332" y="44614"/>
                    <a:pt x="14520" y="79440"/>
                  </a:cubicBezTo>
                  <a:cubicBezTo>
                    <a:pt x="14586" y="99100"/>
                    <a:pt x="23687" y="117638"/>
                    <a:pt x="39201" y="129714"/>
                  </a:cubicBezTo>
                  <a:cubicBezTo>
                    <a:pt x="46176" y="135136"/>
                    <a:pt x="50251" y="143480"/>
                    <a:pt x="50238" y="152315"/>
                  </a:cubicBezTo>
                  <a:lnTo>
                    <a:pt x="50238" y="157673"/>
                  </a:lnTo>
                  <a:lnTo>
                    <a:pt x="107388" y="157673"/>
                  </a:lnTo>
                  <a:lnTo>
                    <a:pt x="107388" y="152315"/>
                  </a:lnTo>
                  <a:cubicBezTo>
                    <a:pt x="107409" y="143455"/>
                    <a:pt x="111518" y="135101"/>
                    <a:pt x="118524" y="129678"/>
                  </a:cubicBezTo>
                  <a:cubicBezTo>
                    <a:pt x="134088" y="117515"/>
                    <a:pt x="143161" y="98844"/>
                    <a:pt x="143107" y="79091"/>
                  </a:cubicBezTo>
                  <a:close/>
                  <a:moveTo>
                    <a:pt x="128721" y="70751"/>
                  </a:moveTo>
                  <a:cubicBezTo>
                    <a:pt x="124928" y="49559"/>
                    <a:pt x="108337" y="32973"/>
                    <a:pt x="87145" y="29183"/>
                  </a:cubicBezTo>
                  <a:cubicBezTo>
                    <a:pt x="83254" y="28527"/>
                    <a:pt x="79568" y="31150"/>
                    <a:pt x="78912" y="35041"/>
                  </a:cubicBezTo>
                  <a:cubicBezTo>
                    <a:pt x="78256" y="38932"/>
                    <a:pt x="80878" y="42618"/>
                    <a:pt x="84770" y="43274"/>
                  </a:cubicBezTo>
                  <a:cubicBezTo>
                    <a:pt x="99566" y="45766"/>
                    <a:pt x="112121" y="58321"/>
                    <a:pt x="114630" y="73144"/>
                  </a:cubicBezTo>
                  <a:cubicBezTo>
                    <a:pt x="115214" y="76580"/>
                    <a:pt x="118191" y="79093"/>
                    <a:pt x="121676" y="79091"/>
                  </a:cubicBezTo>
                  <a:cubicBezTo>
                    <a:pt x="122080" y="79089"/>
                    <a:pt x="122483" y="79056"/>
                    <a:pt x="122881" y="78993"/>
                  </a:cubicBezTo>
                  <a:cubicBezTo>
                    <a:pt x="126770" y="78329"/>
                    <a:pt x="129384" y="74640"/>
                    <a:pt x="128721" y="70751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109662" y="54030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适合你的信号：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0615" y="5601652"/>
            <a:ext cx="56317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Claude Code 已经会用，想更系统地掌握 SDD、OpenSpec、Agent 工程——按需跳读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gradFill>
            <a:gsLst>
              <a:gs pos="0">
                <a:srgbClr val="059669"/>
              </a:gs>
              <a:gs pos="100000">
                <a:srgbClr val="10B981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1357181" y="2376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BF5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265" y="3057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BF5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地图三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9120" y="483870"/>
            <a:ext cx="269248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时代职业发展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36944" y="450056"/>
            <a:ext cx="36597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BF5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Junior、Senior、工程经理、运维，对号入座就行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1123950"/>
            <a:ext cx="5295900" cy="2266950"/>
          </a:xfrm>
          <a:prstGeom prst="roundRect">
            <a:avLst>
              <a:gd name="adj" fmla="val 5042"/>
            </a:avLst>
          </a:prstGeom>
          <a:solidFill>
            <a:srgbClr val="ECFDF5"/>
          </a:solidFill>
          <a:ln w="14288">
            <a:solidFill>
              <a:srgbClr val="10B981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1123950"/>
            <a:ext cx="76200" cy="22669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815950" y="1307304"/>
            <a:ext cx="234184" cy="150840"/>
            <a:chOff x="815950" y="1307304"/>
            <a:chExt cx="234184" cy="150840"/>
          </a:xfrm>
        </p:grpSpPr>
        <p:sp>
          <p:nvSpPr>
            <p:cNvPr id="11" name="Freeform 11"/>
            <p:cNvSpPr/>
            <p:nvPr/>
          </p:nvSpPr>
          <p:spPr>
            <a:xfrm>
              <a:off x="975122" y="1315641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66675" y="66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9669">
                <a:alpha val="20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15950" y="1307304"/>
              <a:ext cx="234184" cy="150840"/>
            </a:xfrm>
            <a:custGeom>
              <a:avLst/>
              <a:gdLst/>
              <a:ahLst/>
              <a:cxnLst/>
              <a:rect l="l" t="t" r="r" b="b"/>
              <a:pathLst>
                <a:path w="234184" h="150840">
                  <a:moveTo>
                    <a:pt x="225847" y="3"/>
                  </a:moveTo>
                  <a:lnTo>
                    <a:pt x="159172" y="3"/>
                  </a:lnTo>
                  <a:cubicBezTo>
                    <a:pt x="155799" y="0"/>
                    <a:pt x="152757" y="2031"/>
                    <a:pt x="151466" y="5147"/>
                  </a:cubicBezTo>
                  <a:cubicBezTo>
                    <a:pt x="150175" y="8263"/>
                    <a:pt x="150889" y="11850"/>
                    <a:pt x="153275" y="14234"/>
                  </a:cubicBezTo>
                  <a:lnTo>
                    <a:pt x="180727" y="41675"/>
                  </a:lnTo>
                  <a:lnTo>
                    <a:pt x="125834" y="96567"/>
                  </a:lnTo>
                  <a:lnTo>
                    <a:pt x="90059" y="60781"/>
                  </a:lnTo>
                  <a:cubicBezTo>
                    <a:pt x="88496" y="59216"/>
                    <a:pt x="86375" y="58337"/>
                    <a:pt x="84163" y="58337"/>
                  </a:cubicBezTo>
                  <a:cubicBezTo>
                    <a:pt x="81951" y="58337"/>
                    <a:pt x="79829" y="59216"/>
                    <a:pt x="78266" y="60781"/>
                  </a:cubicBezTo>
                  <a:lnTo>
                    <a:pt x="3257" y="135790"/>
                  </a:lnTo>
                  <a:cubicBezTo>
                    <a:pt x="0" y="139047"/>
                    <a:pt x="0" y="144327"/>
                    <a:pt x="3257" y="147584"/>
                  </a:cubicBezTo>
                  <a:cubicBezTo>
                    <a:pt x="6513" y="150840"/>
                    <a:pt x="11793" y="150840"/>
                    <a:pt x="15050" y="147584"/>
                  </a:cubicBezTo>
                  <a:lnTo>
                    <a:pt x="84163" y="78460"/>
                  </a:lnTo>
                  <a:lnTo>
                    <a:pt x="119938" y="114246"/>
                  </a:lnTo>
                  <a:cubicBezTo>
                    <a:pt x="121501" y="115811"/>
                    <a:pt x="123622" y="116690"/>
                    <a:pt x="125834" y="116690"/>
                  </a:cubicBezTo>
                  <a:cubicBezTo>
                    <a:pt x="128046" y="116690"/>
                    <a:pt x="130168" y="115811"/>
                    <a:pt x="131731" y="114246"/>
                  </a:cubicBezTo>
                  <a:lnTo>
                    <a:pt x="192509" y="53457"/>
                  </a:lnTo>
                  <a:lnTo>
                    <a:pt x="219950" y="80909"/>
                  </a:lnTo>
                  <a:cubicBezTo>
                    <a:pt x="222334" y="83295"/>
                    <a:pt x="225921" y="84009"/>
                    <a:pt x="229037" y="82718"/>
                  </a:cubicBezTo>
                  <a:cubicBezTo>
                    <a:pt x="232153" y="81427"/>
                    <a:pt x="234184" y="78385"/>
                    <a:pt x="234181" y="75012"/>
                  </a:cubicBezTo>
                  <a:lnTo>
                    <a:pt x="234181" y="8337"/>
                  </a:lnTo>
                  <a:cubicBezTo>
                    <a:pt x="234181" y="3734"/>
                    <a:pt x="230450" y="3"/>
                    <a:pt x="225847" y="3"/>
                  </a:cubicBezTo>
                  <a:close/>
                  <a:moveTo>
                    <a:pt x="217513" y="54895"/>
                  </a:moveTo>
                  <a:lnTo>
                    <a:pt x="179289" y="16671"/>
                  </a:lnTo>
                  <a:lnTo>
                    <a:pt x="217513" y="16671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30618" y="1342549"/>
            <a:ext cx="9742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Senior 工程师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2955" y="1625918"/>
            <a:ext cx="27566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3"/>
              </a:rPr>
              <a:t>AI 时代，经验越丰富的工程师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955" y="18735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3"/>
              </a:rPr>
              <a:t>反而越容易被淘汰？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6765" y="22298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资深工程师的认知惯性是怎么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765" y="24203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变成障碍的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75742" y="3190399"/>
            <a:ext cx="5516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文章 1/4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123950"/>
            <a:ext cx="5295900" cy="2266950"/>
          </a:xfrm>
          <a:prstGeom prst="roundRect">
            <a:avLst>
              <a:gd name="adj" fmla="val 5042"/>
            </a:avLst>
          </a:prstGeom>
          <a:solidFill>
            <a:srgbClr val="ECFDF5"/>
          </a:solidFill>
          <a:ln w="14288">
            <a:solidFill>
              <a:srgbClr val="10B981"/>
            </a:solidFill>
          </a:ln>
        </p:spPr>
        <p:txBody>
          <a:bodyPr/>
          <a:p/>
        </p:txBody>
      </p:sp>
      <p:sp>
        <p:nvSpPr>
          <p:cNvPr id="21" name="Rectangle 21"/>
          <p:cNvSpPr/>
          <p:nvPr/>
        </p:nvSpPr>
        <p:spPr>
          <a:xfrm>
            <a:off x="6286500" y="1123950"/>
            <a:ext cx="76200" cy="22669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grpSp>
        <p:nvGrpSpPr>
          <p:cNvPr id="24" name="Group 24"/>
          <p:cNvGrpSpPr/>
          <p:nvPr/>
        </p:nvGrpSpPr>
        <p:grpSpPr>
          <a:xfrm>
            <a:off x="6508283" y="1265634"/>
            <a:ext cx="204134" cy="245163"/>
            <a:chOff x="6508283" y="1265634"/>
            <a:chExt cx="204134" cy="245163"/>
          </a:xfrm>
        </p:grpSpPr>
        <p:sp>
          <p:nvSpPr>
            <p:cNvPr id="22" name="Freeform 22"/>
            <p:cNvSpPr/>
            <p:nvPr/>
          </p:nvSpPr>
          <p:spPr>
            <a:xfrm>
              <a:off x="6517438" y="1273969"/>
              <a:ext cx="185845" cy="226583"/>
            </a:xfrm>
            <a:custGeom>
              <a:avLst/>
              <a:gdLst/>
              <a:ahLst/>
              <a:cxnLst/>
              <a:rect l="l" t="t" r="r" b="b"/>
              <a:pathLst>
                <a:path w="185845" h="226583">
                  <a:moveTo>
                    <a:pt x="67909" y="25003"/>
                  </a:moveTo>
                  <a:cubicBezTo>
                    <a:pt x="67909" y="11194"/>
                    <a:pt x="79103" y="0"/>
                    <a:pt x="92912" y="0"/>
                  </a:cubicBezTo>
                  <a:cubicBezTo>
                    <a:pt x="106721" y="0"/>
                    <a:pt x="117915" y="11194"/>
                    <a:pt x="117915" y="25003"/>
                  </a:cubicBezTo>
                  <a:cubicBezTo>
                    <a:pt x="117915" y="38812"/>
                    <a:pt x="106721" y="50006"/>
                    <a:pt x="92912" y="50006"/>
                  </a:cubicBezTo>
                  <a:cubicBezTo>
                    <a:pt x="79103" y="50006"/>
                    <a:pt x="67909" y="38812"/>
                    <a:pt x="67909" y="25003"/>
                  </a:cubicBezTo>
                  <a:close/>
                  <a:moveTo>
                    <a:pt x="180933" y="128672"/>
                  </a:moveTo>
                  <a:lnTo>
                    <a:pt x="133719" y="75145"/>
                  </a:lnTo>
                  <a:cubicBezTo>
                    <a:pt x="128974" y="69761"/>
                    <a:pt x="122144" y="66676"/>
                    <a:pt x="114967" y="66675"/>
                  </a:cubicBezTo>
                  <a:lnTo>
                    <a:pt x="70857" y="66675"/>
                  </a:lnTo>
                  <a:cubicBezTo>
                    <a:pt x="63681" y="66676"/>
                    <a:pt x="56850" y="69761"/>
                    <a:pt x="52105" y="75145"/>
                  </a:cubicBezTo>
                  <a:lnTo>
                    <a:pt x="4891" y="128672"/>
                  </a:lnTo>
                  <a:cubicBezTo>
                    <a:pt x="0" y="133563"/>
                    <a:pt x="0" y="141492"/>
                    <a:pt x="4891" y="146383"/>
                  </a:cubicBezTo>
                  <a:cubicBezTo>
                    <a:pt x="9781" y="151274"/>
                    <a:pt x="17711" y="151274"/>
                    <a:pt x="22601" y="146383"/>
                  </a:cubicBezTo>
                  <a:lnTo>
                    <a:pt x="59575" y="116681"/>
                  </a:lnTo>
                  <a:lnTo>
                    <a:pt x="35749" y="207245"/>
                  </a:lnTo>
                  <a:cubicBezTo>
                    <a:pt x="32950" y="213480"/>
                    <a:pt x="35677" y="220807"/>
                    <a:pt x="41871" y="223695"/>
                  </a:cubicBezTo>
                  <a:cubicBezTo>
                    <a:pt x="48066" y="226583"/>
                    <a:pt x="55431" y="223961"/>
                    <a:pt x="58408" y="217808"/>
                  </a:cubicBezTo>
                  <a:lnTo>
                    <a:pt x="92912" y="158353"/>
                  </a:lnTo>
                  <a:lnTo>
                    <a:pt x="127416" y="217808"/>
                  </a:lnTo>
                  <a:cubicBezTo>
                    <a:pt x="130393" y="223961"/>
                    <a:pt x="137758" y="226583"/>
                    <a:pt x="143953" y="223695"/>
                  </a:cubicBezTo>
                  <a:cubicBezTo>
                    <a:pt x="150147" y="220807"/>
                    <a:pt x="152874" y="213480"/>
                    <a:pt x="150075" y="207245"/>
                  </a:cubicBezTo>
                  <a:lnTo>
                    <a:pt x="126250" y="116681"/>
                  </a:lnTo>
                  <a:lnTo>
                    <a:pt x="163244" y="146362"/>
                  </a:lnTo>
                  <a:cubicBezTo>
                    <a:pt x="168134" y="151253"/>
                    <a:pt x="176064" y="151253"/>
                    <a:pt x="180954" y="146362"/>
                  </a:cubicBezTo>
                  <a:cubicBezTo>
                    <a:pt x="185845" y="141471"/>
                    <a:pt x="185845" y="133542"/>
                    <a:pt x="180954" y="128651"/>
                  </a:cubicBezTo>
                  <a:close/>
                </a:path>
              </a:pathLst>
            </a:custGeom>
            <a:solidFill>
              <a:srgbClr val="059669">
                <a:alpha val="20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508283" y="1265634"/>
              <a:ext cx="204134" cy="245163"/>
            </a:xfrm>
            <a:custGeom>
              <a:avLst/>
              <a:gdLst/>
              <a:ahLst/>
              <a:cxnLst/>
              <a:rect l="l" t="t" r="r" b="b"/>
              <a:pathLst>
                <a:path w="204134" h="245163">
                  <a:moveTo>
                    <a:pt x="135404" y="33338"/>
                  </a:moveTo>
                  <a:cubicBezTo>
                    <a:pt x="135404" y="14926"/>
                    <a:pt x="120479" y="0"/>
                    <a:pt x="102067" y="0"/>
                  </a:cubicBezTo>
                  <a:cubicBezTo>
                    <a:pt x="83655" y="0"/>
                    <a:pt x="68729" y="14926"/>
                    <a:pt x="68729" y="33338"/>
                  </a:cubicBezTo>
                  <a:cubicBezTo>
                    <a:pt x="68729" y="51749"/>
                    <a:pt x="83655" y="66675"/>
                    <a:pt x="102067" y="66675"/>
                  </a:cubicBezTo>
                  <a:cubicBezTo>
                    <a:pt x="120479" y="66675"/>
                    <a:pt x="135404" y="51749"/>
                    <a:pt x="135404" y="33338"/>
                  </a:cubicBezTo>
                  <a:close/>
                  <a:moveTo>
                    <a:pt x="102067" y="50006"/>
                  </a:moveTo>
                  <a:cubicBezTo>
                    <a:pt x="92861" y="50006"/>
                    <a:pt x="85398" y="42543"/>
                    <a:pt x="85398" y="33338"/>
                  </a:cubicBezTo>
                  <a:cubicBezTo>
                    <a:pt x="85398" y="24132"/>
                    <a:pt x="92861" y="16669"/>
                    <a:pt x="102067" y="16669"/>
                  </a:cubicBezTo>
                  <a:cubicBezTo>
                    <a:pt x="111273" y="16669"/>
                    <a:pt x="118736" y="24132"/>
                    <a:pt x="118736" y="33338"/>
                  </a:cubicBezTo>
                  <a:cubicBezTo>
                    <a:pt x="118736" y="42543"/>
                    <a:pt x="111273" y="50006"/>
                    <a:pt x="102067" y="50006"/>
                  </a:cubicBezTo>
                  <a:close/>
                  <a:moveTo>
                    <a:pt x="196183" y="131318"/>
                  </a:moveTo>
                  <a:lnTo>
                    <a:pt x="149125" y="77958"/>
                  </a:lnTo>
                  <a:cubicBezTo>
                    <a:pt x="142796" y="70783"/>
                    <a:pt x="133689" y="66674"/>
                    <a:pt x="124122" y="66675"/>
                  </a:cubicBezTo>
                  <a:lnTo>
                    <a:pt x="80012" y="66675"/>
                  </a:lnTo>
                  <a:cubicBezTo>
                    <a:pt x="70445" y="66674"/>
                    <a:pt x="61338" y="70783"/>
                    <a:pt x="55009" y="77958"/>
                  </a:cubicBezTo>
                  <a:lnTo>
                    <a:pt x="7951" y="131318"/>
                  </a:lnTo>
                  <a:cubicBezTo>
                    <a:pt x="0" y="139450"/>
                    <a:pt x="39" y="152456"/>
                    <a:pt x="8038" y="160540"/>
                  </a:cubicBezTo>
                  <a:cubicBezTo>
                    <a:pt x="16037" y="168624"/>
                    <a:pt x="29041" y="168801"/>
                    <a:pt x="37257" y="160937"/>
                  </a:cubicBezTo>
                  <a:lnTo>
                    <a:pt x="54238" y="147310"/>
                  </a:lnTo>
                  <a:lnTo>
                    <a:pt x="37007" y="212818"/>
                  </a:lnTo>
                  <a:cubicBezTo>
                    <a:pt x="32254" y="223304"/>
                    <a:pt x="36902" y="235658"/>
                    <a:pt x="47388" y="240410"/>
                  </a:cubicBezTo>
                  <a:cubicBezTo>
                    <a:pt x="57874" y="245163"/>
                    <a:pt x="70228" y="240515"/>
                    <a:pt x="74980" y="230029"/>
                  </a:cubicBezTo>
                  <a:lnTo>
                    <a:pt x="102067" y="183283"/>
                  </a:lnTo>
                  <a:lnTo>
                    <a:pt x="129154" y="230029"/>
                  </a:lnTo>
                  <a:cubicBezTo>
                    <a:pt x="134111" y="240147"/>
                    <a:pt x="146213" y="244492"/>
                    <a:pt x="156474" y="239836"/>
                  </a:cubicBezTo>
                  <a:cubicBezTo>
                    <a:pt x="166734" y="235181"/>
                    <a:pt x="171435" y="223212"/>
                    <a:pt x="167085" y="212818"/>
                  </a:cubicBezTo>
                  <a:lnTo>
                    <a:pt x="149896" y="147310"/>
                  </a:lnTo>
                  <a:lnTo>
                    <a:pt x="166877" y="160937"/>
                  </a:lnTo>
                  <a:cubicBezTo>
                    <a:pt x="175093" y="168801"/>
                    <a:pt x="188097" y="168624"/>
                    <a:pt x="196096" y="160540"/>
                  </a:cubicBezTo>
                  <a:cubicBezTo>
                    <a:pt x="204095" y="152456"/>
                    <a:pt x="204134" y="139450"/>
                    <a:pt x="196183" y="131318"/>
                  </a:cubicBezTo>
                  <a:close/>
                  <a:moveTo>
                    <a:pt x="184192" y="148789"/>
                  </a:moveTo>
                  <a:cubicBezTo>
                    <a:pt x="183410" y="149572"/>
                    <a:pt x="182349" y="150012"/>
                    <a:pt x="181243" y="150012"/>
                  </a:cubicBezTo>
                  <a:cubicBezTo>
                    <a:pt x="180137" y="150012"/>
                    <a:pt x="179077" y="149572"/>
                    <a:pt x="178295" y="148789"/>
                  </a:cubicBezTo>
                  <a:cubicBezTo>
                    <a:pt x="178076" y="148581"/>
                    <a:pt x="177858" y="148373"/>
                    <a:pt x="177618" y="148185"/>
                  </a:cubicBezTo>
                  <a:lnTo>
                    <a:pt x="140613" y="118515"/>
                  </a:lnTo>
                  <a:cubicBezTo>
                    <a:pt x="137813" y="116279"/>
                    <a:pt x="133897" y="116084"/>
                    <a:pt x="130888" y="118030"/>
                  </a:cubicBezTo>
                  <a:cubicBezTo>
                    <a:pt x="127879" y="119976"/>
                    <a:pt x="126450" y="123628"/>
                    <a:pt x="127341" y="127099"/>
                  </a:cubicBezTo>
                  <a:lnTo>
                    <a:pt x="151177" y="217736"/>
                  </a:lnTo>
                  <a:cubicBezTo>
                    <a:pt x="151300" y="218219"/>
                    <a:pt x="151467" y="218690"/>
                    <a:pt x="151677" y="219142"/>
                  </a:cubicBezTo>
                  <a:cubicBezTo>
                    <a:pt x="152332" y="220495"/>
                    <a:pt x="152207" y="222096"/>
                    <a:pt x="151351" y="223331"/>
                  </a:cubicBezTo>
                  <a:cubicBezTo>
                    <a:pt x="150494" y="224566"/>
                    <a:pt x="149039" y="225244"/>
                    <a:pt x="147543" y="225106"/>
                  </a:cubicBezTo>
                  <a:cubicBezTo>
                    <a:pt x="146046" y="224968"/>
                    <a:pt x="144740" y="224034"/>
                    <a:pt x="144124" y="222663"/>
                  </a:cubicBezTo>
                  <a:cubicBezTo>
                    <a:pt x="144022" y="222438"/>
                    <a:pt x="143907" y="222219"/>
                    <a:pt x="143780" y="222007"/>
                  </a:cubicBezTo>
                  <a:lnTo>
                    <a:pt x="109276" y="162520"/>
                  </a:lnTo>
                  <a:cubicBezTo>
                    <a:pt x="107785" y="159950"/>
                    <a:pt x="105038" y="158368"/>
                    <a:pt x="102067" y="158368"/>
                  </a:cubicBezTo>
                  <a:cubicBezTo>
                    <a:pt x="99095" y="158368"/>
                    <a:pt x="96349" y="159950"/>
                    <a:pt x="94858" y="162520"/>
                  </a:cubicBezTo>
                  <a:lnTo>
                    <a:pt x="60395" y="221955"/>
                  </a:lnTo>
                  <a:cubicBezTo>
                    <a:pt x="60268" y="222167"/>
                    <a:pt x="60153" y="222386"/>
                    <a:pt x="60051" y="222611"/>
                  </a:cubicBezTo>
                  <a:cubicBezTo>
                    <a:pt x="59584" y="223614"/>
                    <a:pt x="58737" y="224390"/>
                    <a:pt x="57697" y="224768"/>
                  </a:cubicBezTo>
                  <a:cubicBezTo>
                    <a:pt x="56112" y="225349"/>
                    <a:pt x="54333" y="224916"/>
                    <a:pt x="53192" y="223672"/>
                  </a:cubicBezTo>
                  <a:cubicBezTo>
                    <a:pt x="52051" y="222428"/>
                    <a:pt x="51773" y="220619"/>
                    <a:pt x="52488" y="219090"/>
                  </a:cubicBezTo>
                  <a:cubicBezTo>
                    <a:pt x="52698" y="218638"/>
                    <a:pt x="52865" y="218167"/>
                    <a:pt x="52988" y="217683"/>
                  </a:cubicBezTo>
                  <a:lnTo>
                    <a:pt x="76793" y="127099"/>
                  </a:lnTo>
                  <a:cubicBezTo>
                    <a:pt x="77683" y="123628"/>
                    <a:pt x="76255" y="119976"/>
                    <a:pt x="73246" y="118030"/>
                  </a:cubicBezTo>
                  <a:cubicBezTo>
                    <a:pt x="70237" y="116084"/>
                    <a:pt x="66321" y="116279"/>
                    <a:pt x="63520" y="118515"/>
                  </a:cubicBezTo>
                  <a:lnTo>
                    <a:pt x="26516" y="148185"/>
                  </a:lnTo>
                  <a:cubicBezTo>
                    <a:pt x="26276" y="148373"/>
                    <a:pt x="26057" y="148581"/>
                    <a:pt x="25839" y="148789"/>
                  </a:cubicBezTo>
                  <a:cubicBezTo>
                    <a:pt x="24797" y="149888"/>
                    <a:pt x="23241" y="150335"/>
                    <a:pt x="21774" y="149957"/>
                  </a:cubicBezTo>
                  <a:cubicBezTo>
                    <a:pt x="20308" y="149579"/>
                    <a:pt x="19162" y="148435"/>
                    <a:pt x="18782" y="146970"/>
                  </a:cubicBezTo>
                  <a:cubicBezTo>
                    <a:pt x="18401" y="145504"/>
                    <a:pt x="18845" y="143947"/>
                    <a:pt x="19942" y="142903"/>
                  </a:cubicBezTo>
                  <a:cubicBezTo>
                    <a:pt x="20067" y="142778"/>
                    <a:pt x="20182" y="142653"/>
                    <a:pt x="20296" y="142518"/>
                  </a:cubicBezTo>
                  <a:lnTo>
                    <a:pt x="67510" y="88980"/>
                  </a:lnTo>
                  <a:cubicBezTo>
                    <a:pt x="70676" y="85395"/>
                    <a:pt x="75229" y="83342"/>
                    <a:pt x="80012" y="83344"/>
                  </a:cubicBezTo>
                  <a:lnTo>
                    <a:pt x="124122" y="83344"/>
                  </a:lnTo>
                  <a:cubicBezTo>
                    <a:pt x="128904" y="83342"/>
                    <a:pt x="133458" y="85395"/>
                    <a:pt x="136623" y="88980"/>
                  </a:cubicBezTo>
                  <a:lnTo>
                    <a:pt x="183838" y="142518"/>
                  </a:lnTo>
                  <a:cubicBezTo>
                    <a:pt x="183952" y="142653"/>
                    <a:pt x="184067" y="142778"/>
                    <a:pt x="184192" y="142903"/>
                  </a:cubicBezTo>
                  <a:cubicBezTo>
                    <a:pt x="185814" y="144530"/>
                    <a:pt x="185814" y="147163"/>
                    <a:pt x="184192" y="148789"/>
                  </a:cubicBez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807518" y="1342549"/>
            <a:ext cx="9742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 u="none">
                <a:solidFill>
                  <a:srgbClr val="059669"/>
                </a:solidFill>
                <a:latin typeface="Arial"/>
                <a:ea typeface="Microsoft YaHei"/>
                <a:cs typeface="Arial"/>
                <a:hlinkClick r:id="rId4"/>
              </a:rPr>
              <a:t>Junior 工程师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59855" y="1625918"/>
            <a:ext cx="22080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4"/>
              </a:rPr>
              <a:t>AI 时代，Junior 工程师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59855" y="18735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4"/>
              </a:rPr>
              <a:t>没有未来了吗？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3665" y="2229802"/>
            <a:ext cx="1836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 时代 Junior 的真正价值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3665" y="24203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不在写代码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17042" y="3190399"/>
            <a:ext cx="587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文章 2/4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3562350"/>
            <a:ext cx="5295900" cy="2266950"/>
          </a:xfrm>
          <a:prstGeom prst="roundRect">
            <a:avLst>
              <a:gd name="adj" fmla="val 5042"/>
            </a:avLst>
          </a:prstGeom>
          <a:solidFill>
            <a:srgbClr val="ECFDF5"/>
          </a:solidFill>
          <a:ln w="14288">
            <a:solidFill>
              <a:srgbClr val="10B981"/>
            </a:solidFill>
          </a:ln>
        </p:spPr>
        <p:txBody>
          <a:bodyPr/>
          <a:p/>
        </p:txBody>
      </p:sp>
      <p:sp>
        <p:nvSpPr>
          <p:cNvPr id="32" name="Rectangle 32"/>
          <p:cNvSpPr/>
          <p:nvPr/>
        </p:nvSpPr>
        <p:spPr>
          <a:xfrm>
            <a:off x="609600" y="3562350"/>
            <a:ext cx="76200" cy="22669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grpSp>
        <p:nvGrpSpPr>
          <p:cNvPr id="35" name="Group 35"/>
          <p:cNvGrpSpPr/>
          <p:nvPr/>
        </p:nvGrpSpPr>
        <p:grpSpPr>
          <a:xfrm>
            <a:off x="807337" y="3744448"/>
            <a:ext cx="251386" cy="184959"/>
            <a:chOff x="807337" y="3744448"/>
            <a:chExt cx="251386" cy="184959"/>
          </a:xfrm>
        </p:grpSpPr>
        <p:sp>
          <p:nvSpPr>
            <p:cNvPr id="33" name="Freeform 33"/>
            <p:cNvSpPr/>
            <p:nvPr/>
          </p:nvSpPr>
          <p:spPr>
            <a:xfrm>
              <a:off x="833438" y="3754041"/>
              <a:ext cx="200025" cy="133350"/>
            </a:xfrm>
            <a:custGeom>
              <a:avLst/>
              <a:gdLst/>
              <a:ahLst/>
              <a:cxnLst/>
              <a:rect l="l" t="t" r="r" b="b"/>
              <a:pathLst>
                <a:path w="200025" h="133350">
                  <a:moveTo>
                    <a:pt x="141684" y="91678"/>
                  </a:moveTo>
                  <a:cubicBezTo>
                    <a:pt x="141684" y="114693"/>
                    <a:pt x="123027" y="133350"/>
                    <a:pt x="100012" y="133350"/>
                  </a:cubicBezTo>
                  <a:cubicBezTo>
                    <a:pt x="76998" y="133350"/>
                    <a:pt x="58341" y="114693"/>
                    <a:pt x="58341" y="91678"/>
                  </a:cubicBezTo>
                  <a:cubicBezTo>
                    <a:pt x="58341" y="68663"/>
                    <a:pt x="76998" y="50006"/>
                    <a:pt x="100012" y="50006"/>
                  </a:cubicBezTo>
                  <a:cubicBezTo>
                    <a:pt x="123027" y="50006"/>
                    <a:pt x="141684" y="68663"/>
                    <a:pt x="141684" y="91678"/>
                  </a:cubicBezTo>
                  <a:close/>
                  <a:moveTo>
                    <a:pt x="33338" y="0"/>
                  </a:moveTo>
                  <a:cubicBezTo>
                    <a:pt x="14926" y="0"/>
                    <a:pt x="0" y="14926"/>
                    <a:pt x="0" y="33338"/>
                  </a:cubicBez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lose/>
                  <a:moveTo>
                    <a:pt x="166688" y="0"/>
                  </a:moveTo>
                  <a:cubicBezTo>
                    <a:pt x="148276" y="0"/>
                    <a:pt x="133350" y="14926"/>
                    <a:pt x="133350" y="33338"/>
                  </a:cubicBezTo>
                  <a:cubicBezTo>
                    <a:pt x="133350" y="51749"/>
                    <a:pt x="148276" y="66675"/>
                    <a:pt x="166688" y="66675"/>
                  </a:cubicBezTo>
                  <a:cubicBezTo>
                    <a:pt x="185099" y="66675"/>
                    <a:pt x="200025" y="51749"/>
                    <a:pt x="200025" y="33338"/>
                  </a:cubicBezTo>
                  <a:cubicBezTo>
                    <a:pt x="200025" y="14926"/>
                    <a:pt x="185099" y="0"/>
                    <a:pt x="166688" y="0"/>
                  </a:cubicBezTo>
                  <a:close/>
                </a:path>
              </a:pathLst>
            </a:custGeom>
            <a:solidFill>
              <a:srgbClr val="059669">
                <a:alpha val="20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07337" y="3744448"/>
              <a:ext cx="251386" cy="184959"/>
            </a:xfrm>
            <a:custGeom>
              <a:avLst/>
              <a:gdLst/>
              <a:ahLst/>
              <a:cxnLst/>
              <a:rect l="l" t="t" r="r" b="b"/>
              <a:pathLst>
                <a:path w="251386" h="184959">
                  <a:moveTo>
                    <a:pt x="247795" y="107938"/>
                  </a:moveTo>
                  <a:cubicBezTo>
                    <a:pt x="244113" y="110700"/>
                    <a:pt x="238889" y="109953"/>
                    <a:pt x="236127" y="106271"/>
                  </a:cubicBezTo>
                  <a:cubicBezTo>
                    <a:pt x="225940" y="92578"/>
                    <a:pt x="209855" y="84536"/>
                    <a:pt x="192788" y="84602"/>
                  </a:cubicBezTo>
                  <a:cubicBezTo>
                    <a:pt x="188185" y="84602"/>
                    <a:pt x="184454" y="80870"/>
                    <a:pt x="184454" y="76267"/>
                  </a:cubicBezTo>
                  <a:cubicBezTo>
                    <a:pt x="184454" y="71664"/>
                    <a:pt x="188185" y="67933"/>
                    <a:pt x="192788" y="67933"/>
                  </a:cubicBezTo>
                  <a:cubicBezTo>
                    <a:pt x="205782" y="67932"/>
                    <a:pt x="216608" y="57979"/>
                    <a:pt x="217701" y="45032"/>
                  </a:cubicBezTo>
                  <a:cubicBezTo>
                    <a:pt x="218793" y="32085"/>
                    <a:pt x="209787" y="20459"/>
                    <a:pt x="196977" y="18281"/>
                  </a:cubicBezTo>
                  <a:cubicBezTo>
                    <a:pt x="184168" y="16103"/>
                    <a:pt x="171825" y="24099"/>
                    <a:pt x="168577" y="36679"/>
                  </a:cubicBezTo>
                  <a:cubicBezTo>
                    <a:pt x="167426" y="41138"/>
                    <a:pt x="162879" y="43820"/>
                    <a:pt x="158420" y="42669"/>
                  </a:cubicBezTo>
                  <a:cubicBezTo>
                    <a:pt x="153960" y="41519"/>
                    <a:pt x="151278" y="36971"/>
                    <a:pt x="152429" y="32512"/>
                  </a:cubicBezTo>
                  <a:cubicBezTo>
                    <a:pt x="156880" y="15289"/>
                    <a:pt x="171773" y="2791"/>
                    <a:pt x="189507" y="1395"/>
                  </a:cubicBezTo>
                  <a:cubicBezTo>
                    <a:pt x="207240" y="0"/>
                    <a:pt x="223904" y="10015"/>
                    <a:pt x="230994" y="26330"/>
                  </a:cubicBezTo>
                  <a:cubicBezTo>
                    <a:pt x="238084" y="42644"/>
                    <a:pt x="234037" y="61661"/>
                    <a:pt x="220917" y="73673"/>
                  </a:cubicBezTo>
                  <a:cubicBezTo>
                    <a:pt x="232250" y="78580"/>
                    <a:pt x="242101" y="86367"/>
                    <a:pt x="249493" y="96259"/>
                  </a:cubicBezTo>
                  <a:cubicBezTo>
                    <a:pt x="250820" y="98032"/>
                    <a:pt x="251386" y="100260"/>
                    <a:pt x="251067" y="102451"/>
                  </a:cubicBezTo>
                  <a:cubicBezTo>
                    <a:pt x="250749" y="104642"/>
                    <a:pt x="249571" y="106616"/>
                    <a:pt x="247795" y="107938"/>
                  </a:cubicBezTo>
                  <a:close/>
                  <a:moveTo>
                    <a:pt x="191663" y="172113"/>
                  </a:moveTo>
                  <a:cubicBezTo>
                    <a:pt x="193247" y="174696"/>
                    <a:pt x="193305" y="177935"/>
                    <a:pt x="191813" y="180572"/>
                  </a:cubicBezTo>
                  <a:cubicBezTo>
                    <a:pt x="190322" y="183210"/>
                    <a:pt x="187517" y="184830"/>
                    <a:pt x="184487" y="184804"/>
                  </a:cubicBezTo>
                  <a:cubicBezTo>
                    <a:pt x="181457" y="184778"/>
                    <a:pt x="178680" y="183110"/>
                    <a:pt x="177234" y="180447"/>
                  </a:cubicBezTo>
                  <a:cubicBezTo>
                    <a:pt x="166551" y="162365"/>
                    <a:pt x="147111" y="151270"/>
                    <a:pt x="126108" y="151270"/>
                  </a:cubicBezTo>
                  <a:cubicBezTo>
                    <a:pt x="105106" y="151270"/>
                    <a:pt x="85665" y="162365"/>
                    <a:pt x="74982" y="180447"/>
                  </a:cubicBezTo>
                  <a:cubicBezTo>
                    <a:pt x="73563" y="183160"/>
                    <a:pt x="70771" y="184876"/>
                    <a:pt x="67710" y="184917"/>
                  </a:cubicBezTo>
                  <a:cubicBezTo>
                    <a:pt x="64649" y="184959"/>
                    <a:pt x="61811" y="183319"/>
                    <a:pt x="60319" y="180646"/>
                  </a:cubicBezTo>
                  <a:cubicBezTo>
                    <a:pt x="58827" y="177972"/>
                    <a:pt x="58921" y="174696"/>
                    <a:pt x="60564" y="172113"/>
                  </a:cubicBezTo>
                  <a:cubicBezTo>
                    <a:pt x="68644" y="158229"/>
                    <a:pt x="80964" y="147304"/>
                    <a:pt x="95714" y="140942"/>
                  </a:cubicBezTo>
                  <a:cubicBezTo>
                    <a:pt x="78696" y="127913"/>
                    <a:pt x="71874" y="105487"/>
                    <a:pt x="78752" y="85188"/>
                  </a:cubicBezTo>
                  <a:cubicBezTo>
                    <a:pt x="85631" y="64889"/>
                    <a:pt x="104681" y="51231"/>
                    <a:pt x="126113" y="51231"/>
                  </a:cubicBezTo>
                  <a:cubicBezTo>
                    <a:pt x="147546" y="51231"/>
                    <a:pt x="166596" y="64889"/>
                    <a:pt x="173474" y="85188"/>
                  </a:cubicBezTo>
                  <a:cubicBezTo>
                    <a:pt x="180353" y="105487"/>
                    <a:pt x="173531" y="127913"/>
                    <a:pt x="156513" y="140942"/>
                  </a:cubicBezTo>
                  <a:cubicBezTo>
                    <a:pt x="171263" y="147304"/>
                    <a:pt x="183583" y="158229"/>
                    <a:pt x="191663" y="172113"/>
                  </a:cubicBezTo>
                  <a:close/>
                  <a:moveTo>
                    <a:pt x="126113" y="134608"/>
                  </a:moveTo>
                  <a:cubicBezTo>
                    <a:pt x="144525" y="134608"/>
                    <a:pt x="159451" y="119682"/>
                    <a:pt x="159451" y="101271"/>
                  </a:cubicBezTo>
                  <a:cubicBezTo>
                    <a:pt x="159451" y="82859"/>
                    <a:pt x="144525" y="67933"/>
                    <a:pt x="126113" y="67933"/>
                  </a:cubicBezTo>
                  <a:cubicBezTo>
                    <a:pt x="107702" y="67933"/>
                    <a:pt x="92776" y="82859"/>
                    <a:pt x="92776" y="101271"/>
                  </a:cubicBezTo>
                  <a:cubicBezTo>
                    <a:pt x="92776" y="119682"/>
                    <a:pt x="107702" y="134608"/>
                    <a:pt x="126113" y="134608"/>
                  </a:cubicBezTo>
                  <a:close/>
                  <a:moveTo>
                    <a:pt x="67773" y="76267"/>
                  </a:moveTo>
                  <a:cubicBezTo>
                    <a:pt x="67773" y="71664"/>
                    <a:pt x="64041" y="67933"/>
                    <a:pt x="59438" y="67933"/>
                  </a:cubicBezTo>
                  <a:cubicBezTo>
                    <a:pt x="46445" y="67932"/>
                    <a:pt x="35618" y="57979"/>
                    <a:pt x="34526" y="45032"/>
                  </a:cubicBezTo>
                  <a:cubicBezTo>
                    <a:pt x="33434" y="32085"/>
                    <a:pt x="42440" y="20459"/>
                    <a:pt x="55249" y="18281"/>
                  </a:cubicBezTo>
                  <a:cubicBezTo>
                    <a:pt x="68059" y="16103"/>
                    <a:pt x="80401" y="24099"/>
                    <a:pt x="83650" y="36679"/>
                  </a:cubicBezTo>
                  <a:cubicBezTo>
                    <a:pt x="84800" y="41138"/>
                    <a:pt x="89348" y="43820"/>
                    <a:pt x="93807" y="42669"/>
                  </a:cubicBezTo>
                  <a:cubicBezTo>
                    <a:pt x="98266" y="41519"/>
                    <a:pt x="100948" y="36971"/>
                    <a:pt x="99798" y="32512"/>
                  </a:cubicBezTo>
                  <a:cubicBezTo>
                    <a:pt x="95347" y="15289"/>
                    <a:pt x="80454" y="2791"/>
                    <a:pt x="62720" y="1395"/>
                  </a:cubicBezTo>
                  <a:cubicBezTo>
                    <a:pt x="44987" y="0"/>
                    <a:pt x="28322" y="10015"/>
                    <a:pt x="21232" y="26330"/>
                  </a:cubicBezTo>
                  <a:cubicBezTo>
                    <a:pt x="14142" y="42644"/>
                    <a:pt x="18190" y="61661"/>
                    <a:pt x="31310" y="73673"/>
                  </a:cubicBezTo>
                  <a:cubicBezTo>
                    <a:pt x="19988" y="78585"/>
                    <a:pt x="10148" y="86371"/>
                    <a:pt x="2765" y="96259"/>
                  </a:cubicBezTo>
                  <a:cubicBezTo>
                    <a:pt x="0" y="99942"/>
                    <a:pt x="744" y="105168"/>
                    <a:pt x="4426" y="107933"/>
                  </a:cubicBezTo>
                  <a:cubicBezTo>
                    <a:pt x="8109" y="110697"/>
                    <a:pt x="13335" y="109953"/>
                    <a:pt x="16100" y="106271"/>
                  </a:cubicBezTo>
                  <a:cubicBezTo>
                    <a:pt x="26287" y="92578"/>
                    <a:pt x="42371" y="84536"/>
                    <a:pt x="59438" y="84602"/>
                  </a:cubicBezTo>
                  <a:cubicBezTo>
                    <a:pt x="64041" y="84602"/>
                    <a:pt x="67773" y="80870"/>
                    <a:pt x="67773" y="76267"/>
                  </a:cubicBez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130618" y="37809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 u="none">
                <a:solidFill>
                  <a:srgbClr val="059669"/>
                </a:solidFill>
                <a:latin typeface="Arial"/>
                <a:ea typeface="Microsoft YaHei"/>
                <a:cs typeface="Arial"/>
                <a:hlinkClick r:id="rId5"/>
              </a:rPr>
              <a:t>软件开发经理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2955" y="406431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5"/>
              </a:rPr>
              <a:t>AI 时代的软件开发经理：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2955" y="431196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5"/>
              </a:rPr>
              <a:t>管理杂务缩减到三分之一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6765" y="4668202"/>
            <a:ext cx="23959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技术管理者如何用 AI 重构工作方式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40142" y="5628799"/>
            <a:ext cx="587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文章 3/4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3562350"/>
            <a:ext cx="5295900" cy="2266950"/>
          </a:xfrm>
          <a:prstGeom prst="roundRect">
            <a:avLst>
              <a:gd name="adj" fmla="val 5042"/>
            </a:avLst>
          </a:prstGeom>
          <a:solidFill>
            <a:srgbClr val="ECFDF5"/>
          </a:solidFill>
          <a:ln w="14288">
            <a:solidFill>
              <a:srgbClr val="10B981"/>
            </a:solidFill>
          </a:ln>
        </p:spPr>
        <p:txBody>
          <a:bodyPr/>
          <a:p/>
        </p:txBody>
      </p:sp>
      <p:sp>
        <p:nvSpPr>
          <p:cNvPr id="42" name="Rectangle 42"/>
          <p:cNvSpPr/>
          <p:nvPr/>
        </p:nvSpPr>
        <p:spPr>
          <a:xfrm>
            <a:off x="6286500" y="3562350"/>
            <a:ext cx="76200" cy="22669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grpSp>
        <p:nvGrpSpPr>
          <p:cNvPr id="45" name="Group 45"/>
          <p:cNvGrpSpPr/>
          <p:nvPr/>
        </p:nvGrpSpPr>
        <p:grpSpPr>
          <a:xfrm>
            <a:off x="6498734" y="3716808"/>
            <a:ext cx="219989" cy="223869"/>
            <a:chOff x="6498734" y="3716808"/>
            <a:chExt cx="219989" cy="223869"/>
          </a:xfrm>
        </p:grpSpPr>
        <p:sp>
          <p:nvSpPr>
            <p:cNvPr id="43" name="Freeform 43"/>
            <p:cNvSpPr/>
            <p:nvPr/>
          </p:nvSpPr>
          <p:spPr>
            <a:xfrm>
              <a:off x="6507849" y="3723303"/>
              <a:ext cx="202526" cy="208248"/>
            </a:xfrm>
            <a:custGeom>
              <a:avLst/>
              <a:gdLst/>
              <a:ahLst/>
              <a:cxnLst/>
              <a:rect l="l" t="t" r="r" b="b"/>
              <a:pathLst>
                <a:path w="202526" h="208248">
                  <a:moveTo>
                    <a:pt x="202514" y="72409"/>
                  </a:moveTo>
                  <a:cubicBezTo>
                    <a:pt x="202505" y="95999"/>
                    <a:pt x="190031" y="117828"/>
                    <a:pt x="169713" y="129813"/>
                  </a:cubicBezTo>
                  <a:cubicBezTo>
                    <a:pt x="149394" y="141798"/>
                    <a:pt x="124255" y="142154"/>
                    <a:pt x="103605" y="130750"/>
                  </a:cubicBezTo>
                  <a:lnTo>
                    <a:pt x="45202" y="198467"/>
                  </a:lnTo>
                  <a:cubicBezTo>
                    <a:pt x="35421" y="208248"/>
                    <a:pt x="19563" y="208248"/>
                    <a:pt x="9781" y="198467"/>
                  </a:cubicBezTo>
                  <a:cubicBezTo>
                    <a:pt x="0" y="188685"/>
                    <a:pt x="0" y="172827"/>
                    <a:pt x="9781" y="163045"/>
                  </a:cubicBezTo>
                  <a:lnTo>
                    <a:pt x="77498" y="104642"/>
                  </a:lnTo>
                  <a:cubicBezTo>
                    <a:pt x="63845" y="79935"/>
                    <a:pt x="67231" y="49307"/>
                    <a:pt x="85952" y="28178"/>
                  </a:cubicBezTo>
                  <a:cubicBezTo>
                    <a:pt x="104672" y="7050"/>
                    <a:pt x="134670" y="0"/>
                    <a:pt x="160842" y="10579"/>
                  </a:cubicBezTo>
                  <a:lnTo>
                    <a:pt x="119170" y="55740"/>
                  </a:lnTo>
                  <a:lnTo>
                    <a:pt x="125067" y="83181"/>
                  </a:lnTo>
                  <a:lnTo>
                    <a:pt x="152507" y="89078"/>
                  </a:lnTo>
                  <a:lnTo>
                    <a:pt x="197669" y="47406"/>
                  </a:lnTo>
                  <a:cubicBezTo>
                    <a:pt x="200881" y="55350"/>
                    <a:pt x="202526" y="63840"/>
                    <a:pt x="202514" y="72409"/>
                  </a:cubicBezTo>
                  <a:close/>
                </a:path>
              </a:pathLst>
            </a:custGeom>
            <a:solidFill>
              <a:srgbClr val="059669">
                <a:alpha val="20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498734" y="3716808"/>
              <a:ext cx="219989" cy="223869"/>
            </a:xfrm>
            <a:custGeom>
              <a:avLst/>
              <a:gdLst/>
              <a:ahLst/>
              <a:cxnLst/>
              <a:rect l="l" t="t" r="r" b="b"/>
              <a:pathLst>
                <a:path w="219989" h="223869">
                  <a:moveTo>
                    <a:pt x="214504" y="50776"/>
                  </a:moveTo>
                  <a:cubicBezTo>
                    <a:pt x="213478" y="48239"/>
                    <a:pt x="211272" y="46368"/>
                    <a:pt x="208602" y="45769"/>
                  </a:cubicBezTo>
                  <a:cubicBezTo>
                    <a:pt x="205932" y="45171"/>
                    <a:pt x="203139" y="45920"/>
                    <a:pt x="201127" y="47776"/>
                  </a:cubicBezTo>
                  <a:lnTo>
                    <a:pt x="159143" y="86520"/>
                  </a:lnTo>
                  <a:lnTo>
                    <a:pt x="141193" y="82665"/>
                  </a:lnTo>
                  <a:lnTo>
                    <a:pt x="137338" y="64715"/>
                  </a:lnTo>
                  <a:lnTo>
                    <a:pt x="176083" y="22731"/>
                  </a:lnTo>
                  <a:cubicBezTo>
                    <a:pt x="177938" y="20719"/>
                    <a:pt x="178688" y="17926"/>
                    <a:pt x="178089" y="15256"/>
                  </a:cubicBezTo>
                  <a:cubicBezTo>
                    <a:pt x="177490" y="12586"/>
                    <a:pt x="175619" y="10380"/>
                    <a:pt x="173082" y="9354"/>
                  </a:cubicBezTo>
                  <a:cubicBezTo>
                    <a:pt x="149958" y="0"/>
                    <a:pt x="123697" y="2753"/>
                    <a:pt x="103016" y="16699"/>
                  </a:cubicBezTo>
                  <a:cubicBezTo>
                    <a:pt x="82335" y="30646"/>
                    <a:pt x="69939" y="53960"/>
                    <a:pt x="69944" y="78904"/>
                  </a:cubicBezTo>
                  <a:cubicBezTo>
                    <a:pt x="69931" y="89277"/>
                    <a:pt x="72059" y="99541"/>
                    <a:pt x="76195" y="109054"/>
                  </a:cubicBezTo>
                  <a:lnTo>
                    <a:pt x="13469" y="163290"/>
                  </a:lnTo>
                  <a:cubicBezTo>
                    <a:pt x="13312" y="163415"/>
                    <a:pt x="13166" y="163561"/>
                    <a:pt x="13021" y="163696"/>
                  </a:cubicBezTo>
                  <a:cubicBezTo>
                    <a:pt x="0" y="176717"/>
                    <a:pt x="0" y="197827"/>
                    <a:pt x="13021" y="210848"/>
                  </a:cubicBezTo>
                  <a:cubicBezTo>
                    <a:pt x="26041" y="223869"/>
                    <a:pt x="47152" y="223869"/>
                    <a:pt x="60172" y="210848"/>
                  </a:cubicBezTo>
                  <a:cubicBezTo>
                    <a:pt x="60308" y="210713"/>
                    <a:pt x="60454" y="210556"/>
                    <a:pt x="60579" y="210410"/>
                  </a:cubicBezTo>
                  <a:lnTo>
                    <a:pt x="114804" y="147663"/>
                  </a:lnTo>
                  <a:cubicBezTo>
                    <a:pt x="138010" y="157850"/>
                    <a:pt x="164791" y="155629"/>
                    <a:pt x="186003" y="141760"/>
                  </a:cubicBezTo>
                  <a:cubicBezTo>
                    <a:pt x="207215" y="127891"/>
                    <a:pt x="219989" y="104248"/>
                    <a:pt x="219963" y="78904"/>
                  </a:cubicBezTo>
                  <a:cubicBezTo>
                    <a:pt x="219979" y="69263"/>
                    <a:pt x="218125" y="59711"/>
                    <a:pt x="214504" y="50776"/>
                  </a:cubicBezTo>
                  <a:close/>
                  <a:moveTo>
                    <a:pt x="144954" y="137245"/>
                  </a:moveTo>
                  <a:cubicBezTo>
                    <a:pt x="135089" y="137232"/>
                    <a:pt x="125387" y="134723"/>
                    <a:pt x="116752" y="129952"/>
                  </a:cubicBezTo>
                  <a:cubicBezTo>
                    <a:pt x="113305" y="128048"/>
                    <a:pt x="108994" y="128817"/>
                    <a:pt x="106418" y="131796"/>
                  </a:cubicBezTo>
                  <a:lnTo>
                    <a:pt x="48181" y="199242"/>
                  </a:lnTo>
                  <a:cubicBezTo>
                    <a:pt x="41628" y="205469"/>
                    <a:pt x="31306" y="205336"/>
                    <a:pt x="24914" y="198944"/>
                  </a:cubicBezTo>
                  <a:cubicBezTo>
                    <a:pt x="18522" y="192552"/>
                    <a:pt x="18390" y="182230"/>
                    <a:pt x="24616" y="175677"/>
                  </a:cubicBezTo>
                  <a:lnTo>
                    <a:pt x="92010" y="117451"/>
                  </a:lnTo>
                  <a:cubicBezTo>
                    <a:pt x="94995" y="114873"/>
                    <a:pt x="95764" y="110556"/>
                    <a:pt x="93854" y="107106"/>
                  </a:cubicBezTo>
                  <a:cubicBezTo>
                    <a:pt x="83012" y="87497"/>
                    <a:pt x="84358" y="63411"/>
                    <a:pt x="97318" y="45133"/>
                  </a:cubicBezTo>
                  <a:cubicBezTo>
                    <a:pt x="110278" y="26855"/>
                    <a:pt x="132561" y="17614"/>
                    <a:pt x="154653" y="21356"/>
                  </a:cubicBezTo>
                  <a:lnTo>
                    <a:pt x="122149" y="56579"/>
                  </a:lnTo>
                  <a:cubicBezTo>
                    <a:pt x="120314" y="58570"/>
                    <a:pt x="119560" y="61328"/>
                    <a:pt x="120128" y="63975"/>
                  </a:cubicBezTo>
                  <a:lnTo>
                    <a:pt x="126024" y="91406"/>
                  </a:lnTo>
                  <a:cubicBezTo>
                    <a:pt x="126713" y="94611"/>
                    <a:pt x="129216" y="97114"/>
                    <a:pt x="132421" y="97803"/>
                  </a:cubicBezTo>
                  <a:lnTo>
                    <a:pt x="159872" y="103699"/>
                  </a:lnTo>
                  <a:cubicBezTo>
                    <a:pt x="162520" y="104267"/>
                    <a:pt x="165278" y="103513"/>
                    <a:pt x="167269" y="101678"/>
                  </a:cubicBezTo>
                  <a:lnTo>
                    <a:pt x="202492" y="69174"/>
                  </a:lnTo>
                  <a:cubicBezTo>
                    <a:pt x="205334" y="86106"/>
                    <a:pt x="200582" y="103432"/>
                    <a:pt x="189498" y="116544"/>
                  </a:cubicBezTo>
                  <a:cubicBezTo>
                    <a:pt x="178415" y="129656"/>
                    <a:pt x="162123" y="137228"/>
                    <a:pt x="144954" y="137245"/>
                  </a:cubicBez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6807518" y="37809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运维工程师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59855" y="406431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6"/>
              </a:rPr>
              <a:t>AI 时代，运维工程师如何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59855" y="4311968"/>
            <a:ext cx="2591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6"/>
              </a:rPr>
              <a:t>不被淘汰？Ops → Platform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463665" y="46682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从运维人员到平台工程师的思维跃迁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17042" y="5628799"/>
            <a:ext cx="587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文章 4/4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gradFill>
            <a:gsLst>
              <a:gs pos="0">
                <a:srgbClr val="7C3AED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1357181" y="2376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BF5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265" y="3057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BF5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地图四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9120" y="483870"/>
            <a:ext cx="317094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非技术人的 AI 之路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60744" y="40243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BF5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这条路不需要你会写代码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74906" y="6215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BF5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关于心法、判断，从零开始的真实案例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26269" y="1119188"/>
            <a:ext cx="233362" cy="200309"/>
            <a:chOff x="626269" y="1119188"/>
            <a:chExt cx="233362" cy="200309"/>
          </a:xfrm>
        </p:grpSpPr>
        <p:sp>
          <p:nvSpPr>
            <p:cNvPr id="10" name="Freeform 10"/>
            <p:cNvSpPr/>
            <p:nvPr/>
          </p:nvSpPr>
          <p:spPr>
            <a:xfrm>
              <a:off x="634603" y="1127522"/>
              <a:ext cx="216694" cy="183356"/>
            </a:xfrm>
            <a:custGeom>
              <a:avLst/>
              <a:gdLst/>
              <a:ahLst/>
              <a:cxnLst/>
              <a:rect l="l" t="t" r="r" b="b"/>
              <a:pathLst>
                <a:path w="216694" h="183356">
                  <a:moveTo>
                    <a:pt x="216694" y="56257"/>
                  </a:moveTo>
                  <a:cubicBezTo>
                    <a:pt x="216694" y="125016"/>
                    <a:pt x="108347" y="183356"/>
                    <a:pt x="108347" y="183356"/>
                  </a:cubicBezTo>
                  <a:cubicBezTo>
                    <a:pt x="108347" y="183356"/>
                    <a:pt x="0" y="125016"/>
                    <a:pt x="0" y="56257"/>
                  </a:cubicBezTo>
                  <a:cubicBezTo>
                    <a:pt x="0" y="25187"/>
                    <a:pt x="25187" y="0"/>
                    <a:pt x="56257" y="0"/>
                  </a:cubicBezTo>
                  <a:cubicBezTo>
                    <a:pt x="79791" y="0"/>
                    <a:pt x="99950" y="12825"/>
                    <a:pt x="108347" y="33338"/>
                  </a:cubicBezTo>
                  <a:cubicBezTo>
                    <a:pt x="116744" y="12825"/>
                    <a:pt x="136903" y="0"/>
                    <a:pt x="160437" y="0"/>
                  </a:cubicBezTo>
                  <a:cubicBezTo>
                    <a:pt x="191507" y="0"/>
                    <a:pt x="216694" y="25187"/>
                    <a:pt x="216694" y="56257"/>
                  </a:cubicBezTo>
                  <a:close/>
                </a:path>
              </a:pathLst>
            </a:custGeom>
            <a:solidFill>
              <a:srgbClr val="8B5CF6">
                <a:alpha val="2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26269" y="1119188"/>
              <a:ext cx="233362" cy="200309"/>
            </a:xfrm>
            <a:custGeom>
              <a:avLst/>
              <a:gdLst/>
              <a:ahLst/>
              <a:cxnLst/>
              <a:rect l="l" t="t" r="r" b="b"/>
              <a:pathLst>
                <a:path w="233362" h="200309">
                  <a:moveTo>
                    <a:pt x="168771" y="0"/>
                  </a:moveTo>
                  <a:cubicBezTo>
                    <a:pt x="147258" y="0"/>
                    <a:pt x="128422" y="9251"/>
                    <a:pt x="116681" y="24889"/>
                  </a:cubicBezTo>
                  <a:cubicBezTo>
                    <a:pt x="104940" y="9251"/>
                    <a:pt x="86105" y="0"/>
                    <a:pt x="64591" y="0"/>
                  </a:cubicBezTo>
                  <a:cubicBezTo>
                    <a:pt x="28935" y="40"/>
                    <a:pt x="40" y="28935"/>
                    <a:pt x="0" y="64591"/>
                  </a:cubicBezTo>
                  <a:cubicBezTo>
                    <a:pt x="0" y="137517"/>
                    <a:pt x="108128" y="196545"/>
                    <a:pt x="112733" y="198983"/>
                  </a:cubicBezTo>
                  <a:cubicBezTo>
                    <a:pt x="115198" y="200309"/>
                    <a:pt x="118164" y="200309"/>
                    <a:pt x="120630" y="198983"/>
                  </a:cubicBezTo>
                  <a:cubicBezTo>
                    <a:pt x="125234" y="196545"/>
                    <a:pt x="233362" y="137517"/>
                    <a:pt x="233362" y="64591"/>
                  </a:cubicBezTo>
                  <a:cubicBezTo>
                    <a:pt x="233322" y="28935"/>
                    <a:pt x="204427" y="40"/>
                    <a:pt x="168771" y="0"/>
                  </a:cubicBezTo>
                  <a:close/>
                  <a:moveTo>
                    <a:pt x="116681" y="182106"/>
                  </a:moveTo>
                  <a:cubicBezTo>
                    <a:pt x="97658" y="171021"/>
                    <a:pt x="16669" y="120525"/>
                    <a:pt x="16669" y="64591"/>
                  </a:cubicBezTo>
                  <a:cubicBezTo>
                    <a:pt x="16703" y="38139"/>
                    <a:pt x="38139" y="16703"/>
                    <a:pt x="64591" y="16669"/>
                  </a:cubicBezTo>
                  <a:cubicBezTo>
                    <a:pt x="84854" y="16669"/>
                    <a:pt x="101867" y="27462"/>
                    <a:pt x="108972" y="44797"/>
                  </a:cubicBezTo>
                  <a:cubicBezTo>
                    <a:pt x="110256" y="47924"/>
                    <a:pt x="113301" y="49965"/>
                    <a:pt x="116681" y="49965"/>
                  </a:cubicBezTo>
                  <a:cubicBezTo>
                    <a:pt x="120061" y="49965"/>
                    <a:pt x="123106" y="47924"/>
                    <a:pt x="124391" y="44797"/>
                  </a:cubicBezTo>
                  <a:cubicBezTo>
                    <a:pt x="131496" y="27431"/>
                    <a:pt x="148508" y="16669"/>
                    <a:pt x="168771" y="16669"/>
                  </a:cubicBezTo>
                  <a:cubicBezTo>
                    <a:pt x="195224" y="16703"/>
                    <a:pt x="216659" y="38139"/>
                    <a:pt x="216694" y="64591"/>
                  </a:cubicBezTo>
                  <a:cubicBezTo>
                    <a:pt x="216694" y="120442"/>
                    <a:pt x="135684" y="171011"/>
                    <a:pt x="116681" y="182106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937260" y="1146810"/>
            <a:ext cx="39124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共 4 篇，不需要全读，找到你想看的那个问题就行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95300" y="1466850"/>
            <a:ext cx="2628900" cy="4114800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14288">
            <a:solidFill>
              <a:srgbClr val="8B5CF6"/>
            </a:solidFill>
          </a:ln>
        </p:spPr>
        <p:txBody>
          <a:bodyPr/>
          <a:p/>
        </p:txBody>
      </p:sp>
      <p:sp>
        <p:nvSpPr>
          <p:cNvPr id="15" name="Rectangle 15"/>
          <p:cNvSpPr/>
          <p:nvPr/>
        </p:nvSpPr>
        <p:spPr>
          <a:xfrm>
            <a:off x="495300" y="1466850"/>
            <a:ext cx="26289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16" name="Rectangle 16"/>
          <p:cNvSpPr/>
          <p:nvPr/>
        </p:nvSpPr>
        <p:spPr>
          <a:xfrm>
            <a:off x="495300" y="1524000"/>
            <a:ext cx="2628900" cy="647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grpSp>
        <p:nvGrpSpPr>
          <p:cNvPr id="19" name="Group 19"/>
          <p:cNvGrpSpPr/>
          <p:nvPr/>
        </p:nvGrpSpPr>
        <p:grpSpPr>
          <a:xfrm>
            <a:off x="1620579" y="1721640"/>
            <a:ext cx="301094" cy="193937"/>
            <a:chOff x="1620579" y="1721640"/>
            <a:chExt cx="301094" cy="193937"/>
          </a:xfrm>
        </p:grpSpPr>
        <p:sp>
          <p:nvSpPr>
            <p:cNvPr id="17" name="Freeform 17"/>
            <p:cNvSpPr/>
            <p:nvPr/>
          </p:nvSpPr>
          <p:spPr>
            <a:xfrm>
              <a:off x="1825228" y="173235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620579" y="1721640"/>
              <a:ext cx="301094" cy="193937"/>
            </a:xfrm>
            <a:custGeom>
              <a:avLst/>
              <a:gdLst/>
              <a:ahLst/>
              <a:cxnLst/>
              <a:rect l="l" t="t" r="r" b="b"/>
              <a:pathLst>
                <a:path w="301094" h="193937">
                  <a:moveTo>
                    <a:pt x="290375" y="3"/>
                  </a:moveTo>
                  <a:lnTo>
                    <a:pt x="204650" y="3"/>
                  </a:lnTo>
                  <a:cubicBezTo>
                    <a:pt x="200313" y="0"/>
                    <a:pt x="196402" y="2611"/>
                    <a:pt x="194742" y="6617"/>
                  </a:cubicBezTo>
                  <a:cubicBezTo>
                    <a:pt x="193082" y="10624"/>
                    <a:pt x="194000" y="15236"/>
                    <a:pt x="197068" y="18300"/>
                  </a:cubicBezTo>
                  <a:lnTo>
                    <a:pt x="232363" y="53582"/>
                  </a:lnTo>
                  <a:lnTo>
                    <a:pt x="161787" y="124157"/>
                  </a:lnTo>
                  <a:lnTo>
                    <a:pt x="115790" y="78147"/>
                  </a:lnTo>
                  <a:cubicBezTo>
                    <a:pt x="113780" y="76135"/>
                    <a:pt x="111053" y="75004"/>
                    <a:pt x="108209" y="75004"/>
                  </a:cubicBezTo>
                  <a:cubicBezTo>
                    <a:pt x="105365" y="75004"/>
                    <a:pt x="102638" y="76135"/>
                    <a:pt x="100628" y="78147"/>
                  </a:cubicBezTo>
                  <a:lnTo>
                    <a:pt x="4187" y="174588"/>
                  </a:lnTo>
                  <a:cubicBezTo>
                    <a:pt x="0" y="178775"/>
                    <a:pt x="0" y="185563"/>
                    <a:pt x="4187" y="189750"/>
                  </a:cubicBezTo>
                  <a:cubicBezTo>
                    <a:pt x="8374" y="193937"/>
                    <a:pt x="15163" y="193937"/>
                    <a:pt x="19350" y="189750"/>
                  </a:cubicBezTo>
                  <a:lnTo>
                    <a:pt x="108209" y="100878"/>
                  </a:lnTo>
                  <a:lnTo>
                    <a:pt x="154206" y="146888"/>
                  </a:lnTo>
                  <a:cubicBezTo>
                    <a:pt x="156216" y="148900"/>
                    <a:pt x="158943" y="150031"/>
                    <a:pt x="161787" y="150031"/>
                  </a:cubicBezTo>
                  <a:cubicBezTo>
                    <a:pt x="164631" y="150031"/>
                    <a:pt x="167358" y="148900"/>
                    <a:pt x="169368" y="146888"/>
                  </a:cubicBezTo>
                  <a:lnTo>
                    <a:pt x="247512" y="68731"/>
                  </a:lnTo>
                  <a:lnTo>
                    <a:pt x="282793" y="104025"/>
                  </a:lnTo>
                  <a:cubicBezTo>
                    <a:pt x="285858" y="107094"/>
                    <a:pt x="290470" y="108012"/>
                    <a:pt x="294476" y="106352"/>
                  </a:cubicBezTo>
                  <a:cubicBezTo>
                    <a:pt x="298483" y="104692"/>
                    <a:pt x="301094" y="100781"/>
                    <a:pt x="301090" y="96444"/>
                  </a:cubicBezTo>
                  <a:lnTo>
                    <a:pt x="301090" y="10719"/>
                  </a:lnTo>
                  <a:cubicBezTo>
                    <a:pt x="301090" y="4801"/>
                    <a:pt x="296293" y="3"/>
                    <a:pt x="290375" y="3"/>
                  </a:cubicBezTo>
                  <a:close/>
                  <a:moveTo>
                    <a:pt x="279659" y="70579"/>
                  </a:moveTo>
                  <a:lnTo>
                    <a:pt x="230514" y="21435"/>
                  </a:lnTo>
                  <a:lnTo>
                    <a:pt x="279659" y="21435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92437" y="2316956"/>
            <a:ext cx="14346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3"/>
              </a:rPr>
              <a:t>AI 时代，普通人的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4159" y="252650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3"/>
              </a:rPr>
              <a:t>杠杆在哪里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2819400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9525">
            <a:solidFill>
              <a:srgbClr val="DDD6FE"/>
            </a:solidFill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1227772" y="29617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个人如何找到属于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7772" y="31713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自己的不对称优势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066800" y="5029200"/>
            <a:ext cx="14859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sp>
        <p:nvSpPr>
          <p:cNvPr id="26" name="TextBox 26"/>
          <p:cNvSpPr txBox="1"/>
          <p:nvPr/>
        </p:nvSpPr>
        <p:spPr>
          <a:xfrm>
            <a:off x="1654969" y="51144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心法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352800" y="1466850"/>
            <a:ext cx="2628900" cy="4114800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14288">
            <a:solidFill>
              <a:srgbClr val="8B5CF6"/>
            </a:solidFill>
          </a:ln>
        </p:spPr>
        <p:txBody>
          <a:bodyPr/>
          <a:p/>
        </p:txBody>
      </p:sp>
      <p:sp>
        <p:nvSpPr>
          <p:cNvPr id="28" name="Rectangle 28"/>
          <p:cNvSpPr/>
          <p:nvPr/>
        </p:nvSpPr>
        <p:spPr>
          <a:xfrm>
            <a:off x="3352800" y="1466850"/>
            <a:ext cx="26289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29" name="Rectangle 29"/>
          <p:cNvSpPr/>
          <p:nvPr/>
        </p:nvSpPr>
        <p:spPr>
          <a:xfrm>
            <a:off x="3352800" y="1524000"/>
            <a:ext cx="2628900" cy="647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grpSp>
        <p:nvGrpSpPr>
          <p:cNvPr id="32" name="Group 32"/>
          <p:cNvGrpSpPr/>
          <p:nvPr/>
        </p:nvGrpSpPr>
        <p:grpSpPr>
          <a:xfrm>
            <a:off x="4510930" y="1678016"/>
            <a:ext cx="236186" cy="300803"/>
            <a:chOff x="4510930" y="1678016"/>
            <a:chExt cx="236186" cy="300803"/>
          </a:xfrm>
        </p:grpSpPr>
        <p:sp>
          <p:nvSpPr>
            <p:cNvPr id="30" name="Freeform 30"/>
            <p:cNvSpPr/>
            <p:nvPr/>
          </p:nvSpPr>
          <p:spPr>
            <a:xfrm>
              <a:off x="4521672" y="1688800"/>
              <a:ext cx="214663" cy="236440"/>
            </a:xfrm>
            <a:custGeom>
              <a:avLst/>
              <a:gdLst/>
              <a:ahLst/>
              <a:cxnLst/>
              <a:rect l="l" t="t" r="r" b="b"/>
              <a:pathLst>
                <a:path w="214663" h="236440">
                  <a:moveTo>
                    <a:pt x="214634" y="107853"/>
                  </a:moveTo>
                  <a:cubicBezTo>
                    <a:pt x="214663" y="140752"/>
                    <a:pt x="199552" y="171834"/>
                    <a:pt x="173660" y="192131"/>
                  </a:cubicBezTo>
                  <a:cubicBezTo>
                    <a:pt x="165753" y="198259"/>
                    <a:pt x="161105" y="207684"/>
                    <a:pt x="161056" y="217688"/>
                  </a:cubicBezTo>
                  <a:lnTo>
                    <a:pt x="161056" y="225725"/>
                  </a:lnTo>
                  <a:cubicBezTo>
                    <a:pt x="161056" y="231643"/>
                    <a:pt x="156258" y="236440"/>
                    <a:pt x="150340" y="236440"/>
                  </a:cubicBezTo>
                  <a:lnTo>
                    <a:pt x="64615" y="236440"/>
                  </a:lnTo>
                  <a:cubicBezTo>
                    <a:pt x="58697" y="236440"/>
                    <a:pt x="53900" y="231643"/>
                    <a:pt x="53900" y="225725"/>
                  </a:cubicBezTo>
                  <a:lnTo>
                    <a:pt x="53900" y="217688"/>
                  </a:lnTo>
                  <a:cubicBezTo>
                    <a:pt x="53889" y="207739"/>
                    <a:pt x="49294" y="198350"/>
                    <a:pt x="41443" y="192238"/>
                  </a:cubicBezTo>
                  <a:cubicBezTo>
                    <a:pt x="15634" y="172077"/>
                    <a:pt x="482" y="141205"/>
                    <a:pt x="321" y="108456"/>
                  </a:cubicBezTo>
                  <a:cubicBezTo>
                    <a:pt x="0" y="50377"/>
                    <a:pt x="46827" y="2036"/>
                    <a:pt x="104893" y="697"/>
                  </a:cubicBezTo>
                  <a:cubicBezTo>
                    <a:pt x="133757" y="0"/>
                    <a:pt x="161682" y="10981"/>
                    <a:pt x="182340" y="31153"/>
                  </a:cubicBezTo>
                  <a:cubicBezTo>
                    <a:pt x="202999" y="51325"/>
                    <a:pt x="214642" y="78980"/>
                    <a:pt x="214634" y="107853"/>
                  </a:cubicBezTo>
                  <a:close/>
                </a:path>
              </a:pathLst>
            </a:cu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510930" y="1678016"/>
              <a:ext cx="236186" cy="300803"/>
            </a:xfrm>
            <a:custGeom>
              <a:avLst/>
              <a:gdLst/>
              <a:ahLst/>
              <a:cxnLst/>
              <a:rect l="l" t="t" r="r" b="b"/>
              <a:pathLst>
                <a:path w="236186" h="300803">
                  <a:moveTo>
                    <a:pt x="182514" y="290087"/>
                  </a:moveTo>
                  <a:cubicBezTo>
                    <a:pt x="182514" y="296005"/>
                    <a:pt x="177716" y="300803"/>
                    <a:pt x="171798" y="300803"/>
                  </a:cubicBezTo>
                  <a:lnTo>
                    <a:pt x="64642" y="300803"/>
                  </a:lnTo>
                  <a:cubicBezTo>
                    <a:pt x="58724" y="300803"/>
                    <a:pt x="53926" y="296005"/>
                    <a:pt x="53926" y="290087"/>
                  </a:cubicBezTo>
                  <a:cubicBezTo>
                    <a:pt x="53926" y="284169"/>
                    <a:pt x="58724" y="279371"/>
                    <a:pt x="64642" y="279371"/>
                  </a:cubicBezTo>
                  <a:lnTo>
                    <a:pt x="171798" y="279371"/>
                  </a:lnTo>
                  <a:cubicBezTo>
                    <a:pt x="177716" y="279371"/>
                    <a:pt x="182514" y="284169"/>
                    <a:pt x="182514" y="290087"/>
                  </a:cubicBezTo>
                  <a:close/>
                  <a:moveTo>
                    <a:pt x="236092" y="118637"/>
                  </a:moveTo>
                  <a:cubicBezTo>
                    <a:pt x="236186" y="154837"/>
                    <a:pt x="219556" y="189050"/>
                    <a:pt x="191033" y="211341"/>
                  </a:cubicBezTo>
                  <a:cubicBezTo>
                    <a:pt x="185699" y="215429"/>
                    <a:pt x="182555" y="221752"/>
                    <a:pt x="182514" y="228472"/>
                  </a:cubicBezTo>
                  <a:lnTo>
                    <a:pt x="182514" y="236509"/>
                  </a:lnTo>
                  <a:cubicBezTo>
                    <a:pt x="182514" y="248345"/>
                    <a:pt x="172919" y="257940"/>
                    <a:pt x="161083" y="257940"/>
                  </a:cubicBezTo>
                  <a:lnTo>
                    <a:pt x="75358" y="257940"/>
                  </a:lnTo>
                  <a:cubicBezTo>
                    <a:pt x="63521" y="257940"/>
                    <a:pt x="53926" y="248345"/>
                    <a:pt x="53926" y="236509"/>
                  </a:cubicBezTo>
                  <a:lnTo>
                    <a:pt x="53926" y="228472"/>
                  </a:lnTo>
                  <a:cubicBezTo>
                    <a:pt x="53922" y="221832"/>
                    <a:pt x="50840" y="215569"/>
                    <a:pt x="45582" y="211515"/>
                  </a:cubicBezTo>
                  <a:cubicBezTo>
                    <a:pt x="17133" y="189359"/>
                    <a:pt x="453" y="155352"/>
                    <a:pt x="348" y="119293"/>
                  </a:cubicBezTo>
                  <a:cubicBezTo>
                    <a:pt x="0" y="55455"/>
                    <a:pt x="51596" y="2292"/>
                    <a:pt x="115380" y="765"/>
                  </a:cubicBezTo>
                  <a:cubicBezTo>
                    <a:pt x="147131" y="0"/>
                    <a:pt x="177847" y="12080"/>
                    <a:pt x="200570" y="34269"/>
                  </a:cubicBezTo>
                  <a:cubicBezTo>
                    <a:pt x="223294" y="56457"/>
                    <a:pt x="236101" y="86877"/>
                    <a:pt x="236092" y="118637"/>
                  </a:cubicBezTo>
                  <a:close/>
                  <a:moveTo>
                    <a:pt x="214661" y="118637"/>
                  </a:moveTo>
                  <a:cubicBezTo>
                    <a:pt x="214668" y="92650"/>
                    <a:pt x="204188" y="67760"/>
                    <a:pt x="185595" y="49606"/>
                  </a:cubicBezTo>
                  <a:cubicBezTo>
                    <a:pt x="167002" y="31451"/>
                    <a:pt x="141869" y="21568"/>
                    <a:pt x="115889" y="22196"/>
                  </a:cubicBezTo>
                  <a:cubicBezTo>
                    <a:pt x="63651" y="23429"/>
                    <a:pt x="21498" y="66921"/>
                    <a:pt x="21780" y="119159"/>
                  </a:cubicBezTo>
                  <a:cubicBezTo>
                    <a:pt x="21879" y="148650"/>
                    <a:pt x="35530" y="176457"/>
                    <a:pt x="58802" y="194571"/>
                  </a:cubicBezTo>
                  <a:cubicBezTo>
                    <a:pt x="69265" y="202704"/>
                    <a:pt x="75377" y="215220"/>
                    <a:pt x="75358" y="228472"/>
                  </a:cubicBezTo>
                  <a:lnTo>
                    <a:pt x="75358" y="236509"/>
                  </a:lnTo>
                  <a:lnTo>
                    <a:pt x="161083" y="236509"/>
                  </a:lnTo>
                  <a:lnTo>
                    <a:pt x="161083" y="228472"/>
                  </a:lnTo>
                  <a:cubicBezTo>
                    <a:pt x="161113" y="215183"/>
                    <a:pt x="167277" y="202652"/>
                    <a:pt x="177786" y="194517"/>
                  </a:cubicBezTo>
                  <a:cubicBezTo>
                    <a:pt x="201132" y="176272"/>
                    <a:pt x="214741" y="148267"/>
                    <a:pt x="214661" y="118637"/>
                  </a:cubicBezTo>
                  <a:close/>
                  <a:moveTo>
                    <a:pt x="193082" y="106127"/>
                  </a:moveTo>
                  <a:cubicBezTo>
                    <a:pt x="187391" y="74339"/>
                    <a:pt x="162506" y="49459"/>
                    <a:pt x="130717" y="43775"/>
                  </a:cubicBezTo>
                  <a:cubicBezTo>
                    <a:pt x="124881" y="42791"/>
                    <a:pt x="119351" y="46725"/>
                    <a:pt x="118367" y="52562"/>
                  </a:cubicBezTo>
                  <a:cubicBezTo>
                    <a:pt x="117384" y="58398"/>
                    <a:pt x="121318" y="63928"/>
                    <a:pt x="127154" y="64912"/>
                  </a:cubicBezTo>
                  <a:cubicBezTo>
                    <a:pt x="149349" y="68649"/>
                    <a:pt x="168182" y="87481"/>
                    <a:pt x="171946" y="109716"/>
                  </a:cubicBezTo>
                  <a:cubicBezTo>
                    <a:pt x="172821" y="114869"/>
                    <a:pt x="177287" y="118639"/>
                    <a:pt x="182514" y="118637"/>
                  </a:cubicBezTo>
                  <a:cubicBezTo>
                    <a:pt x="183119" y="118633"/>
                    <a:pt x="183724" y="118584"/>
                    <a:pt x="184322" y="118490"/>
                  </a:cubicBezTo>
                  <a:cubicBezTo>
                    <a:pt x="190155" y="117494"/>
                    <a:pt x="194076" y="111959"/>
                    <a:pt x="193082" y="106127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3924059" y="2316956"/>
            <a:ext cx="14863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4"/>
              </a:rPr>
              <a:t>善用 AI 的三个心法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014073" y="25426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 u="none">
                <a:solidFill>
                  <a:srgbClr val="7C3AED"/>
                </a:solidFill>
                <a:latin typeface="Arial"/>
                <a:ea typeface="Microsoft YaHei"/>
                <a:cs typeface="Arial"/>
                <a:hlinkClick r:id="rId4"/>
              </a:rPr>
              <a:t>为什么有人越用越好</a:t>
            </a:r>
          </a:p>
        </p:txBody>
      </p:sp>
      <p:sp>
        <p:nvSpPr>
          <p:cNvPr id="35" name="Line 35"/>
          <p:cNvSpPr/>
          <p:nvPr/>
        </p:nvSpPr>
        <p:spPr>
          <a:xfrm>
            <a:off x="3543300" y="2819400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9525">
            <a:solidFill>
              <a:srgbClr val="DDD6FE"/>
            </a:solidFill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4156472" y="29617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真正提升背后的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70070" y="31713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底层逻辑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924300" y="5029200"/>
            <a:ext cx="14859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4441269" y="51144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方法论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10300" y="1466850"/>
            <a:ext cx="2628900" cy="4114800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14288">
            <a:solidFill>
              <a:srgbClr val="8B5CF6"/>
            </a:solidFill>
          </a:ln>
        </p:spPr>
        <p:txBody>
          <a:bodyPr/>
          <a:p/>
        </p:txBody>
      </p:sp>
      <p:sp>
        <p:nvSpPr>
          <p:cNvPr id="41" name="Rectangle 41"/>
          <p:cNvSpPr/>
          <p:nvPr/>
        </p:nvSpPr>
        <p:spPr>
          <a:xfrm>
            <a:off x="6210300" y="1466850"/>
            <a:ext cx="26289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42" name="Rectangle 42"/>
          <p:cNvSpPr/>
          <p:nvPr/>
        </p:nvSpPr>
        <p:spPr>
          <a:xfrm>
            <a:off x="6210300" y="1524000"/>
            <a:ext cx="2628900" cy="647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grpSp>
        <p:nvGrpSpPr>
          <p:cNvPr id="45" name="Group 45"/>
          <p:cNvGrpSpPr/>
          <p:nvPr/>
        </p:nvGrpSpPr>
        <p:grpSpPr>
          <a:xfrm>
            <a:off x="7368778" y="1688790"/>
            <a:ext cx="259143" cy="268597"/>
            <a:chOff x="7368778" y="1688790"/>
            <a:chExt cx="259143" cy="268597"/>
          </a:xfrm>
        </p:grpSpPr>
        <p:sp>
          <p:nvSpPr>
            <p:cNvPr id="43" name="Freeform 43"/>
            <p:cNvSpPr/>
            <p:nvPr/>
          </p:nvSpPr>
          <p:spPr>
            <a:xfrm>
              <a:off x="7379494" y="1699860"/>
              <a:ext cx="206611" cy="203950"/>
            </a:xfrm>
            <a:custGeom>
              <a:avLst/>
              <a:gdLst/>
              <a:ahLst/>
              <a:cxnLst/>
              <a:rect l="l" t="t" r="r" b="b"/>
              <a:pathLst>
                <a:path w="206611" h="203950">
                  <a:moveTo>
                    <a:pt x="0" y="53931"/>
                  </a:moveTo>
                  <a:lnTo>
                    <a:pt x="85725" y="53931"/>
                  </a:lnTo>
                  <a:lnTo>
                    <a:pt x="85725" y="203950"/>
                  </a:lnTo>
                  <a:lnTo>
                    <a:pt x="0" y="203950"/>
                  </a:lnTo>
                  <a:close/>
                  <a:moveTo>
                    <a:pt x="191060" y="8912"/>
                  </a:moveTo>
                  <a:cubicBezTo>
                    <a:pt x="190484" y="6117"/>
                    <a:pt x="188816" y="3667"/>
                    <a:pt x="186428" y="2106"/>
                  </a:cubicBezTo>
                  <a:cubicBezTo>
                    <a:pt x="184039" y="544"/>
                    <a:pt x="181126" y="0"/>
                    <a:pt x="178335" y="594"/>
                  </a:cubicBezTo>
                  <a:lnTo>
                    <a:pt x="115635" y="13988"/>
                  </a:lnTo>
                  <a:cubicBezTo>
                    <a:pt x="109832" y="15270"/>
                    <a:pt x="106153" y="20996"/>
                    <a:pt x="107397" y="26807"/>
                  </a:cubicBezTo>
                  <a:lnTo>
                    <a:pt x="122948" y="100812"/>
                  </a:lnTo>
                  <a:lnTo>
                    <a:pt x="206611" y="82836"/>
                  </a:lnTo>
                  <a:close/>
                </a:path>
              </a:pathLst>
            </a:cu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368778" y="1688790"/>
              <a:ext cx="259143" cy="268597"/>
            </a:xfrm>
            <a:custGeom>
              <a:avLst/>
              <a:gdLst/>
              <a:ahLst/>
              <a:cxnLst/>
              <a:rect l="l" t="t" r="r" b="b"/>
              <a:pathLst>
                <a:path w="259143" h="268597">
                  <a:moveTo>
                    <a:pt x="256706" y="229150"/>
                  </a:moveTo>
                  <a:lnTo>
                    <a:pt x="212250" y="17784"/>
                  </a:lnTo>
                  <a:cubicBezTo>
                    <a:pt x="211088" y="12202"/>
                    <a:pt x="207750" y="7312"/>
                    <a:pt x="202974" y="4197"/>
                  </a:cubicBezTo>
                  <a:cubicBezTo>
                    <a:pt x="198198" y="1083"/>
                    <a:pt x="192377" y="0"/>
                    <a:pt x="186800" y="1189"/>
                  </a:cubicBezTo>
                  <a:lnTo>
                    <a:pt x="124100" y="14664"/>
                  </a:lnTo>
                  <a:cubicBezTo>
                    <a:pt x="112557" y="17191"/>
                    <a:pt x="105206" y="28547"/>
                    <a:pt x="107625" y="40113"/>
                  </a:cubicBezTo>
                  <a:lnTo>
                    <a:pt x="152082" y="251479"/>
                  </a:lnTo>
                  <a:cubicBezTo>
                    <a:pt x="154124" y="261419"/>
                    <a:pt x="162857" y="268564"/>
                    <a:pt x="173004" y="268597"/>
                  </a:cubicBezTo>
                  <a:cubicBezTo>
                    <a:pt x="174526" y="268595"/>
                    <a:pt x="176043" y="268433"/>
                    <a:pt x="177531" y="268115"/>
                  </a:cubicBezTo>
                  <a:lnTo>
                    <a:pt x="240231" y="254640"/>
                  </a:lnTo>
                  <a:cubicBezTo>
                    <a:pt x="251789" y="252106"/>
                    <a:pt x="259143" y="240729"/>
                    <a:pt x="256706" y="229150"/>
                  </a:cubicBezTo>
                  <a:close/>
                  <a:moveTo>
                    <a:pt x="128588" y="35733"/>
                  </a:moveTo>
                  <a:cubicBezTo>
                    <a:pt x="128588" y="35653"/>
                    <a:pt x="128588" y="35613"/>
                    <a:pt x="128588" y="35613"/>
                  </a:cubicBezTo>
                  <a:lnTo>
                    <a:pt x="191274" y="22218"/>
                  </a:lnTo>
                  <a:lnTo>
                    <a:pt x="195734" y="43475"/>
                  </a:lnTo>
                  <a:lnTo>
                    <a:pt x="133048" y="56963"/>
                  </a:lnTo>
                  <a:close/>
                  <a:moveTo>
                    <a:pt x="137455" y="77886"/>
                  </a:moveTo>
                  <a:lnTo>
                    <a:pt x="200168" y="64424"/>
                  </a:lnTo>
                  <a:lnTo>
                    <a:pt x="204642" y="85722"/>
                  </a:lnTo>
                  <a:lnTo>
                    <a:pt x="141982" y="99196"/>
                  </a:lnTo>
                  <a:close/>
                  <a:moveTo>
                    <a:pt x="146349" y="120172"/>
                  </a:moveTo>
                  <a:lnTo>
                    <a:pt x="209062" y="106697"/>
                  </a:lnTo>
                  <a:lnTo>
                    <a:pt x="226877" y="191404"/>
                  </a:lnTo>
                  <a:lnTo>
                    <a:pt x="164163" y="204879"/>
                  </a:lnTo>
                  <a:close/>
                  <a:moveTo>
                    <a:pt x="235744" y="233691"/>
                  </a:moveTo>
                  <a:lnTo>
                    <a:pt x="173057" y="247085"/>
                  </a:lnTo>
                  <a:lnTo>
                    <a:pt x="168597" y="225828"/>
                  </a:lnTo>
                  <a:lnTo>
                    <a:pt x="231283" y="212340"/>
                  </a:lnTo>
                  <a:lnTo>
                    <a:pt x="235744" y="233570"/>
                  </a:lnTo>
                  <a:cubicBezTo>
                    <a:pt x="235744" y="233651"/>
                    <a:pt x="235744" y="233691"/>
                    <a:pt x="235744" y="233691"/>
                  </a:cubicBezTo>
                  <a:close/>
                  <a:moveTo>
                    <a:pt x="85725" y="11422"/>
                  </a:moveTo>
                  <a:lnTo>
                    <a:pt x="21431" y="11422"/>
                  </a:lnTo>
                  <a:cubicBezTo>
                    <a:pt x="9595" y="11422"/>
                    <a:pt x="0" y="21017"/>
                    <a:pt x="0" y="32853"/>
                  </a:cubicBezTo>
                  <a:lnTo>
                    <a:pt x="0" y="247166"/>
                  </a:lnTo>
                  <a:cubicBezTo>
                    <a:pt x="0" y="259002"/>
                    <a:pt x="9595" y="268597"/>
                    <a:pt x="21431" y="268597"/>
                  </a:cubicBezTo>
                  <a:lnTo>
                    <a:pt x="85725" y="268597"/>
                  </a:lnTo>
                  <a:cubicBezTo>
                    <a:pt x="97561" y="268597"/>
                    <a:pt x="107156" y="259002"/>
                    <a:pt x="107156" y="247166"/>
                  </a:cubicBezTo>
                  <a:lnTo>
                    <a:pt x="107156" y="32853"/>
                  </a:lnTo>
                  <a:cubicBezTo>
                    <a:pt x="107156" y="21017"/>
                    <a:pt x="97561" y="11422"/>
                    <a:pt x="85725" y="11422"/>
                  </a:cubicBezTo>
                  <a:close/>
                  <a:moveTo>
                    <a:pt x="21431" y="32853"/>
                  </a:moveTo>
                  <a:lnTo>
                    <a:pt x="85725" y="32853"/>
                  </a:lnTo>
                  <a:lnTo>
                    <a:pt x="85725" y="54285"/>
                  </a:lnTo>
                  <a:lnTo>
                    <a:pt x="21431" y="54285"/>
                  </a:lnTo>
                  <a:close/>
                  <a:moveTo>
                    <a:pt x="21431" y="75716"/>
                  </a:moveTo>
                  <a:lnTo>
                    <a:pt x="85725" y="75716"/>
                  </a:lnTo>
                  <a:lnTo>
                    <a:pt x="85725" y="204303"/>
                  </a:lnTo>
                  <a:lnTo>
                    <a:pt x="21431" y="204303"/>
                  </a:lnTo>
                  <a:close/>
                  <a:moveTo>
                    <a:pt x="85725" y="247166"/>
                  </a:moveTo>
                  <a:lnTo>
                    <a:pt x="21431" y="247166"/>
                  </a:lnTo>
                  <a:lnTo>
                    <a:pt x="21431" y="225735"/>
                  </a:lnTo>
                  <a:lnTo>
                    <a:pt x="85725" y="225735"/>
                  </a:lnTo>
                  <a:lnTo>
                    <a:pt x="85725" y="247166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6820376" y="2316956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5"/>
              </a:rPr>
              <a:t>北美理财太复杂？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76096" y="2542699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 u="none">
                <a:solidFill>
                  <a:srgbClr val="7C3AED"/>
                </a:solidFill>
                <a:latin typeface="Arial"/>
                <a:ea typeface="Microsoft YaHei"/>
                <a:cs typeface="Arial"/>
                <a:hlinkClick r:id="rId5"/>
              </a:rPr>
              <a:t>我用 Claude Code 搭了知识库</a:t>
            </a:r>
          </a:p>
        </p:txBody>
      </p:sp>
      <p:sp>
        <p:nvSpPr>
          <p:cNvPr id="48" name="Line 48"/>
          <p:cNvSpPr/>
          <p:nvPr/>
        </p:nvSpPr>
        <p:spPr>
          <a:xfrm>
            <a:off x="6400800" y="2819400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9525">
            <a:solidFill>
              <a:srgbClr val="DDD6FE"/>
            </a:solidFill>
          </a:ln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7003292" y="29617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非技术问题用 AI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71573" y="31713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工具解决的真实案例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781800" y="5029200"/>
            <a:ext cx="14859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7227570" y="51144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真实案例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067800" y="1466850"/>
            <a:ext cx="2628900" cy="4114800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14288">
            <a:solidFill>
              <a:srgbClr val="8B5CF6"/>
            </a:solidFill>
          </a:ln>
        </p:spPr>
        <p:txBody>
          <a:bodyPr/>
          <a:p/>
        </p:txBody>
      </p:sp>
      <p:sp>
        <p:nvSpPr>
          <p:cNvPr id="54" name="Rectangle 54"/>
          <p:cNvSpPr/>
          <p:nvPr/>
        </p:nvSpPr>
        <p:spPr>
          <a:xfrm>
            <a:off x="9067800" y="1466850"/>
            <a:ext cx="26289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55" name="Rectangle 55"/>
          <p:cNvSpPr/>
          <p:nvPr/>
        </p:nvSpPr>
        <p:spPr>
          <a:xfrm>
            <a:off x="9067800" y="1524000"/>
            <a:ext cx="2628900" cy="647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grpSp>
        <p:nvGrpSpPr>
          <p:cNvPr id="58" name="Group 58"/>
          <p:cNvGrpSpPr/>
          <p:nvPr/>
        </p:nvGrpSpPr>
        <p:grpSpPr>
          <a:xfrm>
            <a:off x="10204847" y="1689497"/>
            <a:ext cx="278606" cy="278606"/>
            <a:chOff x="10204847" y="1689497"/>
            <a:chExt cx="278606" cy="278606"/>
          </a:xfrm>
        </p:grpSpPr>
        <p:sp>
          <p:nvSpPr>
            <p:cNvPr id="56" name="Freeform 56"/>
            <p:cNvSpPr/>
            <p:nvPr/>
          </p:nvSpPr>
          <p:spPr>
            <a:xfrm>
              <a:off x="10215562" y="1700212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7175" y="128588"/>
                  </a:moveTo>
                  <a:cubicBezTo>
                    <a:pt x="257175" y="199604"/>
                    <a:pt x="199604" y="257175"/>
                    <a:pt x="128588" y="257175"/>
                  </a:cubicBezTo>
                  <a:cubicBezTo>
                    <a:pt x="57571" y="257175"/>
                    <a:pt x="0" y="199604"/>
                    <a:pt x="0" y="128588"/>
                  </a:cubicBezTo>
                  <a:cubicBezTo>
                    <a:pt x="0" y="57571"/>
                    <a:pt x="57571" y="0"/>
                    <a:pt x="128588" y="0"/>
                  </a:cubicBezTo>
                  <a:cubicBezTo>
                    <a:pt x="199604" y="0"/>
                    <a:pt x="257175" y="57571"/>
                    <a:pt x="257175" y="128588"/>
                  </a:cubicBezTo>
                  <a:close/>
                </a:path>
              </a:pathLst>
            </a:cu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0204847" y="1689497"/>
              <a:ext cx="278606" cy="278606"/>
            </a:xfrm>
            <a:custGeom>
              <a:avLst/>
              <a:gdLst/>
              <a:ahLst/>
              <a:cxnLst/>
              <a:rect l="l" t="t" r="r" b="b"/>
              <a:pathLst>
                <a:path w="278606" h="278606">
                  <a:moveTo>
                    <a:pt x="155377" y="208955"/>
                  </a:moveTo>
                  <a:cubicBezTo>
                    <a:pt x="155377" y="217832"/>
                    <a:pt x="148180" y="225028"/>
                    <a:pt x="139303" y="225028"/>
                  </a:cubicBezTo>
                  <a:cubicBezTo>
                    <a:pt x="130426" y="225028"/>
                    <a:pt x="123230" y="217832"/>
                    <a:pt x="123230" y="208955"/>
                  </a:cubicBezTo>
                  <a:cubicBezTo>
                    <a:pt x="123230" y="200078"/>
                    <a:pt x="130426" y="192881"/>
                    <a:pt x="139303" y="192881"/>
                  </a:cubicBezTo>
                  <a:cubicBezTo>
                    <a:pt x="148180" y="192881"/>
                    <a:pt x="155377" y="200078"/>
                    <a:pt x="155377" y="208955"/>
                  </a:cubicBezTo>
                  <a:close/>
                  <a:moveTo>
                    <a:pt x="139303" y="64294"/>
                  </a:moveTo>
                  <a:cubicBezTo>
                    <a:pt x="109755" y="64294"/>
                    <a:pt x="85725" y="85926"/>
                    <a:pt x="85725" y="112514"/>
                  </a:cubicBezTo>
                  <a:lnTo>
                    <a:pt x="85725" y="117872"/>
                  </a:lnTo>
                  <a:cubicBezTo>
                    <a:pt x="85725" y="123790"/>
                    <a:pt x="90523" y="128588"/>
                    <a:pt x="96441" y="128588"/>
                  </a:cubicBezTo>
                  <a:cubicBezTo>
                    <a:pt x="102359" y="128588"/>
                    <a:pt x="107156" y="123790"/>
                    <a:pt x="107156" y="117872"/>
                  </a:cubicBezTo>
                  <a:lnTo>
                    <a:pt x="107156" y="112514"/>
                  </a:lnTo>
                  <a:cubicBezTo>
                    <a:pt x="107156" y="97780"/>
                    <a:pt x="121582" y="85725"/>
                    <a:pt x="139303" y="85725"/>
                  </a:cubicBezTo>
                  <a:cubicBezTo>
                    <a:pt x="157024" y="85725"/>
                    <a:pt x="171450" y="97780"/>
                    <a:pt x="171450" y="112514"/>
                  </a:cubicBezTo>
                  <a:cubicBezTo>
                    <a:pt x="171450" y="127248"/>
                    <a:pt x="157024" y="139303"/>
                    <a:pt x="139303" y="139303"/>
                  </a:cubicBezTo>
                  <a:cubicBezTo>
                    <a:pt x="133385" y="139303"/>
                    <a:pt x="128588" y="144101"/>
                    <a:pt x="128588" y="150019"/>
                  </a:cubicBezTo>
                  <a:lnTo>
                    <a:pt x="128588" y="160734"/>
                  </a:lnTo>
                  <a:cubicBezTo>
                    <a:pt x="128588" y="166652"/>
                    <a:pt x="133385" y="171450"/>
                    <a:pt x="139303" y="171450"/>
                  </a:cubicBezTo>
                  <a:cubicBezTo>
                    <a:pt x="145221" y="171450"/>
                    <a:pt x="150019" y="166652"/>
                    <a:pt x="150019" y="160734"/>
                  </a:cubicBezTo>
                  <a:lnTo>
                    <a:pt x="150019" y="159770"/>
                  </a:lnTo>
                  <a:cubicBezTo>
                    <a:pt x="174450" y="155283"/>
                    <a:pt x="192881" y="135794"/>
                    <a:pt x="192881" y="112514"/>
                  </a:cubicBezTo>
                  <a:cubicBezTo>
                    <a:pt x="192881" y="85926"/>
                    <a:pt x="168851" y="64294"/>
                    <a:pt x="139303" y="64294"/>
                  </a:cubicBezTo>
                  <a:close/>
                  <a:moveTo>
                    <a:pt x="278606" y="139303"/>
                  </a:moveTo>
                  <a:cubicBezTo>
                    <a:pt x="278606" y="216238"/>
                    <a:pt x="216238" y="278606"/>
                    <a:pt x="139303" y="278606"/>
                  </a:cubicBezTo>
                  <a:cubicBezTo>
                    <a:pt x="62368" y="278606"/>
                    <a:pt x="0" y="216238"/>
                    <a:pt x="0" y="139303"/>
                  </a:cubicBezTo>
                  <a:cubicBezTo>
                    <a:pt x="0" y="62368"/>
                    <a:pt x="62368" y="0"/>
                    <a:pt x="139303" y="0"/>
                  </a:cubicBezTo>
                  <a:cubicBezTo>
                    <a:pt x="216204" y="81"/>
                    <a:pt x="278525" y="62402"/>
                    <a:pt x="278606" y="139303"/>
                  </a:cubicBezTo>
                  <a:close/>
                  <a:moveTo>
                    <a:pt x="257175" y="139303"/>
                  </a:moveTo>
                  <a:cubicBezTo>
                    <a:pt x="257175" y="74204"/>
                    <a:pt x="204402" y="21431"/>
                    <a:pt x="139303" y="21431"/>
                  </a:cubicBezTo>
                  <a:cubicBezTo>
                    <a:pt x="74204" y="21431"/>
                    <a:pt x="21431" y="74204"/>
                    <a:pt x="21431" y="139303"/>
                  </a:cubicBezTo>
                  <a:cubicBezTo>
                    <a:pt x="21431" y="204402"/>
                    <a:pt x="74204" y="257175"/>
                    <a:pt x="139303" y="257175"/>
                  </a:cubicBezTo>
                  <a:cubicBezTo>
                    <a:pt x="204371" y="257101"/>
                    <a:pt x="257101" y="204371"/>
                    <a:pt x="257175" y="139303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sp>
        <p:nvSpPr>
          <p:cNvPr id="59" name="TextBox 59"/>
          <p:cNvSpPr txBox="1"/>
          <p:nvPr/>
        </p:nvSpPr>
        <p:spPr>
          <a:xfrm>
            <a:off x="9595929" y="2316956"/>
            <a:ext cx="15726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 u="none">
                <a:solidFill>
                  <a:srgbClr val="1C1917"/>
                </a:solidFill>
                <a:latin typeface="Arial"/>
                <a:ea typeface="Microsoft YaHei"/>
                <a:cs typeface="Arial"/>
                <a:hlinkClick r:id="rId6"/>
              </a:rPr>
              <a:t>龙虾热 (OpenClaw)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942671" y="25426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 u="none">
                <a:solidFill>
                  <a:srgbClr val="7C3AED"/>
                </a:solidFill>
                <a:latin typeface="Arial"/>
                <a:ea typeface="Microsoft YaHei"/>
                <a:cs typeface="Arial"/>
                <a:hlinkClick r:id="rId6"/>
              </a:rPr>
              <a:t>热的是什么？</a:t>
            </a:r>
          </a:p>
        </p:txBody>
      </p:sp>
      <p:sp>
        <p:nvSpPr>
          <p:cNvPr id="61" name="Line 61"/>
          <p:cNvSpPr/>
          <p:nvPr/>
        </p:nvSpPr>
        <p:spPr>
          <a:xfrm>
            <a:off x="9258300" y="2819400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9525">
            <a:solidFill>
              <a:srgbClr val="DDD6FE"/>
            </a:solidFill>
          </a:ln>
        </p:spPr>
        <p:txBody>
          <a:bodyPr/>
          <a:p/>
        </p:txBody>
      </p:sp>
      <p:sp>
        <p:nvSpPr>
          <p:cNvPr id="62" name="TextBox 62"/>
          <p:cNvSpPr txBox="1"/>
          <p:nvPr/>
        </p:nvSpPr>
        <p:spPr>
          <a:xfrm>
            <a:off x="9871472" y="29617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新工具爆火时，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657874" y="31713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该如何判断要不要上车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639300" y="5029200"/>
            <a:ext cx="14859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txBody>
          <a:bodyPr/>
          <a:p/>
        </p:txBody>
      </p:sp>
      <p:sp>
        <p:nvSpPr>
          <p:cNvPr id="65" name="TextBox 65"/>
          <p:cNvSpPr txBox="1"/>
          <p:nvPr/>
        </p:nvSpPr>
        <p:spPr>
          <a:xfrm>
            <a:off x="10156269" y="51144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判断力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701606" y="5871210"/>
            <a:ext cx="4788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不是技术人，AI 一样能帮到你。这四篇，找到你的问题就行。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1392781" y="1614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52425" y="218447"/>
            <a:ext cx="230349" cy="238753"/>
            <a:chOff x="352425" y="218447"/>
            <a:chExt cx="230349" cy="238753"/>
          </a:xfrm>
        </p:grpSpPr>
        <p:sp>
          <p:nvSpPr>
            <p:cNvPr id="6" name="Freeform 6"/>
            <p:cNvSpPr/>
            <p:nvPr/>
          </p:nvSpPr>
          <p:spPr>
            <a:xfrm>
              <a:off x="361950" y="228286"/>
              <a:ext cx="183654" cy="181289"/>
            </a:xfrm>
            <a:custGeom>
              <a:avLst/>
              <a:gdLst/>
              <a:ahLst/>
              <a:cxnLst/>
              <a:rect l="l" t="t" r="r" b="b"/>
              <a:pathLst>
                <a:path w="183654" h="181289">
                  <a:moveTo>
                    <a:pt x="0" y="47939"/>
                  </a:moveTo>
                  <a:lnTo>
                    <a:pt x="76200" y="47939"/>
                  </a:lnTo>
                  <a:lnTo>
                    <a:pt x="76200" y="181289"/>
                  </a:lnTo>
                  <a:lnTo>
                    <a:pt x="0" y="181289"/>
                  </a:lnTo>
                  <a:close/>
                  <a:moveTo>
                    <a:pt x="169831" y="7922"/>
                  </a:moveTo>
                  <a:cubicBezTo>
                    <a:pt x="169319" y="5437"/>
                    <a:pt x="167837" y="3260"/>
                    <a:pt x="165713" y="1872"/>
                  </a:cubicBezTo>
                  <a:cubicBezTo>
                    <a:pt x="163590" y="484"/>
                    <a:pt x="161001" y="0"/>
                    <a:pt x="158520" y="528"/>
                  </a:cubicBezTo>
                  <a:lnTo>
                    <a:pt x="102787" y="12434"/>
                  </a:lnTo>
                  <a:cubicBezTo>
                    <a:pt x="97629" y="13574"/>
                    <a:pt x="94358" y="18663"/>
                    <a:pt x="95464" y="23828"/>
                  </a:cubicBezTo>
                  <a:lnTo>
                    <a:pt x="109287" y="89610"/>
                  </a:lnTo>
                  <a:lnTo>
                    <a:pt x="183654" y="73632"/>
                  </a:ln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352425" y="218447"/>
              <a:ext cx="230349" cy="238753"/>
            </a:xfrm>
            <a:custGeom>
              <a:avLst/>
              <a:gdLst/>
              <a:ahLst/>
              <a:cxnLst/>
              <a:rect l="l" t="t" r="r" b="b"/>
              <a:pathLst>
                <a:path w="230349" h="238753">
                  <a:moveTo>
                    <a:pt x="228183" y="203689"/>
                  </a:moveTo>
                  <a:lnTo>
                    <a:pt x="188666" y="15808"/>
                  </a:lnTo>
                  <a:cubicBezTo>
                    <a:pt x="187634" y="10846"/>
                    <a:pt x="184667" y="6500"/>
                    <a:pt x="180421" y="3731"/>
                  </a:cubicBezTo>
                  <a:cubicBezTo>
                    <a:pt x="176176" y="963"/>
                    <a:pt x="171002" y="0"/>
                    <a:pt x="166045" y="1057"/>
                  </a:cubicBezTo>
                  <a:lnTo>
                    <a:pt x="110311" y="13034"/>
                  </a:lnTo>
                  <a:cubicBezTo>
                    <a:pt x="100051" y="15281"/>
                    <a:pt x="93516" y="25375"/>
                    <a:pt x="95667" y="35656"/>
                  </a:cubicBezTo>
                  <a:lnTo>
                    <a:pt x="135184" y="223537"/>
                  </a:lnTo>
                  <a:cubicBezTo>
                    <a:pt x="136999" y="232372"/>
                    <a:pt x="144761" y="238723"/>
                    <a:pt x="153781" y="238753"/>
                  </a:cubicBezTo>
                  <a:cubicBezTo>
                    <a:pt x="155134" y="238751"/>
                    <a:pt x="156483" y="238607"/>
                    <a:pt x="157805" y="238324"/>
                  </a:cubicBezTo>
                  <a:lnTo>
                    <a:pt x="213539" y="226347"/>
                  </a:lnTo>
                  <a:cubicBezTo>
                    <a:pt x="223812" y="224095"/>
                    <a:pt x="230349" y="213981"/>
                    <a:pt x="228183" y="203689"/>
                  </a:cubicBezTo>
                  <a:close/>
                  <a:moveTo>
                    <a:pt x="114300" y="31763"/>
                  </a:moveTo>
                  <a:cubicBezTo>
                    <a:pt x="114300" y="31691"/>
                    <a:pt x="114300" y="31656"/>
                    <a:pt x="114300" y="31656"/>
                  </a:cubicBezTo>
                  <a:lnTo>
                    <a:pt x="170021" y="19749"/>
                  </a:lnTo>
                  <a:lnTo>
                    <a:pt x="173986" y="38645"/>
                  </a:lnTo>
                  <a:lnTo>
                    <a:pt x="118265" y="50634"/>
                  </a:lnTo>
                  <a:close/>
                  <a:moveTo>
                    <a:pt x="122182" y="69232"/>
                  </a:moveTo>
                  <a:lnTo>
                    <a:pt x="177927" y="57266"/>
                  </a:lnTo>
                  <a:lnTo>
                    <a:pt x="181904" y="76197"/>
                  </a:lnTo>
                  <a:lnTo>
                    <a:pt x="126206" y="88175"/>
                  </a:lnTo>
                  <a:close/>
                  <a:moveTo>
                    <a:pt x="130088" y="106820"/>
                  </a:moveTo>
                  <a:lnTo>
                    <a:pt x="185833" y="94842"/>
                  </a:lnTo>
                  <a:lnTo>
                    <a:pt x="201668" y="170137"/>
                  </a:lnTo>
                  <a:lnTo>
                    <a:pt x="145923" y="182115"/>
                  </a:lnTo>
                  <a:close/>
                  <a:moveTo>
                    <a:pt x="209550" y="207725"/>
                  </a:moveTo>
                  <a:lnTo>
                    <a:pt x="153829" y="219632"/>
                  </a:lnTo>
                  <a:lnTo>
                    <a:pt x="149864" y="200736"/>
                  </a:lnTo>
                  <a:lnTo>
                    <a:pt x="205585" y="188747"/>
                  </a:lnTo>
                  <a:lnTo>
                    <a:pt x="209550" y="207618"/>
                  </a:lnTo>
                  <a:cubicBezTo>
                    <a:pt x="209550" y="207690"/>
                    <a:pt x="209550" y="207725"/>
                    <a:pt x="209550" y="207725"/>
                  </a:cubicBezTo>
                  <a:close/>
                  <a:moveTo>
                    <a:pt x="76200" y="10153"/>
                  </a:moveTo>
                  <a:lnTo>
                    <a:pt x="19050" y="10153"/>
                  </a:lnTo>
                  <a:cubicBezTo>
                    <a:pt x="8529" y="10153"/>
                    <a:pt x="0" y="18682"/>
                    <a:pt x="0" y="29203"/>
                  </a:cubicBezTo>
                  <a:lnTo>
                    <a:pt x="0" y="219703"/>
                  </a:lnTo>
                  <a:cubicBezTo>
                    <a:pt x="0" y="230224"/>
                    <a:pt x="8529" y="238753"/>
                    <a:pt x="19050" y="238753"/>
                  </a:cubicBezTo>
                  <a:lnTo>
                    <a:pt x="76200" y="238753"/>
                  </a:lnTo>
                  <a:cubicBezTo>
                    <a:pt x="86721" y="238753"/>
                    <a:pt x="95250" y="230224"/>
                    <a:pt x="95250" y="219703"/>
                  </a:cubicBezTo>
                  <a:lnTo>
                    <a:pt x="95250" y="29203"/>
                  </a:lnTo>
                  <a:cubicBezTo>
                    <a:pt x="95250" y="18682"/>
                    <a:pt x="86721" y="10153"/>
                    <a:pt x="76200" y="10153"/>
                  </a:cubicBezTo>
                  <a:close/>
                  <a:moveTo>
                    <a:pt x="19050" y="29203"/>
                  </a:moveTo>
                  <a:lnTo>
                    <a:pt x="76200" y="29203"/>
                  </a:lnTo>
                  <a:lnTo>
                    <a:pt x="76200" y="48253"/>
                  </a:lnTo>
                  <a:lnTo>
                    <a:pt x="19050" y="48253"/>
                  </a:lnTo>
                  <a:close/>
                  <a:moveTo>
                    <a:pt x="19050" y="67303"/>
                  </a:moveTo>
                  <a:lnTo>
                    <a:pt x="76200" y="67303"/>
                  </a:lnTo>
                  <a:lnTo>
                    <a:pt x="76200" y="181603"/>
                  </a:lnTo>
                  <a:lnTo>
                    <a:pt x="19050" y="181603"/>
                  </a:lnTo>
                  <a:close/>
                  <a:moveTo>
                    <a:pt x="76200" y="219703"/>
                  </a:moveTo>
                  <a:lnTo>
                    <a:pt x="19050" y="219703"/>
                  </a:lnTo>
                  <a:lnTo>
                    <a:pt x="19050" y="200653"/>
                  </a:lnTo>
                  <a:lnTo>
                    <a:pt x="76200" y="200653"/>
                  </a:lnTo>
                  <a:lnTo>
                    <a:pt x="76200" y="219703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681990" y="224790"/>
            <a:ext cx="2640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 篇文章，完整索引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2468" y="4852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收藏此页，需要时随时来找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04800" y="781050"/>
            <a:ext cx="66675" cy="17145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425768" y="809149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地图一：系统学 AI 编程（8篇）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5770" y="1007745"/>
            <a:ext cx="25268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3"/>
              </a:rPr>
              <a:t>1. 引言 Vibe Coding - AI 时代的编程新范式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5770" y="1160145"/>
            <a:ext cx="12387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4"/>
              </a:rPr>
              <a:t>2. Claude Code 概述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5770" y="13125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5"/>
              </a:rPr>
              <a:t>3. Claude Code 项目开发全流程实战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5770" y="1464945"/>
            <a:ext cx="21062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6"/>
              </a:rPr>
              <a:t>4. 软件开发方法论在 AI 时代的演进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5770" y="1617345"/>
            <a:ext cx="20273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7"/>
              </a:rPr>
              <a:t>5. Claude Code 的适用场景与边界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5770" y="1769745"/>
            <a:ext cx="2290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8"/>
              </a:rPr>
              <a:t>6. Claude Code 项目开发的总结与展望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5770" y="1922145"/>
            <a:ext cx="2553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9"/>
              </a:rPr>
              <a:t>7. 从 Vibe Coding 到 SDD——OpenSpec 实战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5770" y="2074545"/>
            <a:ext cx="3078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0"/>
              </a:rPr>
              <a:t>8. Claude Code 实战使用心得（理财系统完整复盘）</a:t>
            </a:r>
          </a:p>
        </p:txBody>
      </p:sp>
      <p:sp>
        <p:nvSpPr>
          <p:cNvPr id="21" name="Line 21"/>
          <p:cNvSpPr/>
          <p:nvPr/>
        </p:nvSpPr>
        <p:spPr>
          <a:xfrm>
            <a:off x="304800" y="228600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22" name="Rectangle 22"/>
          <p:cNvSpPr/>
          <p:nvPr/>
        </p:nvSpPr>
        <p:spPr>
          <a:xfrm>
            <a:off x="304800" y="2381250"/>
            <a:ext cx="66675" cy="1714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425768" y="2409349"/>
            <a:ext cx="26712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地图二：AI 时代软件工程方法论（6篇）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5770" y="2607945"/>
            <a:ext cx="23494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1"/>
              </a:rPr>
              <a:t>9. 聊聊 AI/Vibe Coding 的十倍效率提升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770" y="2760345"/>
            <a:ext cx="30263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2"/>
              </a:rPr>
              <a:t>10. 敏捷二十年，AI 一年：那些历经考验的核心原则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770" y="2912745"/>
            <a:ext cx="3381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3"/>
              </a:rPr>
              <a:t>11. OpenSpec × Superpowers：3 小时跑完一次 SDD 实战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5770" y="3065145"/>
            <a:ext cx="39793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4"/>
              </a:rPr>
              <a:t>12. 三周之后：OpenSpec + Superpowers 的五个问题和一个 Plugin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5770" y="3217545"/>
            <a:ext cx="3381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5"/>
              </a:rPr>
              <a:t>13. 构建 AI Agent 系统：从复杂 Skills 到企业级 AI Agent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5770" y="3369945"/>
            <a:ext cx="34667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6"/>
              </a:rPr>
              <a:t>14. 驯服 AI Agent 的不确定性：从简历筛选系统得到的教训</a:t>
            </a:r>
          </a:p>
        </p:txBody>
      </p:sp>
      <p:sp>
        <p:nvSpPr>
          <p:cNvPr id="30" name="Line 30"/>
          <p:cNvSpPr/>
          <p:nvPr/>
        </p:nvSpPr>
        <p:spPr>
          <a:xfrm>
            <a:off x="304800" y="358140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31" name="Rectangle 31"/>
          <p:cNvSpPr/>
          <p:nvPr/>
        </p:nvSpPr>
        <p:spPr>
          <a:xfrm>
            <a:off x="304800" y="3676650"/>
            <a:ext cx="66675" cy="1714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425768" y="3704749"/>
            <a:ext cx="22226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地图三：AI 时代职业发展（4篇）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5770" y="3903345"/>
            <a:ext cx="31578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7"/>
              </a:rPr>
              <a:t>15. AI 时代，经验越丰富的工程师反而越容易被淘汰？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5770" y="4055745"/>
            <a:ext cx="25466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8"/>
              </a:rPr>
              <a:t>16. AI 时代，Junior 工程师没有未来了吗？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5770" y="4208145"/>
            <a:ext cx="31578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19"/>
              </a:rPr>
              <a:t>17. AI 时代的软件开发经理：管理杂务缩减到三分之一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5770" y="4360545"/>
            <a:ext cx="33352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20"/>
              </a:rPr>
              <a:t>18. AI 时代，运维工程师如何不被淘汰？Ops → Platform</a:t>
            </a:r>
          </a:p>
        </p:txBody>
      </p:sp>
      <p:sp>
        <p:nvSpPr>
          <p:cNvPr id="37" name="Line 37"/>
          <p:cNvSpPr/>
          <p:nvPr/>
        </p:nvSpPr>
        <p:spPr>
          <a:xfrm>
            <a:off x="304800" y="457200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38" name="Rectangle 38"/>
          <p:cNvSpPr/>
          <p:nvPr/>
        </p:nvSpPr>
        <p:spPr>
          <a:xfrm>
            <a:off x="304800" y="4667250"/>
            <a:ext cx="66675" cy="1714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425768" y="469534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地图四：非技术人的 AI 之路（4篇）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5770" y="4893945"/>
            <a:ext cx="19748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21"/>
              </a:rPr>
              <a:t>19. AI 时代，普通人的杠杆在哪里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45770" y="5046345"/>
            <a:ext cx="27043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22"/>
              </a:rPr>
              <a:t>20. 善用 AI 的三个心法：为什么有人越用越好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5770" y="5198745"/>
            <a:ext cx="36375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23"/>
              </a:rPr>
              <a:t>21. 北美理财太复杂？我用 Claude Code 搭了 LLM Wiki 知识库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5770" y="5351145"/>
            <a:ext cx="23757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 u="none">
                <a:solidFill>
                  <a:srgbClr val="78716C"/>
                </a:solidFill>
                <a:latin typeface="Arial"/>
                <a:ea typeface="Microsoft YaHei"/>
                <a:cs typeface="Arial"/>
                <a:hlinkClick r:id="rId24"/>
              </a:rPr>
              <a:t>22. 龙虾热 (OpenClaw)，热的是什么？</a:t>
            </a:r>
          </a:p>
        </p:txBody>
      </p:sp>
      <p:sp>
        <p:nvSpPr>
          <p:cNvPr id="44" name="Line 44"/>
          <p:cNvSpPr/>
          <p:nvPr/>
        </p:nvSpPr>
        <p:spPr>
          <a:xfrm>
            <a:off x="304800" y="561975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grpSp>
        <p:nvGrpSpPr>
          <p:cNvPr id="47" name="Group 47"/>
          <p:cNvGrpSpPr/>
          <p:nvPr/>
        </p:nvGrpSpPr>
        <p:grpSpPr>
          <a:xfrm>
            <a:off x="326231" y="5765771"/>
            <a:ext cx="128592" cy="108009"/>
            <a:chOff x="326231" y="5765771"/>
            <a:chExt cx="128592" cy="108009"/>
          </a:xfrm>
        </p:grpSpPr>
        <p:sp>
          <p:nvSpPr>
            <p:cNvPr id="45" name="Freeform 45"/>
            <p:cNvSpPr/>
            <p:nvPr/>
          </p:nvSpPr>
          <p:spPr>
            <a:xfrm>
              <a:off x="401241" y="5771555"/>
              <a:ext cx="48220" cy="96441"/>
            </a:xfrm>
            <a:custGeom>
              <a:avLst/>
              <a:gdLst/>
              <a:ahLst/>
              <a:cxnLst/>
              <a:rect l="l" t="t" r="r" b="b"/>
              <a:pathLst>
                <a:path w="48220" h="96441">
                  <a:moveTo>
                    <a:pt x="48220" y="48220"/>
                  </a:moveTo>
                  <a:lnTo>
                    <a:pt x="0" y="96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326231" y="5765771"/>
              <a:ext cx="128592" cy="108009"/>
            </a:xfrm>
            <a:custGeom>
              <a:avLst/>
              <a:gdLst/>
              <a:ahLst/>
              <a:cxnLst/>
              <a:rect l="l" t="t" r="r" b="b"/>
              <a:pathLst>
                <a:path w="128592" h="108009">
                  <a:moveTo>
                    <a:pt x="127020" y="50214"/>
                  </a:moveTo>
                  <a:lnTo>
                    <a:pt x="78800" y="1993"/>
                  </a:lnTo>
                  <a:cubicBezTo>
                    <a:pt x="77268" y="459"/>
                    <a:pt x="74962" y="0"/>
                    <a:pt x="72958" y="830"/>
                  </a:cubicBezTo>
                  <a:cubicBezTo>
                    <a:pt x="70955" y="1660"/>
                    <a:pt x="69650" y="3616"/>
                    <a:pt x="69652" y="5784"/>
                  </a:cubicBezTo>
                  <a:lnTo>
                    <a:pt x="69652" y="48646"/>
                  </a:lnTo>
                  <a:lnTo>
                    <a:pt x="5358" y="48646"/>
                  </a:lnTo>
                  <a:cubicBezTo>
                    <a:pt x="2399" y="48646"/>
                    <a:pt x="0" y="51045"/>
                    <a:pt x="0" y="54004"/>
                  </a:cubicBezTo>
                  <a:cubicBezTo>
                    <a:pt x="0" y="56963"/>
                    <a:pt x="2399" y="59362"/>
                    <a:pt x="5358" y="59362"/>
                  </a:cubicBezTo>
                  <a:lnTo>
                    <a:pt x="69652" y="59362"/>
                  </a:lnTo>
                  <a:lnTo>
                    <a:pt x="69652" y="102225"/>
                  </a:lnTo>
                  <a:cubicBezTo>
                    <a:pt x="69650" y="104393"/>
                    <a:pt x="70955" y="106349"/>
                    <a:pt x="72958" y="107179"/>
                  </a:cubicBezTo>
                  <a:cubicBezTo>
                    <a:pt x="74962" y="108009"/>
                    <a:pt x="77268" y="107549"/>
                    <a:pt x="78800" y="106015"/>
                  </a:cubicBezTo>
                  <a:lnTo>
                    <a:pt x="127020" y="57795"/>
                  </a:lnTo>
                  <a:cubicBezTo>
                    <a:pt x="128026" y="56790"/>
                    <a:pt x="128592" y="55426"/>
                    <a:pt x="128592" y="54004"/>
                  </a:cubicBezTo>
                  <a:cubicBezTo>
                    <a:pt x="128592" y="52582"/>
                    <a:pt x="128026" y="51219"/>
                    <a:pt x="127020" y="50214"/>
                  </a:cubicBezTo>
                  <a:close/>
                  <a:moveTo>
                    <a:pt x="80367" y="89292"/>
                  </a:moveTo>
                  <a:lnTo>
                    <a:pt x="80367" y="18716"/>
                  </a:lnTo>
                  <a:lnTo>
                    <a:pt x="115655" y="54004"/>
                  </a:ln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521018" y="5762149"/>
            <a:ext cx="30080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原文：juejin.cn/post/7639624625790205967</a:t>
            </a:r>
          </a:p>
        </p:txBody>
      </p:sp>
      <p:sp>
        <p:nvSpPr>
          <p:cNvPr id="49" name="Line 49"/>
          <p:cNvSpPr/>
          <p:nvPr/>
        </p:nvSpPr>
        <p:spPr>
          <a:xfrm>
            <a:off x="5810250" y="781050"/>
            <a:ext cx="9525" cy="5410200"/>
          </a:xfrm>
          <a:custGeom>
            <a:avLst/>
            <a:gdLst/>
            <a:ahLst/>
            <a:cxnLst/>
            <a:rect l="l" t="t" r="r" b="b"/>
            <a:pathLst>
              <a:path w="9525" h="5410200">
                <a:moveTo>
                  <a:pt x="0" y="0"/>
                </a:moveTo>
                <a:lnTo>
                  <a:pt x="0" y="541020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50" name="Rectangle 50"/>
          <p:cNvSpPr/>
          <p:nvPr/>
        </p:nvSpPr>
        <p:spPr>
          <a:xfrm>
            <a:off x="6038850" y="781050"/>
            <a:ext cx="5848350" cy="3771900"/>
          </a:xfrm>
          <a:prstGeom prst="roundRect">
            <a:avLst>
              <a:gd name="adj" fmla="val 4040"/>
            </a:avLst>
          </a:prstGeom>
          <a:solidFill>
            <a:srgbClr val="FFF3E0"/>
          </a:solidFill>
          <a:ln w="14288">
            <a:solidFill>
              <a:srgbClr val="E8640A"/>
            </a:solidFill>
          </a:ln>
        </p:spPr>
        <p:txBody>
          <a:bodyPr/>
          <a:p/>
        </p:txBody>
      </p:sp>
      <p:sp>
        <p:nvSpPr>
          <p:cNvPr id="51" name="TextBox 51"/>
          <p:cNvSpPr txBox="1"/>
          <p:nvPr/>
        </p:nvSpPr>
        <p:spPr>
          <a:xfrm>
            <a:off x="8227866" y="1011555"/>
            <a:ext cx="14703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22 篇文章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03181" y="1381125"/>
            <a:ext cx="13196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4 张读者地图</a:t>
            </a:r>
          </a:p>
        </p:txBody>
      </p:sp>
      <p:sp>
        <p:nvSpPr>
          <p:cNvPr id="53" name="Line 53"/>
          <p:cNvSpPr/>
          <p:nvPr/>
        </p:nvSpPr>
        <p:spPr>
          <a:xfrm>
            <a:off x="6477000" y="173355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sp>
        <p:nvSpPr>
          <p:cNvPr id="54" name="Ellipse 54"/>
          <p:cNvSpPr/>
          <p:nvPr/>
        </p:nvSpPr>
        <p:spPr>
          <a:xfrm>
            <a:off x="6972300" y="1905000"/>
            <a:ext cx="838200" cy="838200"/>
          </a:xfrm>
          <a:prstGeom prst="ellipse">
            <a:avLst/>
          </a:prstGeom>
          <a:solidFill>
            <a:srgbClr val="E8640A"/>
          </a:solidFill>
          <a:ln>
            <a:noFill/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7259707" y="200787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314248" y="2379345"/>
            <a:ext cx="154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BF5"/>
                </a:solidFill>
                <a:latin typeface="Arial"/>
                <a:ea typeface="Microsoft YaHei"/>
                <a:cs typeface="Arial"/>
              </a:rPr>
              <a:t>篇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136535" y="28013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 编程</a:t>
            </a:r>
          </a:p>
        </p:txBody>
      </p:sp>
      <p:sp>
        <p:nvSpPr>
          <p:cNvPr id="58" name="Ellipse 58"/>
          <p:cNvSpPr/>
          <p:nvPr/>
        </p:nvSpPr>
        <p:spPr>
          <a:xfrm>
            <a:off x="10115550" y="1905000"/>
            <a:ext cx="838200" cy="838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p/>
        </p:txBody>
      </p:sp>
      <p:sp>
        <p:nvSpPr>
          <p:cNvPr id="59" name="TextBox 59"/>
          <p:cNvSpPr txBox="1"/>
          <p:nvPr/>
        </p:nvSpPr>
        <p:spPr>
          <a:xfrm>
            <a:off x="10402957" y="200787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457497" y="2379345"/>
            <a:ext cx="154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BF5"/>
                </a:solidFill>
                <a:latin typeface="Arial"/>
                <a:ea typeface="Microsoft YaHei"/>
                <a:cs typeface="Arial"/>
              </a:rPr>
              <a:t>篇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137934" y="28013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工程方法论</a:t>
            </a:r>
          </a:p>
        </p:txBody>
      </p:sp>
      <p:sp>
        <p:nvSpPr>
          <p:cNvPr id="62" name="Ellipse 62"/>
          <p:cNvSpPr/>
          <p:nvPr/>
        </p:nvSpPr>
        <p:spPr>
          <a:xfrm>
            <a:off x="6972300" y="3257550"/>
            <a:ext cx="838200" cy="838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p/>
        </p:txBody>
      </p:sp>
      <p:sp>
        <p:nvSpPr>
          <p:cNvPr id="63" name="TextBox 63"/>
          <p:cNvSpPr txBox="1"/>
          <p:nvPr/>
        </p:nvSpPr>
        <p:spPr>
          <a:xfrm>
            <a:off x="7259707" y="336042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314248" y="3731895"/>
            <a:ext cx="154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BF5"/>
                </a:solidFill>
                <a:latin typeface="Arial"/>
                <a:ea typeface="Microsoft YaHei"/>
                <a:cs typeface="Arial"/>
              </a:rPr>
              <a:t>篇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071360" y="41538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职业发展</a:t>
            </a:r>
          </a:p>
        </p:txBody>
      </p:sp>
      <p:sp>
        <p:nvSpPr>
          <p:cNvPr id="66" name="Ellipse 66"/>
          <p:cNvSpPr/>
          <p:nvPr/>
        </p:nvSpPr>
        <p:spPr>
          <a:xfrm>
            <a:off x="10115550" y="3257550"/>
            <a:ext cx="838200" cy="838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p/>
        </p:txBody>
      </p:sp>
      <p:sp>
        <p:nvSpPr>
          <p:cNvPr id="67" name="TextBox 67"/>
          <p:cNvSpPr txBox="1"/>
          <p:nvPr/>
        </p:nvSpPr>
        <p:spPr>
          <a:xfrm>
            <a:off x="10402957" y="336042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457497" y="3731895"/>
            <a:ext cx="154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BF5"/>
                </a:solidFill>
                <a:latin typeface="Arial"/>
                <a:ea typeface="Microsoft YaHei"/>
                <a:cs typeface="Arial"/>
              </a:rPr>
              <a:t>篇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214610" y="41538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非技术人</a:t>
            </a:r>
          </a:p>
        </p:txBody>
      </p:sp>
      <p:sp>
        <p:nvSpPr>
          <p:cNvPr id="70" name="Rectangle 70"/>
          <p:cNvSpPr/>
          <p:nvPr/>
        </p:nvSpPr>
        <p:spPr>
          <a:xfrm>
            <a:off x="6038850" y="4705350"/>
            <a:ext cx="5848350" cy="1295400"/>
          </a:xfrm>
          <a:prstGeom prst="roundRect">
            <a:avLst>
              <a:gd name="adj" fmla="val 10294"/>
            </a:avLst>
          </a:prstGeom>
          <a:solidFill>
            <a:srgbClr val="FFFBF5"/>
          </a:solidFill>
          <a:ln w="14288">
            <a:solidFill>
              <a:srgbClr val="E7D5C0"/>
            </a:solidFill>
          </a:ln>
        </p:spPr>
        <p:txBody>
          <a:bodyPr/>
          <a:p/>
        </p:txBody>
      </p:sp>
      <p:sp>
        <p:nvSpPr>
          <p:cNvPr id="71" name="TextBox 71"/>
          <p:cNvSpPr txBox="1"/>
          <p:nvPr/>
        </p:nvSpPr>
        <p:spPr>
          <a:xfrm>
            <a:off x="7509728" y="4948714"/>
            <a:ext cx="29065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这 22 篇文章的价值不是让你看完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015764" y="5215414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是让你在需要时能找到</a:t>
            </a:r>
          </a:p>
        </p:txBody>
      </p:sp>
      <p:sp>
        <p:nvSpPr>
          <p:cNvPr id="73" name="Line 73"/>
          <p:cNvSpPr/>
          <p:nvPr/>
        </p:nvSpPr>
        <p:spPr>
          <a:xfrm>
            <a:off x="6477000" y="552450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  <p:txBody>
          <a:bodyPr/>
          <a:p/>
        </p:txBody>
      </p:sp>
      <p:grpSp>
        <p:nvGrpSpPr>
          <p:cNvPr id="76" name="Group 76"/>
          <p:cNvGrpSpPr/>
          <p:nvPr/>
        </p:nvGrpSpPr>
        <p:grpSpPr>
          <a:xfrm>
            <a:off x="6304359" y="5656659"/>
            <a:ext cx="154781" cy="154781"/>
            <a:chOff x="6304359" y="5656659"/>
            <a:chExt cx="154781" cy="154781"/>
          </a:xfrm>
        </p:grpSpPr>
        <p:sp>
          <p:nvSpPr>
            <p:cNvPr id="74" name="Freeform 74"/>
            <p:cNvSpPr/>
            <p:nvPr/>
          </p:nvSpPr>
          <p:spPr>
            <a:xfrm>
              <a:off x="6310312" y="5662612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10B981">
                <a:alpha val="20000"/>
              </a:srgbClr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6304359" y="5656659"/>
              <a:ext cx="154781" cy="154781"/>
            </a:xfrm>
            <a:custGeom>
              <a:avLst/>
              <a:gdLst/>
              <a:ahLst/>
              <a:cxnLst/>
              <a:rect l="l" t="t" r="r" b="b"/>
              <a:pathLst>
                <a:path w="154781" h="154781">
                  <a:moveTo>
                    <a:pt x="111368" y="55319"/>
                  </a:moveTo>
                  <a:cubicBezTo>
                    <a:pt x="112486" y="56436"/>
                    <a:pt x="113114" y="57951"/>
                    <a:pt x="113114" y="59531"/>
                  </a:cubicBezTo>
                  <a:cubicBezTo>
                    <a:pt x="113114" y="61111"/>
                    <a:pt x="112486" y="62626"/>
                    <a:pt x="111368" y="63743"/>
                  </a:cubicBezTo>
                  <a:lnTo>
                    <a:pt x="69696" y="105415"/>
                  </a:lnTo>
                  <a:cubicBezTo>
                    <a:pt x="68580" y="106533"/>
                    <a:pt x="67064" y="107161"/>
                    <a:pt x="65484" y="107161"/>
                  </a:cubicBezTo>
                  <a:cubicBezTo>
                    <a:pt x="63904" y="107161"/>
                    <a:pt x="62389" y="106533"/>
                    <a:pt x="61273" y="105415"/>
                  </a:cubicBezTo>
                  <a:lnTo>
                    <a:pt x="43413" y="87556"/>
                  </a:lnTo>
                  <a:cubicBezTo>
                    <a:pt x="41087" y="85229"/>
                    <a:pt x="41087" y="81458"/>
                    <a:pt x="43413" y="79132"/>
                  </a:cubicBezTo>
                  <a:cubicBezTo>
                    <a:pt x="45739" y="76806"/>
                    <a:pt x="49511" y="76806"/>
                    <a:pt x="51837" y="79132"/>
                  </a:cubicBezTo>
                  <a:lnTo>
                    <a:pt x="65484" y="92787"/>
                  </a:lnTo>
                  <a:lnTo>
                    <a:pt x="102944" y="55319"/>
                  </a:lnTo>
                  <a:cubicBezTo>
                    <a:pt x="104061" y="54202"/>
                    <a:pt x="105576" y="53573"/>
                    <a:pt x="107156" y="53573"/>
                  </a:cubicBezTo>
                  <a:cubicBezTo>
                    <a:pt x="108736" y="53573"/>
                    <a:pt x="110251" y="54202"/>
                    <a:pt x="111368" y="55319"/>
                  </a:cubicBezTo>
                  <a:close/>
                  <a:moveTo>
                    <a:pt x="154781" y="77391"/>
                  </a:moveTo>
                  <a:cubicBezTo>
                    <a:pt x="154781" y="120132"/>
                    <a:pt x="120132" y="154781"/>
                    <a:pt x="77391" y="154781"/>
                  </a:cubicBezTo>
                  <a:cubicBezTo>
                    <a:pt x="34649" y="154781"/>
                    <a:pt x="0" y="120132"/>
                    <a:pt x="0" y="77391"/>
                  </a:cubicBezTo>
                  <a:cubicBezTo>
                    <a:pt x="0" y="34649"/>
                    <a:pt x="34649" y="0"/>
                    <a:pt x="77391" y="0"/>
                  </a:cubicBezTo>
                  <a:cubicBezTo>
                    <a:pt x="120114" y="45"/>
                    <a:pt x="154736" y="34668"/>
                    <a:pt x="154781" y="77391"/>
                  </a:cubicBezTo>
                  <a:close/>
                  <a:moveTo>
                    <a:pt x="142875" y="77391"/>
                  </a:moveTo>
                  <a:cubicBezTo>
                    <a:pt x="142875" y="41225"/>
                    <a:pt x="113557" y="11906"/>
                    <a:pt x="77391" y="11906"/>
                  </a:cubicBezTo>
                  <a:cubicBezTo>
                    <a:pt x="41225" y="11906"/>
                    <a:pt x="11906" y="41225"/>
                    <a:pt x="11906" y="77391"/>
                  </a:cubicBezTo>
                  <a:cubicBezTo>
                    <a:pt x="11906" y="113557"/>
                    <a:pt x="41225" y="142875"/>
                    <a:pt x="77391" y="142875"/>
                  </a:cubicBezTo>
                  <a:cubicBezTo>
                    <a:pt x="113540" y="142834"/>
                    <a:pt x="142834" y="113540"/>
                    <a:pt x="142875" y="77391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</p:grpSp>
      <p:sp>
        <p:nvSpPr>
          <p:cNvPr id="77" name="TextBox 77"/>
          <p:cNvSpPr txBox="1"/>
          <p:nvPr/>
        </p:nvSpPr>
        <p:spPr>
          <a:xfrm>
            <a:off x="6540818" y="56859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按需取用，不需要全读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9E0B">
                  <a:alpha val="12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4899">
                  <a:alpha val="800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E8640A"/>
              </a:gs>
              <a:gs pos="50000">
                <a:srgbClr val="F59E0B"/>
              </a:gs>
              <a:gs pos="100000">
                <a:srgbClr val="EC4899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428381" y="237649"/>
            <a:ext cx="3950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783141" y="779294"/>
            <a:ext cx="600395" cy="597077"/>
            <a:chOff x="5783141" y="779294"/>
            <a:chExt cx="600395" cy="597077"/>
          </a:xfrm>
        </p:grpSpPr>
        <p:sp>
          <p:nvSpPr>
            <p:cNvPr id="7" name="Freeform 7"/>
            <p:cNvSpPr/>
            <p:nvPr/>
          </p:nvSpPr>
          <p:spPr>
            <a:xfrm>
              <a:off x="5808660" y="900112"/>
              <a:ext cx="454028" cy="454028"/>
            </a:xfrm>
            <a:custGeom>
              <a:avLst/>
              <a:gdLst/>
              <a:ahLst/>
              <a:cxnLst/>
              <a:rect l="l" t="t" r="r" b="b"/>
              <a:pathLst>
                <a:path w="454028" h="454028">
                  <a:moveTo>
                    <a:pt x="120653" y="261938"/>
                  </a:moveTo>
                  <a:lnTo>
                    <a:pt x="192090" y="333375"/>
                  </a:lnTo>
                  <a:cubicBezTo>
                    <a:pt x="192090" y="333375"/>
                    <a:pt x="168278" y="428625"/>
                    <a:pt x="25403" y="428625"/>
                  </a:cubicBezTo>
                  <a:cubicBezTo>
                    <a:pt x="25403" y="285750"/>
                    <a:pt x="120653" y="261938"/>
                    <a:pt x="120653" y="261938"/>
                  </a:cubicBezTo>
                  <a:close/>
                  <a:moveTo>
                    <a:pt x="311153" y="0"/>
                  </a:moveTo>
                  <a:lnTo>
                    <a:pt x="127647" y="0"/>
                  </a:lnTo>
                  <a:cubicBezTo>
                    <a:pt x="121340" y="3"/>
                    <a:pt x="115292" y="2508"/>
                    <a:pt x="110830" y="6965"/>
                  </a:cubicBezTo>
                  <a:lnTo>
                    <a:pt x="8585" y="109210"/>
                  </a:lnTo>
                  <a:cubicBezTo>
                    <a:pt x="2218" y="115591"/>
                    <a:pt x="0" y="125020"/>
                    <a:pt x="2854" y="133570"/>
                  </a:cubicBezTo>
                  <a:cubicBezTo>
                    <a:pt x="5708" y="142120"/>
                    <a:pt x="13146" y="148325"/>
                    <a:pt x="22069" y="149602"/>
                  </a:cubicBezTo>
                  <a:lnTo>
                    <a:pt x="144465" y="166688"/>
                  </a:lnTo>
                  <a:close/>
                  <a:moveTo>
                    <a:pt x="287340" y="309562"/>
                  </a:moveTo>
                  <a:lnTo>
                    <a:pt x="304426" y="431959"/>
                  </a:lnTo>
                  <a:cubicBezTo>
                    <a:pt x="305702" y="440882"/>
                    <a:pt x="311908" y="448319"/>
                    <a:pt x="320458" y="451173"/>
                  </a:cubicBezTo>
                  <a:cubicBezTo>
                    <a:pt x="329008" y="454028"/>
                    <a:pt x="338437" y="451809"/>
                    <a:pt x="344817" y="445443"/>
                  </a:cubicBezTo>
                  <a:lnTo>
                    <a:pt x="447062" y="343198"/>
                  </a:lnTo>
                  <a:cubicBezTo>
                    <a:pt x="451520" y="338735"/>
                    <a:pt x="454025" y="332687"/>
                    <a:pt x="454028" y="326380"/>
                  </a:cubicBezTo>
                  <a:lnTo>
                    <a:pt x="454028" y="142875"/>
                  </a:ln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83141" y="779294"/>
              <a:ext cx="600395" cy="597077"/>
            </a:xfrm>
            <a:custGeom>
              <a:avLst/>
              <a:gdLst/>
              <a:ahLst/>
              <a:cxnLst/>
              <a:rect l="l" t="t" r="r" b="b"/>
              <a:pathLst>
                <a:path w="600395" h="597077">
                  <a:moveTo>
                    <a:pt x="240737" y="459968"/>
                  </a:moveTo>
                  <a:cubicBezTo>
                    <a:pt x="239576" y="464582"/>
                    <a:pt x="210554" y="573256"/>
                    <a:pt x="50921" y="573256"/>
                  </a:cubicBezTo>
                  <a:cubicBezTo>
                    <a:pt x="37770" y="573256"/>
                    <a:pt x="27109" y="562595"/>
                    <a:pt x="27109" y="549444"/>
                  </a:cubicBezTo>
                  <a:cubicBezTo>
                    <a:pt x="27109" y="389811"/>
                    <a:pt x="135783" y="360789"/>
                    <a:pt x="140397" y="359628"/>
                  </a:cubicBezTo>
                  <a:cubicBezTo>
                    <a:pt x="153162" y="356439"/>
                    <a:pt x="166095" y="364202"/>
                    <a:pt x="169284" y="376967"/>
                  </a:cubicBezTo>
                  <a:cubicBezTo>
                    <a:pt x="172473" y="389732"/>
                    <a:pt x="164711" y="402665"/>
                    <a:pt x="151946" y="405854"/>
                  </a:cubicBezTo>
                  <a:cubicBezTo>
                    <a:pt x="149267" y="406598"/>
                    <a:pt x="85211" y="425321"/>
                    <a:pt x="75865" y="524500"/>
                  </a:cubicBezTo>
                  <a:cubicBezTo>
                    <a:pt x="175044" y="515154"/>
                    <a:pt x="193796" y="451217"/>
                    <a:pt x="194570" y="448241"/>
                  </a:cubicBezTo>
                  <a:cubicBezTo>
                    <a:pt x="197858" y="435492"/>
                    <a:pt x="210858" y="427823"/>
                    <a:pt x="223606" y="431110"/>
                  </a:cubicBezTo>
                  <a:cubicBezTo>
                    <a:pt x="236355" y="434398"/>
                    <a:pt x="244024" y="447398"/>
                    <a:pt x="240737" y="460147"/>
                  </a:cubicBezTo>
                  <a:close/>
                  <a:moveTo>
                    <a:pt x="517557" y="259348"/>
                  </a:moveTo>
                  <a:lnTo>
                    <a:pt x="503359" y="273546"/>
                  </a:lnTo>
                  <a:lnTo>
                    <a:pt x="503359" y="447169"/>
                  </a:lnTo>
                  <a:cubicBezTo>
                    <a:pt x="503430" y="459851"/>
                    <a:pt x="498412" y="472031"/>
                    <a:pt x="489428" y="480983"/>
                  </a:cubicBezTo>
                  <a:lnTo>
                    <a:pt x="387273" y="583079"/>
                  </a:lnTo>
                  <a:cubicBezTo>
                    <a:pt x="378375" y="592040"/>
                    <a:pt x="366266" y="597077"/>
                    <a:pt x="353638" y="597069"/>
                  </a:cubicBezTo>
                  <a:cubicBezTo>
                    <a:pt x="348477" y="597067"/>
                    <a:pt x="343351" y="596233"/>
                    <a:pt x="338457" y="594598"/>
                  </a:cubicBezTo>
                  <a:cubicBezTo>
                    <a:pt x="321315" y="588928"/>
                    <a:pt x="308877" y="574021"/>
                    <a:pt x="306370" y="556141"/>
                  </a:cubicBezTo>
                  <a:lnTo>
                    <a:pt x="290386" y="441573"/>
                  </a:lnTo>
                  <a:lnTo>
                    <a:pt x="158792" y="309979"/>
                  </a:lnTo>
                  <a:lnTo>
                    <a:pt x="44283" y="293995"/>
                  </a:lnTo>
                  <a:cubicBezTo>
                    <a:pt x="26381" y="291484"/>
                    <a:pt x="11444" y="279055"/>
                    <a:pt x="5722" y="261907"/>
                  </a:cubicBezTo>
                  <a:cubicBezTo>
                    <a:pt x="0" y="244759"/>
                    <a:pt x="4479" y="225850"/>
                    <a:pt x="17286" y="213092"/>
                  </a:cubicBezTo>
                  <a:lnTo>
                    <a:pt x="119382" y="110936"/>
                  </a:lnTo>
                  <a:cubicBezTo>
                    <a:pt x="128333" y="101953"/>
                    <a:pt x="140514" y="96935"/>
                    <a:pt x="153196" y="97006"/>
                  </a:cubicBezTo>
                  <a:lnTo>
                    <a:pt x="326819" y="97006"/>
                  </a:lnTo>
                  <a:lnTo>
                    <a:pt x="341017" y="82808"/>
                  </a:lnTo>
                  <a:cubicBezTo>
                    <a:pt x="420432" y="3423"/>
                    <a:pt x="516128" y="0"/>
                    <a:pt x="553573" y="2232"/>
                  </a:cubicBezTo>
                  <a:cubicBezTo>
                    <a:pt x="577601" y="3693"/>
                    <a:pt x="596762" y="22853"/>
                    <a:pt x="598222" y="46881"/>
                  </a:cubicBezTo>
                  <a:cubicBezTo>
                    <a:pt x="600395" y="84237"/>
                    <a:pt x="596972" y="179933"/>
                    <a:pt x="517587" y="259348"/>
                  </a:cubicBezTo>
                  <a:close/>
                  <a:moveTo>
                    <a:pt x="50921" y="246846"/>
                  </a:moveTo>
                  <a:lnTo>
                    <a:pt x="161500" y="262265"/>
                  </a:lnTo>
                  <a:lnTo>
                    <a:pt x="279194" y="144631"/>
                  </a:lnTo>
                  <a:lnTo>
                    <a:pt x="153196" y="144631"/>
                  </a:lnTo>
                  <a:close/>
                  <a:moveTo>
                    <a:pt x="203678" y="287506"/>
                  </a:moveTo>
                  <a:lnTo>
                    <a:pt x="312859" y="396686"/>
                  </a:lnTo>
                  <a:lnTo>
                    <a:pt x="483862" y="225683"/>
                  </a:lnTo>
                  <a:cubicBezTo>
                    <a:pt x="530487" y="179373"/>
                    <a:pt x="554818" y="115169"/>
                    <a:pt x="550597" y="49590"/>
                  </a:cubicBezTo>
                  <a:cubicBezTo>
                    <a:pt x="485056" y="45521"/>
                    <a:pt x="420940" y="69894"/>
                    <a:pt x="374652" y="116473"/>
                  </a:cubicBezTo>
                  <a:close/>
                  <a:moveTo>
                    <a:pt x="455734" y="321171"/>
                  </a:moveTo>
                  <a:lnTo>
                    <a:pt x="338070" y="438835"/>
                  </a:lnTo>
                  <a:lnTo>
                    <a:pt x="353548" y="549444"/>
                  </a:lnTo>
                  <a:lnTo>
                    <a:pt x="455734" y="447169"/>
                  </a:ln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4160774" y="1475422"/>
            <a:ext cx="387045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AI 已经在等你了</a:t>
            </a:r>
          </a:p>
        </p:txBody>
      </p:sp>
      <p:sp>
        <p:nvSpPr>
          <p:cNvPr id="11" name="Line 11"/>
          <p:cNvSpPr/>
          <p:nvPr/>
        </p:nvSpPr>
        <p:spPr>
          <a:xfrm>
            <a:off x="4572000" y="20383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4288">
            <a:solidFill>
              <a:srgbClr val="E7D5C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961382" y="225552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不需要全读。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21152" y="2655570"/>
            <a:ext cx="59496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找到你需要的那一篇，今天就开始。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4838" y="3275171"/>
            <a:ext cx="50623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 是暖男。它不会评判你的进度，不会嫌你问题太多，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12933" y="3522821"/>
            <a:ext cx="33661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不会因为你不是技术人就拒绝帮你。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29175" y="3846671"/>
            <a:ext cx="25336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它只是在等你迈出第一步。</a:t>
            </a:r>
          </a:p>
        </p:txBody>
      </p:sp>
      <p:sp>
        <p:nvSpPr>
          <p:cNvPr id="17" name="Ellipse 17"/>
          <p:cNvSpPr/>
          <p:nvPr/>
        </p:nvSpPr>
        <p:spPr>
          <a:xfrm>
            <a:off x="4819650" y="4438650"/>
            <a:ext cx="190500" cy="190500"/>
          </a:xfrm>
          <a:prstGeom prst="ellipse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072062" y="4469606"/>
            <a:ext cx="496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AI编程</a:t>
            </a:r>
          </a:p>
        </p:txBody>
      </p:sp>
      <p:sp>
        <p:nvSpPr>
          <p:cNvPr id="19" name="Ellipse 19"/>
          <p:cNvSpPr/>
          <p:nvPr/>
        </p:nvSpPr>
        <p:spPr>
          <a:xfrm>
            <a:off x="5734050" y="4438650"/>
            <a:ext cx="190500" cy="190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86462" y="446960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工程方法论</a:t>
            </a:r>
          </a:p>
        </p:txBody>
      </p:sp>
      <p:sp>
        <p:nvSpPr>
          <p:cNvPr id="21" name="Ellipse 21"/>
          <p:cNvSpPr/>
          <p:nvPr/>
        </p:nvSpPr>
        <p:spPr>
          <a:xfrm>
            <a:off x="6972300" y="4438650"/>
            <a:ext cx="190500" cy="190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224712" y="446960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职业发展</a:t>
            </a:r>
          </a:p>
        </p:txBody>
      </p:sp>
      <p:sp>
        <p:nvSpPr>
          <p:cNvPr id="23" name="Ellipse 23"/>
          <p:cNvSpPr/>
          <p:nvPr/>
        </p:nvSpPr>
        <p:spPr>
          <a:xfrm>
            <a:off x="8077200" y="4438650"/>
            <a:ext cx="190500" cy="1905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29612" y="446960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非技术人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191000" y="4914900"/>
            <a:ext cx="3810000" cy="51435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338638" y="5088068"/>
            <a:ext cx="200032" cy="168013"/>
            <a:chOff x="4338638" y="5088068"/>
            <a:chExt cx="200032" cy="168013"/>
          </a:xfrm>
        </p:grpSpPr>
        <p:sp>
          <p:nvSpPr>
            <p:cNvPr id="26" name="Freeform 26"/>
            <p:cNvSpPr/>
            <p:nvPr/>
          </p:nvSpPr>
          <p:spPr>
            <a:xfrm>
              <a:off x="4455319" y="5097066"/>
              <a:ext cx="75009" cy="150019"/>
            </a:xfrm>
            <a:custGeom>
              <a:avLst/>
              <a:gdLst/>
              <a:ahLst/>
              <a:cxnLst/>
              <a:rect l="l" t="t" r="r" b="b"/>
              <a:pathLst>
                <a:path w="75009" h="150019">
                  <a:moveTo>
                    <a:pt x="75009" y="75009"/>
                  </a:moveTo>
                  <a:lnTo>
                    <a:pt x="0" y="150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338638" y="5088068"/>
              <a:ext cx="200032" cy="168013"/>
            </a:xfrm>
            <a:custGeom>
              <a:avLst/>
              <a:gdLst/>
              <a:ahLst/>
              <a:cxnLst/>
              <a:rect l="l" t="t" r="r" b="b"/>
              <a:pathLst>
                <a:path w="200032" h="168013">
                  <a:moveTo>
                    <a:pt x="197587" y="78110"/>
                  </a:moveTo>
                  <a:lnTo>
                    <a:pt x="122578" y="3101"/>
                  </a:lnTo>
                  <a:cubicBezTo>
                    <a:pt x="120194" y="714"/>
                    <a:pt x="116607" y="0"/>
                    <a:pt x="113491" y="1291"/>
                  </a:cubicBezTo>
                  <a:cubicBezTo>
                    <a:pt x="110375" y="2582"/>
                    <a:pt x="108344" y="5624"/>
                    <a:pt x="108347" y="8997"/>
                  </a:cubicBezTo>
                  <a:lnTo>
                    <a:pt x="108347" y="75672"/>
                  </a:lnTo>
                  <a:lnTo>
                    <a:pt x="8334" y="75672"/>
                  </a:lnTo>
                  <a:cubicBezTo>
                    <a:pt x="3731" y="75672"/>
                    <a:pt x="0" y="79404"/>
                    <a:pt x="0" y="84007"/>
                  </a:cubicBezTo>
                  <a:cubicBezTo>
                    <a:pt x="0" y="88610"/>
                    <a:pt x="3731" y="92341"/>
                    <a:pt x="8334" y="92341"/>
                  </a:cubicBezTo>
                  <a:lnTo>
                    <a:pt x="108347" y="92341"/>
                  </a:lnTo>
                  <a:lnTo>
                    <a:pt x="108347" y="159016"/>
                  </a:lnTo>
                  <a:cubicBezTo>
                    <a:pt x="108344" y="162389"/>
                    <a:pt x="110375" y="165431"/>
                    <a:pt x="113491" y="166722"/>
                  </a:cubicBezTo>
                  <a:cubicBezTo>
                    <a:pt x="116607" y="168013"/>
                    <a:pt x="120194" y="167299"/>
                    <a:pt x="122578" y="164913"/>
                  </a:cubicBezTo>
                  <a:lnTo>
                    <a:pt x="197587" y="89903"/>
                  </a:lnTo>
                  <a:cubicBezTo>
                    <a:pt x="199152" y="88340"/>
                    <a:pt x="200032" y="86219"/>
                    <a:pt x="200032" y="84007"/>
                  </a:cubicBezTo>
                  <a:cubicBezTo>
                    <a:pt x="200032" y="81795"/>
                    <a:pt x="199152" y="79673"/>
                    <a:pt x="197587" y="78110"/>
                  </a:cubicBezTo>
                  <a:close/>
                  <a:moveTo>
                    <a:pt x="125016" y="138899"/>
                  </a:moveTo>
                  <a:lnTo>
                    <a:pt x="125016" y="29114"/>
                  </a:lnTo>
                  <a:lnTo>
                    <a:pt x="179908" y="840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4893632" y="5083492"/>
            <a:ext cx="24047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打开掘金，搜索 AustinXu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483769" y="5024438"/>
            <a:ext cx="233362" cy="200309"/>
            <a:chOff x="3483769" y="5024438"/>
            <a:chExt cx="233362" cy="200309"/>
          </a:xfrm>
        </p:grpSpPr>
        <p:sp>
          <p:nvSpPr>
            <p:cNvPr id="30" name="Freeform 30"/>
            <p:cNvSpPr/>
            <p:nvPr/>
          </p:nvSpPr>
          <p:spPr>
            <a:xfrm>
              <a:off x="3492103" y="5032772"/>
              <a:ext cx="216694" cy="183356"/>
            </a:xfrm>
            <a:custGeom>
              <a:avLst/>
              <a:gdLst/>
              <a:ahLst/>
              <a:cxnLst/>
              <a:rect l="l" t="t" r="r" b="b"/>
              <a:pathLst>
                <a:path w="216694" h="183356">
                  <a:moveTo>
                    <a:pt x="216694" y="56257"/>
                  </a:moveTo>
                  <a:cubicBezTo>
                    <a:pt x="216694" y="125016"/>
                    <a:pt x="108347" y="183356"/>
                    <a:pt x="108347" y="183356"/>
                  </a:cubicBezTo>
                  <a:cubicBezTo>
                    <a:pt x="108347" y="183356"/>
                    <a:pt x="0" y="125016"/>
                    <a:pt x="0" y="56257"/>
                  </a:cubicBezTo>
                  <a:cubicBezTo>
                    <a:pt x="0" y="25187"/>
                    <a:pt x="25187" y="0"/>
                    <a:pt x="56257" y="0"/>
                  </a:cubicBezTo>
                  <a:cubicBezTo>
                    <a:pt x="79791" y="0"/>
                    <a:pt x="99950" y="12825"/>
                    <a:pt x="108347" y="33338"/>
                  </a:cubicBezTo>
                  <a:cubicBezTo>
                    <a:pt x="116744" y="12825"/>
                    <a:pt x="136903" y="0"/>
                    <a:pt x="160437" y="0"/>
                  </a:cubicBezTo>
                  <a:cubicBezTo>
                    <a:pt x="191507" y="0"/>
                    <a:pt x="216694" y="25187"/>
                    <a:pt x="216694" y="56257"/>
                  </a:cubicBezTo>
                  <a:close/>
                </a:path>
              </a:pathLst>
            </a:custGeom>
            <a:solidFill>
              <a:srgbClr val="EC4899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483769" y="5024438"/>
              <a:ext cx="233362" cy="200309"/>
            </a:xfrm>
            <a:custGeom>
              <a:avLst/>
              <a:gdLst/>
              <a:ahLst/>
              <a:cxnLst/>
              <a:rect l="l" t="t" r="r" b="b"/>
              <a:pathLst>
                <a:path w="233362" h="200309">
                  <a:moveTo>
                    <a:pt x="168771" y="0"/>
                  </a:moveTo>
                  <a:cubicBezTo>
                    <a:pt x="147258" y="0"/>
                    <a:pt x="128422" y="9251"/>
                    <a:pt x="116681" y="24889"/>
                  </a:cubicBezTo>
                  <a:cubicBezTo>
                    <a:pt x="104940" y="9251"/>
                    <a:pt x="86105" y="0"/>
                    <a:pt x="64591" y="0"/>
                  </a:cubicBezTo>
                  <a:cubicBezTo>
                    <a:pt x="28935" y="40"/>
                    <a:pt x="40" y="28935"/>
                    <a:pt x="0" y="64591"/>
                  </a:cubicBezTo>
                  <a:cubicBezTo>
                    <a:pt x="0" y="137517"/>
                    <a:pt x="108128" y="196545"/>
                    <a:pt x="112733" y="198983"/>
                  </a:cubicBezTo>
                  <a:cubicBezTo>
                    <a:pt x="115198" y="200309"/>
                    <a:pt x="118164" y="200309"/>
                    <a:pt x="120630" y="198983"/>
                  </a:cubicBezTo>
                  <a:cubicBezTo>
                    <a:pt x="125234" y="196545"/>
                    <a:pt x="233362" y="137517"/>
                    <a:pt x="233362" y="64591"/>
                  </a:cubicBezTo>
                  <a:cubicBezTo>
                    <a:pt x="233322" y="28935"/>
                    <a:pt x="204427" y="40"/>
                    <a:pt x="168771" y="0"/>
                  </a:cubicBezTo>
                  <a:close/>
                  <a:moveTo>
                    <a:pt x="116681" y="182106"/>
                  </a:moveTo>
                  <a:cubicBezTo>
                    <a:pt x="97658" y="171021"/>
                    <a:pt x="16669" y="120525"/>
                    <a:pt x="16669" y="64591"/>
                  </a:cubicBezTo>
                  <a:cubicBezTo>
                    <a:pt x="16703" y="38139"/>
                    <a:pt x="38139" y="16703"/>
                    <a:pt x="64591" y="16669"/>
                  </a:cubicBezTo>
                  <a:cubicBezTo>
                    <a:pt x="84854" y="16669"/>
                    <a:pt x="101867" y="27462"/>
                    <a:pt x="108972" y="44797"/>
                  </a:cubicBezTo>
                  <a:cubicBezTo>
                    <a:pt x="110256" y="47924"/>
                    <a:pt x="113301" y="49965"/>
                    <a:pt x="116681" y="49965"/>
                  </a:cubicBezTo>
                  <a:cubicBezTo>
                    <a:pt x="120061" y="49965"/>
                    <a:pt x="123106" y="47924"/>
                    <a:pt x="124391" y="44797"/>
                  </a:cubicBezTo>
                  <a:cubicBezTo>
                    <a:pt x="131496" y="27431"/>
                    <a:pt x="148508" y="16669"/>
                    <a:pt x="168771" y="16669"/>
                  </a:cubicBezTo>
                  <a:cubicBezTo>
                    <a:pt x="195224" y="16703"/>
                    <a:pt x="216659" y="38139"/>
                    <a:pt x="216694" y="64591"/>
                  </a:cubicBezTo>
                  <a:cubicBezTo>
                    <a:pt x="216694" y="120442"/>
                    <a:pt x="135684" y="171011"/>
                    <a:pt x="116681" y="182106"/>
                  </a:cubicBezTo>
                  <a:close/>
                </a:path>
              </a:pathLst>
            </a:custGeom>
            <a:solidFill>
              <a:srgbClr val="EC4899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455819" y="5024438"/>
            <a:ext cx="233362" cy="200309"/>
            <a:chOff x="8455819" y="5024438"/>
            <a:chExt cx="233362" cy="200309"/>
          </a:xfrm>
        </p:grpSpPr>
        <p:sp>
          <p:nvSpPr>
            <p:cNvPr id="33" name="Freeform 33"/>
            <p:cNvSpPr/>
            <p:nvPr/>
          </p:nvSpPr>
          <p:spPr>
            <a:xfrm>
              <a:off x="8464153" y="5032772"/>
              <a:ext cx="216694" cy="183356"/>
            </a:xfrm>
            <a:custGeom>
              <a:avLst/>
              <a:gdLst/>
              <a:ahLst/>
              <a:cxnLst/>
              <a:rect l="l" t="t" r="r" b="b"/>
              <a:pathLst>
                <a:path w="216694" h="183356">
                  <a:moveTo>
                    <a:pt x="216694" y="56257"/>
                  </a:moveTo>
                  <a:cubicBezTo>
                    <a:pt x="216694" y="125016"/>
                    <a:pt x="108347" y="183356"/>
                    <a:pt x="108347" y="183356"/>
                  </a:cubicBezTo>
                  <a:cubicBezTo>
                    <a:pt x="108347" y="183356"/>
                    <a:pt x="0" y="125016"/>
                    <a:pt x="0" y="56257"/>
                  </a:cubicBezTo>
                  <a:cubicBezTo>
                    <a:pt x="0" y="25187"/>
                    <a:pt x="25187" y="0"/>
                    <a:pt x="56257" y="0"/>
                  </a:cubicBezTo>
                  <a:cubicBezTo>
                    <a:pt x="79791" y="0"/>
                    <a:pt x="99950" y="12825"/>
                    <a:pt x="108347" y="33338"/>
                  </a:cubicBezTo>
                  <a:cubicBezTo>
                    <a:pt x="116744" y="12825"/>
                    <a:pt x="136903" y="0"/>
                    <a:pt x="160437" y="0"/>
                  </a:cubicBezTo>
                  <a:cubicBezTo>
                    <a:pt x="191507" y="0"/>
                    <a:pt x="216694" y="25187"/>
                    <a:pt x="216694" y="56257"/>
                  </a:cubicBezTo>
                  <a:close/>
                </a:path>
              </a:pathLst>
            </a:custGeom>
            <a:solidFill>
              <a:srgbClr val="EC4899">
                <a:alpha val="20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455819" y="5024438"/>
              <a:ext cx="233362" cy="200309"/>
            </a:xfrm>
            <a:custGeom>
              <a:avLst/>
              <a:gdLst/>
              <a:ahLst/>
              <a:cxnLst/>
              <a:rect l="l" t="t" r="r" b="b"/>
              <a:pathLst>
                <a:path w="233362" h="200309">
                  <a:moveTo>
                    <a:pt x="168771" y="0"/>
                  </a:moveTo>
                  <a:cubicBezTo>
                    <a:pt x="147258" y="0"/>
                    <a:pt x="128422" y="9251"/>
                    <a:pt x="116681" y="24889"/>
                  </a:cubicBezTo>
                  <a:cubicBezTo>
                    <a:pt x="104940" y="9251"/>
                    <a:pt x="86105" y="0"/>
                    <a:pt x="64591" y="0"/>
                  </a:cubicBezTo>
                  <a:cubicBezTo>
                    <a:pt x="28935" y="40"/>
                    <a:pt x="40" y="28935"/>
                    <a:pt x="0" y="64591"/>
                  </a:cubicBezTo>
                  <a:cubicBezTo>
                    <a:pt x="0" y="137517"/>
                    <a:pt x="108128" y="196545"/>
                    <a:pt x="112733" y="198983"/>
                  </a:cubicBezTo>
                  <a:cubicBezTo>
                    <a:pt x="115198" y="200309"/>
                    <a:pt x="118164" y="200309"/>
                    <a:pt x="120630" y="198983"/>
                  </a:cubicBezTo>
                  <a:cubicBezTo>
                    <a:pt x="125234" y="196545"/>
                    <a:pt x="233362" y="137517"/>
                    <a:pt x="233362" y="64591"/>
                  </a:cubicBezTo>
                  <a:cubicBezTo>
                    <a:pt x="233322" y="28935"/>
                    <a:pt x="204427" y="40"/>
                    <a:pt x="168771" y="0"/>
                  </a:cubicBezTo>
                  <a:close/>
                  <a:moveTo>
                    <a:pt x="116681" y="182106"/>
                  </a:moveTo>
                  <a:cubicBezTo>
                    <a:pt x="97658" y="171021"/>
                    <a:pt x="16669" y="120525"/>
                    <a:pt x="16669" y="64591"/>
                  </a:cubicBezTo>
                  <a:cubicBezTo>
                    <a:pt x="16703" y="38139"/>
                    <a:pt x="38139" y="16703"/>
                    <a:pt x="64591" y="16669"/>
                  </a:cubicBezTo>
                  <a:cubicBezTo>
                    <a:pt x="84854" y="16669"/>
                    <a:pt x="101867" y="27462"/>
                    <a:pt x="108972" y="44797"/>
                  </a:cubicBezTo>
                  <a:cubicBezTo>
                    <a:pt x="110256" y="47924"/>
                    <a:pt x="113301" y="49965"/>
                    <a:pt x="116681" y="49965"/>
                  </a:cubicBezTo>
                  <a:cubicBezTo>
                    <a:pt x="120061" y="49965"/>
                    <a:pt x="123106" y="47924"/>
                    <a:pt x="124391" y="44797"/>
                  </a:cubicBezTo>
                  <a:cubicBezTo>
                    <a:pt x="131496" y="27431"/>
                    <a:pt x="148508" y="16669"/>
                    <a:pt x="168771" y="16669"/>
                  </a:cubicBezTo>
                  <a:cubicBezTo>
                    <a:pt x="195224" y="16703"/>
                    <a:pt x="216659" y="38139"/>
                    <a:pt x="216694" y="64591"/>
                  </a:cubicBezTo>
                  <a:cubicBezTo>
                    <a:pt x="216694" y="120442"/>
                    <a:pt x="135684" y="171011"/>
                    <a:pt x="116681" y="182106"/>
                  </a:cubicBezTo>
                  <a:close/>
                </a:path>
              </a:pathLst>
            </a:custGeom>
            <a:solidFill>
              <a:srgbClr val="EC4899"/>
            </a:solidFill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3970377" y="5974556"/>
            <a:ext cx="4251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这 22 篇文章的价值不是让你看完，是让你在需要时能找到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11425" y="6447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AustinXu · 22篇AI文章导读</a:t>
            </a:r>
          </a:p>
        </p:txBody>
      </p:sp>
      <p:sp>
        <p:nvSpPr>
          <p:cNvPr id="38" name="Ellipse 38"/>
          <p:cNvSpPr/>
          <p:nvPr/>
        </p:nvSpPr>
        <p:spPr>
          <a:xfrm>
            <a:off x="9982200" y="1371600"/>
            <a:ext cx="1371600" cy="1066800"/>
          </a:xfrm>
          <a:prstGeom prst="ellipse">
            <a:avLst/>
          </a:prstGeom>
          <a:solidFill>
            <a:srgbClr val="F59E0B">
              <a:alpha val="9000"/>
            </a:srgb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10248900" y="1581150"/>
            <a:ext cx="838200" cy="647700"/>
          </a:xfrm>
          <a:prstGeom prst="ellipse">
            <a:avLst/>
          </a:prstGeom>
          <a:solidFill>
            <a:srgbClr val="F59E0B">
              <a:alpha val="14000"/>
            </a:srgb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0496550" y="1771650"/>
            <a:ext cx="342900" cy="266700"/>
          </a:xfrm>
          <a:prstGeom prst="ellipse">
            <a:avLst/>
          </a:prstGeom>
          <a:solidFill>
            <a:srgbClr val="F59E0B">
              <a:alpha val="32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9067800" y="5124450"/>
            <a:ext cx="2400300" cy="133350"/>
          </a:xfrm>
          <a:prstGeom prst="roundRect">
            <a:avLst>
              <a:gd name="adj" fmla="val 35714"/>
            </a:avLst>
          </a:prstGeom>
          <a:solidFill>
            <a:srgbClr val="E8640A">
              <a:alpha val="20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9315450" y="4819650"/>
            <a:ext cx="2152650" cy="133350"/>
          </a:xfrm>
          <a:prstGeom prst="roundRect">
            <a:avLst>
              <a:gd name="adj" fmla="val 35714"/>
            </a:avLst>
          </a:prstGeom>
          <a:solidFill>
            <a:srgbClr val="E8640A">
              <a:alpha val="3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9544050" y="4533900"/>
            <a:ext cx="1924050" cy="133350"/>
          </a:xfrm>
          <a:prstGeom prst="roundRect">
            <a:avLst>
              <a:gd name="adj" fmla="val 35714"/>
            </a:avLst>
          </a:prstGeom>
          <a:solidFill>
            <a:srgbClr val="E8640A">
              <a:alpha val="4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9753600" y="4267200"/>
            <a:ext cx="1714500" cy="133350"/>
          </a:xfrm>
          <a:prstGeom prst="roundRect">
            <a:avLst>
              <a:gd name="adj" fmla="val 35714"/>
            </a:avLst>
          </a:prstGeom>
          <a:solidFill>
            <a:srgbClr val="E8640A">
              <a:alpha val="52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9944100" y="4019550"/>
            <a:ext cx="1524000" cy="133350"/>
          </a:xfrm>
          <a:prstGeom prst="roundRect">
            <a:avLst>
              <a:gd name="adj" fmla="val 35714"/>
            </a:avLst>
          </a:prstGeom>
          <a:solidFill>
            <a:srgbClr val="E8640A">
              <a:alpha val="65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10115550" y="3790950"/>
            <a:ext cx="1352550" cy="133350"/>
          </a:xfrm>
          <a:prstGeom prst="roundRect">
            <a:avLst>
              <a:gd name="adj" fmla="val 35714"/>
            </a:avLst>
          </a:prstGeom>
          <a:solidFill>
            <a:srgbClr val="E8640A">
              <a:alpha val="78000"/>
            </a:srgbClr>
          </a:solidFill>
          <a:ln>
            <a:noFill/>
          </a:ln>
        </p:spPr>
      </p:sp>
      <p:sp>
        <p:nvSpPr>
          <p:cNvPr id="47" name="Line 47"/>
          <p:cNvSpPr/>
          <p:nvPr/>
        </p:nvSpPr>
        <p:spPr>
          <a:xfrm>
            <a:off x="9315450" y="481965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4288">
            <a:solidFill>
              <a:srgbClr val="E8640A">
                <a:alpha val="22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9544050" y="45339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E8640A">
                <a:alpha val="22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9753600" y="426720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4288">
            <a:solidFill>
              <a:srgbClr val="E8640A">
                <a:alpha val="22000"/>
              </a:srgbClr>
            </a:solidFill>
          </a:ln>
        </p:spPr>
      </p:sp>
      <p:sp>
        <p:nvSpPr>
          <p:cNvPr id="50" name="Line 50"/>
          <p:cNvSpPr/>
          <p:nvPr/>
        </p:nvSpPr>
        <p:spPr>
          <a:xfrm>
            <a:off x="9944100" y="4019550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4288">
            <a:solidFill>
              <a:srgbClr val="E8640A">
                <a:alpha val="22000"/>
              </a:srgbClr>
            </a:solidFill>
          </a:ln>
        </p:spPr>
      </p:sp>
      <p:sp>
        <p:nvSpPr>
          <p:cNvPr id="51" name="Line 51"/>
          <p:cNvSpPr/>
          <p:nvPr/>
        </p:nvSpPr>
        <p:spPr>
          <a:xfrm>
            <a:off x="10115550" y="379095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E8640A">
                <a:alpha val="22000"/>
              </a:srgbClr>
            </a:solidFill>
          </a:ln>
        </p:spPr>
      </p:sp>
      <p:sp>
        <p:nvSpPr>
          <p:cNvPr id="52" name="Ellipse 52"/>
          <p:cNvSpPr/>
          <p:nvPr/>
        </p:nvSpPr>
        <p:spPr>
          <a:xfrm>
            <a:off x="9772650" y="3695700"/>
            <a:ext cx="266700" cy="266700"/>
          </a:xfrm>
          <a:prstGeom prst="ellipse">
            <a:avLst/>
          </a:prstGeom>
          <a:solidFill>
            <a:srgbClr val="E8640A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9791700" y="3952875"/>
            <a:ext cx="228600" cy="314325"/>
          </a:xfrm>
          <a:prstGeom prst="roundRect">
            <a:avLst>
              <a:gd name="adj" fmla="val 41667"/>
            </a:avLst>
          </a:prstGeom>
          <a:solidFill>
            <a:srgbClr val="E8640A">
              <a:alpha val="85000"/>
            </a:srgbClr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9982200" y="2143125"/>
            <a:ext cx="571500" cy="1552575"/>
          </a:xfrm>
          <a:custGeom>
            <a:avLst/>
            <a:gdLst/>
            <a:ahLst/>
            <a:cxnLst/>
            <a:rect l="l" t="t" r="r" b="b"/>
            <a:pathLst>
              <a:path w="571500" h="1552575">
                <a:moveTo>
                  <a:pt x="0" y="1552575"/>
                </a:moveTo>
                <a:lnTo>
                  <a:pt x="571500" y="0"/>
                </a:lnTo>
              </a:path>
            </a:pathLst>
          </a:custGeom>
          <a:noFill/>
          <a:ln w="19050" cap="rnd">
            <a:solidFill>
              <a:srgbClr val="F59E0B">
                <a:alpha val="60000"/>
              </a:srgbClr>
            </a:solidFill>
          </a:ln>
        </p:spPr>
      </p:sp>
      <p:sp>
        <p:nvSpPr>
          <p:cNvPr id="55" name="Polygon 55"/>
          <p:cNvSpPr/>
          <p:nvPr/>
        </p:nvSpPr>
        <p:spPr>
          <a:xfrm>
            <a:off x="10487025" y="2076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4775" y="0"/>
                </a:moveTo>
                <a:lnTo>
                  <a:pt x="0" y="114300"/>
                </a:lnTo>
                <a:lnTo>
                  <a:pt x="133350" y="152400"/>
                </a:lnTo>
                <a:close/>
              </a:path>
            </a:pathLst>
          </a:custGeom>
          <a:solidFill>
            <a:srgbClr val="F59E0B">
              <a:alpha val="6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640A">
                  <a:alpha val="8000"/>
                </a:srgbClr>
              </a:gs>
              <a:gs pos="100000">
                <a:srgbClr val="E8640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6810375"/>
            <a:ext cx="12192000" cy="47625"/>
          </a:xfrm>
          <a:prstGeom prst="rect">
            <a:avLst/>
          </a:prstGeom>
          <a:gradFill>
            <a:gsLst>
              <a:gs pos="0">
                <a:srgbClr val="E8640A"/>
              </a:gs>
              <a:gs pos="50000">
                <a:srgbClr val="F59E0B"/>
              </a:gs>
              <a:gs pos="100000">
                <a:srgbClr val="EC4899"/>
              </a:gs>
            </a:gsLst>
            <a:lin ang="0" scaled="1"/>
          </a:gra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1401425" y="219075"/>
            <a:ext cx="171450" cy="171450"/>
          </a:xfrm>
          <a:prstGeom prst="ellipse">
            <a:avLst/>
          </a:prstGeom>
          <a:solidFill>
            <a:srgbClr val="E8640A">
              <a:alpha val="85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1630025" y="219075"/>
            <a:ext cx="171450" cy="171450"/>
          </a:xfrm>
          <a:prstGeom prst="ellipse">
            <a:avLst/>
          </a:prstGeom>
          <a:solidFill>
            <a:srgbClr val="F59E0B">
              <a:alpha val="8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1401425" y="447675"/>
            <a:ext cx="171450" cy="171450"/>
          </a:xfrm>
          <a:prstGeom prst="ellipse">
            <a:avLst/>
          </a:prstGeom>
          <a:solidFill>
            <a:srgbClr val="10B981">
              <a:alpha val="8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630025" y="447675"/>
            <a:ext cx="171450" cy="171450"/>
          </a:xfrm>
          <a:prstGeom prst="ellipse">
            <a:avLst/>
          </a:prstGeom>
          <a:solidFill>
            <a:srgbClr val="8B5CF6">
              <a:alpha val="85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755356" y="2762250"/>
            <a:ext cx="268128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E8640A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谢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86438" y="1809079"/>
            <a:ext cx="619127" cy="572171"/>
            <a:chOff x="5786438" y="1809079"/>
            <a:chExt cx="619127" cy="572171"/>
          </a:xfrm>
        </p:grpSpPr>
        <p:sp>
          <p:nvSpPr>
            <p:cNvPr id="11" name="Freeform 11"/>
            <p:cNvSpPr/>
            <p:nvPr/>
          </p:nvSpPr>
          <p:spPr>
            <a:xfrm>
              <a:off x="6000750" y="1833562"/>
              <a:ext cx="190500" cy="523875"/>
            </a:xfrm>
            <a:custGeom>
              <a:avLst/>
              <a:gdLst/>
              <a:ahLst/>
              <a:cxnLst/>
              <a:rect l="l" t="t" r="r" b="b"/>
              <a:pathLst>
                <a:path w="190500" h="523875">
                  <a:moveTo>
                    <a:pt x="190500" y="95250"/>
                  </a:moveTo>
                  <a:lnTo>
                    <a:pt x="190500" y="52387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40A">
                <a:alpha val="20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5786438" y="1809079"/>
              <a:ext cx="619127" cy="572171"/>
            </a:xfrm>
            <a:custGeom>
              <a:avLst/>
              <a:gdLst/>
              <a:ahLst/>
              <a:cxnLst/>
              <a:rect l="l" t="t" r="r" b="b"/>
              <a:pathLst>
                <a:path w="619127" h="572171">
                  <a:moveTo>
                    <a:pt x="609957" y="53326"/>
                  </a:moveTo>
                  <a:cubicBezTo>
                    <a:pt x="604177" y="48823"/>
                    <a:pt x="596646" y="47231"/>
                    <a:pt x="589538" y="49010"/>
                  </a:cubicBezTo>
                  <a:lnTo>
                    <a:pt x="407581" y="94492"/>
                  </a:lnTo>
                  <a:lnTo>
                    <a:pt x="224969" y="3171"/>
                  </a:lnTo>
                  <a:cubicBezTo>
                    <a:pt x="219881" y="633"/>
                    <a:pt x="214052" y="0"/>
                    <a:pt x="208538" y="1385"/>
                  </a:cubicBezTo>
                  <a:lnTo>
                    <a:pt x="18038" y="49010"/>
                  </a:lnTo>
                  <a:cubicBezTo>
                    <a:pt x="7438" y="51660"/>
                    <a:pt x="2" y="61183"/>
                    <a:pt x="0" y="72109"/>
                  </a:cubicBezTo>
                  <a:lnTo>
                    <a:pt x="0" y="500734"/>
                  </a:lnTo>
                  <a:cubicBezTo>
                    <a:pt x="1" y="508065"/>
                    <a:pt x="3380" y="514988"/>
                    <a:pt x="9159" y="519500"/>
                  </a:cubicBezTo>
                  <a:cubicBezTo>
                    <a:pt x="14938" y="524012"/>
                    <a:pt x="22474" y="525610"/>
                    <a:pt x="29587" y="523832"/>
                  </a:cubicBezTo>
                  <a:lnTo>
                    <a:pt x="211544" y="478350"/>
                  </a:lnTo>
                  <a:lnTo>
                    <a:pt x="394156" y="569671"/>
                  </a:lnTo>
                  <a:cubicBezTo>
                    <a:pt x="397472" y="571305"/>
                    <a:pt x="401116" y="572160"/>
                    <a:pt x="404812" y="572171"/>
                  </a:cubicBezTo>
                  <a:cubicBezTo>
                    <a:pt x="406759" y="572170"/>
                    <a:pt x="408699" y="571930"/>
                    <a:pt x="410587" y="571457"/>
                  </a:cubicBezTo>
                  <a:lnTo>
                    <a:pt x="601087" y="523832"/>
                  </a:lnTo>
                  <a:cubicBezTo>
                    <a:pt x="611687" y="521182"/>
                    <a:pt x="619123" y="511659"/>
                    <a:pt x="619125" y="500734"/>
                  </a:cubicBezTo>
                  <a:lnTo>
                    <a:pt x="619125" y="72109"/>
                  </a:lnTo>
                  <a:cubicBezTo>
                    <a:pt x="619127" y="64770"/>
                    <a:pt x="615744" y="57840"/>
                    <a:pt x="609957" y="53326"/>
                  </a:cubicBezTo>
                  <a:close/>
                  <a:moveTo>
                    <a:pt x="238125" y="63000"/>
                  </a:moveTo>
                  <a:lnTo>
                    <a:pt x="381000" y="134438"/>
                  </a:lnTo>
                  <a:lnTo>
                    <a:pt x="381000" y="509842"/>
                  </a:lnTo>
                  <a:lnTo>
                    <a:pt x="238125" y="438404"/>
                  </a:lnTo>
                  <a:close/>
                  <a:moveTo>
                    <a:pt x="47625" y="90712"/>
                  </a:moveTo>
                  <a:lnTo>
                    <a:pt x="190500" y="54993"/>
                  </a:lnTo>
                  <a:lnTo>
                    <a:pt x="190500" y="434505"/>
                  </a:lnTo>
                  <a:lnTo>
                    <a:pt x="47625" y="470224"/>
                  </a:lnTo>
                  <a:close/>
                  <a:moveTo>
                    <a:pt x="571500" y="482130"/>
                  </a:moveTo>
                  <a:lnTo>
                    <a:pt x="428625" y="517849"/>
                  </a:lnTo>
                  <a:lnTo>
                    <a:pt x="428625" y="138337"/>
                  </a:lnTo>
                  <a:lnTo>
                    <a:pt x="571500" y="102618"/>
                  </a:lnTo>
                  <a:close/>
                </a:path>
              </a:pathLst>
            </a:custGeom>
            <a:solidFill>
              <a:srgbClr val="E8640A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4904737" y="2564130"/>
            <a:ext cx="238252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E8640A"/>
                </a:solidFill>
                <a:latin typeface="Arial"/>
                <a:ea typeface="Microsoft YaHei"/>
                <a:cs typeface="Arial"/>
              </a:rPr>
              <a:t>AustinXu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99422" y="3248025"/>
            <a:ext cx="23931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掘金 · Vibe Coding 专栏</a:t>
            </a:r>
          </a:p>
        </p:txBody>
      </p:sp>
      <p:sp>
        <p:nvSpPr>
          <p:cNvPr id="16" name="Line 16"/>
          <p:cNvSpPr/>
          <p:nvPr/>
        </p:nvSpPr>
        <p:spPr>
          <a:xfrm>
            <a:off x="4572000" y="3600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7D5C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069651" y="3813810"/>
            <a:ext cx="4052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本文原链：juejin.cn/post/7639624625790205967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93080" y="433673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1C1917"/>
                </a:solidFill>
                <a:latin typeface="Arial"/>
                <a:ea typeface="Microsoft YaHei"/>
                <a:cs typeface="Arial"/>
              </a:rPr>
              <a:t>感谢阅读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69238" y="4853464"/>
            <a:ext cx="28535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78716C"/>
                </a:solidFill>
                <a:latin typeface="Arial"/>
                <a:ea typeface="Microsoft YaHei"/>
                <a:cs typeface="Arial"/>
              </a:rPr>
              <a:t>AI 等着每一个愿意迈出第一步的人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286000" y="55816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640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314825" y="55816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343650" y="55816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372475" y="55816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887468" y="618124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A29E"/>
                </a:solidFill>
                <a:latin typeface="Arial"/>
                <a:ea typeface="Microsoft YaHei"/>
                <a:cs typeface="Arial"/>
              </a:rPr>
              <a:t>22篇AI文章 · 4张读者地图 · 按需取用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