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大家好，今天我来分享一个我们在日常开发中正在使用的工作流：OpenSpec + Superpowers。</a:t>
            </a:r>
          </a:p>
          <a:p>
            <a:endParaRPr lang="zh-CN" dirty="0"/>
          </a:p>
          <a:p>
            <a:r>
              <a:rPr lang="zh-CN" dirty="0"/>
              <a:t>这套工具的核心思想是：给 AI 提供清晰的边界和约束，让它在正确的轨道上工作，而不只是追求速度。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今天的分享分三个部分：</a:t>
            </a:r>
          </a:p>
          <a:p>
            <a:endParaRPr lang="zh-CN" dirty="0"/>
          </a:p>
          <a:p>
            <a:r>
              <a:rPr lang="zh-CN" dirty="0"/>
              <a:t>第一部分，我会介绍 OpenSpec 和 Superpowers 各自是什么，以及它们组合在一起的完整工作流是怎样的。</a:t>
            </a:r>
          </a:p>
          <a:p>
            <a:endParaRPr lang="zh-CN" dirty="0"/>
          </a:p>
          <a:p>
            <a:r>
              <a:rPr lang="zh-CN" dirty="0"/>
              <a:t>第二部分，我们会通过一个真实的 Login Page 案例，完整走一遍从需求到代码的流程。</a:t>
            </a:r>
          </a:p>
          <a:p>
            <a:endParaRPr lang="zh-CN" dirty="0"/>
          </a:p>
          <a:p>
            <a:r>
              <a:rPr lang="zh-CN" dirty="0"/>
              <a:t>第三部分，简单介绍怎么安装和开始使用。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先解释两个概念：</a:t>
            </a:r>
          </a:p>
          <a:p>
            <a:endParaRPr lang="zh-CN" dirty="0"/>
          </a:p>
          <a:p>
            <a:r>
              <a:rPr lang="zh-CN" dirty="0"/>
              <a:t>OpenSpec 是一个放在项目里的规格仓库。它记录需求、设计、任务、以及项目已有的能力。它的核心文件是 capabilities.md——这是 AI 的"项目记忆"。</a:t>
            </a:r>
          </a:p>
          <a:p>
            <a:endParaRPr lang="zh-CN" dirty="0"/>
          </a:p>
          <a:p>
            <a:r>
              <a:rPr lang="zh-CN" dirty="0"/>
              <a:t>Superpowers 是一套 Claude Code 插件，提供 4 个主要命令：explore、propose、apply、archive。这些命令对应工作流的 4 个阶段。</a:t>
            </a:r>
          </a:p>
          <a:p>
            <a:endParaRPr lang="zh-CN" dirty="0"/>
          </a:p>
          <a:p>
            <a:r>
              <a:rPr lang="zh-CN" dirty="0"/>
              <a:t>两者组合的核心价值：让 AI 在每个阶段做正确的事，而不只是快。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整个工作流分 4 个 Phase：</a:t>
            </a:r>
          </a:p>
          <a:p>
            <a:endParaRPr lang="zh-CN" dirty="0"/>
          </a:p>
          <a:p>
            <a:r>
              <a:rPr lang="zh-CN" dirty="0"/>
              <a:t>Phase 1 Explore：AI 读取项目，理解现有能力，更新 capabilities.md。</a:t>
            </a:r>
          </a:p>
          <a:p>
            <a:endParaRPr lang="zh-CN" dirty="0"/>
          </a:p>
          <a:p>
            <a:r>
              <a:rPr lang="zh-CN" dirty="0"/>
              <a:t>Phase 2 Propose：AI 接受需求描述，生成设计方案和任务列表，人工审批后才能继续。</a:t>
            </a:r>
          </a:p>
          <a:p>
            <a:endParaRPr lang="zh-CN" dirty="0"/>
          </a:p>
          <a:p>
            <a:r>
              <a:rPr lang="zh-CN" dirty="0"/>
              <a:t>Phase 3 Apply：AI 按任务列表执行 TDD，每个 Group 末尾触发自动代码审查。</a:t>
            </a:r>
          </a:p>
          <a:p>
            <a:endParaRPr lang="zh-CN" dirty="0"/>
          </a:p>
          <a:p>
            <a:r>
              <a:rPr lang="zh-CN" dirty="0"/>
              <a:t>Phase 4 Archive：验证所有任务完成，将变更归档，更新 capabilities.md，清空工作目录。</a:t>
            </a:r>
          </a:p>
          <a:p>
            <a:endParaRPr lang="zh-CN" dirty="0"/>
          </a:p>
          <a:p>
            <a:r>
              <a:rPr lang="zh-CN" dirty="0"/>
              <a:t>每个 Phase 都有 GATE——这是关键。GATE 确保上一阶段真正完成，才能进入下一阶段。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Explore 的 GATE 很简单：项目必须存在，openspec/ 目录必须初始化。</a:t>
            </a:r>
          </a:p>
          <a:p>
            <a:endParaRPr lang="zh-CN" dirty="0"/>
          </a:p>
          <a:p>
            <a:r>
              <a:rPr lang="zh-CN" dirty="0"/>
              <a:t>它做三件事：扫描项目文件、理解现有能力、生成 requirements.md 供 propose 阶段使用。</a:t>
            </a:r>
          </a:p>
          <a:p>
            <a:endParaRPr lang="zh-CN" dirty="0"/>
          </a:p>
          <a:p>
            <a:r>
              <a:rPr lang="zh-CN" dirty="0"/>
              <a:t>右边展示了一个真实的 requirements.md 的样子——它不只是文字描述，还包含项目的上下文、约束、以及已有的技术栈信息。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Propose 有一个关键的 GATE：需要 requirements.md 存在。</a:t>
            </a:r>
          </a:p>
          <a:p>
            <a:endParaRPr lang="zh-CN" dirty="0"/>
          </a:p>
          <a:p>
            <a:r>
              <a:rPr lang="zh-CN" dirty="0"/>
              <a:t>这个阶段最重要的步骤是步骤 3——人工审批。这是一个 ⛔ BLOCKING 步骤，意思是 AI 必须停下来等你审批。在你确认 tasks.md 之前，AI 不会继续。</a:t>
            </a:r>
          </a:p>
          <a:p>
            <a:endParaRPr lang="zh-CN" dirty="0"/>
          </a:p>
          <a:p>
            <a:r>
              <a:rPr lang="zh-CN" dirty="0"/>
              <a:t>tasks.md 的结构很特别：每个任务分 MOCK、RED、GREEN 三个子步骤，这直接体现了 TDD 的工作方式。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Apply 是工作量最大的阶段，它实现了完整的 TDD 微循环：</a:t>
            </a:r>
          </a:p>
          <a:p>
            <a:endParaRPr lang="zh-CN" dirty="0"/>
          </a:p>
          <a:p>
            <a:r>
              <a:rPr lang="zh-CN" dirty="0"/>
              <a:t>MOCK 阶段：先建立视觉参照，写组件的 HTML 骨架。</a:t>
            </a:r>
          </a:p>
          <a:p>
            <a:endParaRPr lang="zh-CN" dirty="0"/>
          </a:p>
          <a:p>
            <a:r>
              <a:rPr lang="zh-CN" dirty="0"/>
              <a:t>RED 阶段：写测试，测试应该失败——这是 TDD 的关键，先有测试才有实现。</a:t>
            </a:r>
          </a:p>
          <a:p>
            <a:endParaRPr lang="zh-CN" dirty="0"/>
          </a:p>
          <a:p>
            <a:r>
              <a:rPr lang="zh-CN" dirty="0"/>
              <a:t>GREEN 阶段：写最小实现让测试通过。</a:t>
            </a:r>
          </a:p>
          <a:p>
            <a:endParaRPr lang="zh-CN" dirty="0"/>
          </a:p>
          <a:p>
            <a:r>
              <a:rPr lang="zh-CN" dirty="0"/>
              <a:t>DIFF 阶段：在浏览器里对比 MOCK 和实现，确认视觉一致。</a:t>
            </a:r>
          </a:p>
          <a:p>
            <a:endParaRPr lang="zh-CN" dirty="0"/>
          </a:p>
          <a:p>
            <a:r>
              <a:rPr lang="zh-CN" dirty="0"/>
              <a:t>每个 Group 末尾还会触发一次自动代码审查。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Archive 的 GATE 是：所有任务必须打了 [x]，一个都不能少。</a:t>
            </a:r>
          </a:p>
          <a:p>
            <a:endParaRPr lang="zh-CN" dirty="0"/>
          </a:p>
          <a:p>
            <a:r>
              <a:rPr lang="zh-CN" dirty="0"/>
              <a:t>这个阶段做两件重要的事：一是把完整的变更记录保存到 archive/；二是更新 capabilities.md，告诉 AI 这个项目现在多了哪些能力。</a:t>
            </a:r>
          </a:p>
          <a:p>
            <a:endParaRPr lang="zh-CN" dirty="0"/>
          </a:p>
          <a:p>
            <a:r>
              <a:rPr lang="zh-CN" dirty="0"/>
              <a:t>这就是为什么我们说"AI 不会失忆"——每次 archive 都在更新这份记忆，下次 explore 时 AI 就知道现在的项目已经有什么了。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接下来进入实战部分。</a:t>
            </a:r>
          </a:p>
          <a:p>
            <a:endParaRPr lang="zh-CN" dirty="0"/>
          </a:p>
          <a:p>
            <a:r>
              <a:rPr lang="zh-CN" dirty="0"/>
              <a:t>我们用一个真实的案例：给项目添加一个 Login Page。这个 Login Page 使用 React，采用 Linear 的暗色设计系统，使用 Mock 认证（不连接真实后端）。</a:t>
            </a:r>
          </a:p>
          <a:p>
            <a:endParaRPr lang="zh-CN" dirty="0"/>
          </a:p>
          <a:p>
            <a:r>
              <a:rPr lang="zh-CN" dirty="0"/>
              <a:t>整个案例有 14 个 TDD 任务，分 3 个 Group，触发 2 次自动代码审查。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这是完整的 14 个任务在 5 个阶段的分布：</a:t>
            </a:r>
          </a:p>
          <a:p>
            <a:endParaRPr lang="zh-CN" dirty="0"/>
          </a:p>
          <a:p>
            <a:r>
              <a:rPr lang="zh-CN" dirty="0"/>
              <a:t>脚手架阶段：建立项目结构，安装依赖，配置环境。</a:t>
            </a:r>
          </a:p>
          <a:p>
            <a:endParaRPr lang="zh-CN" dirty="0"/>
          </a:p>
          <a:p>
            <a:r>
              <a:rPr lang="zh-CN" dirty="0"/>
              <a:t>MOCK 阶段：先写 HTML 原型，建立视觉参照。</a:t>
            </a:r>
          </a:p>
          <a:p>
            <a:endParaRPr lang="zh-CN" dirty="0"/>
          </a:p>
          <a:p>
            <a:r>
              <a:rPr lang="zh-CN" dirty="0"/>
              <a:t>RED→GREEN 阶段：这是主体，写组件测试和实现。每个功能点（表单验证、提交逻辑、错误处理）都遵循 RED→GREEN 的节奏。</a:t>
            </a:r>
          </a:p>
          <a:p>
            <a:endParaRPr lang="zh-CN" dirty="0"/>
          </a:p>
          <a:p>
            <a:r>
              <a:rPr lang="zh-CN" dirty="0"/>
              <a:t>DIFF 验证阶段：浏览器截图对比，确认实现和 MOCK 视觉一致。</a:t>
            </a:r>
          </a:p>
          <a:p>
            <a:endParaRPr lang="zh-CN" dirty="0"/>
          </a:p>
          <a:p>
            <a:r>
              <a:rPr lang="zh-CN" dirty="0"/>
              <a:t>验证+归档阶段：运行全套测试，触发最终代码审查，执行 archive。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代码审查在每个 Group 的最后一个任务（X.Z 任务）时自动触发。</a:t>
            </a:r>
          </a:p>
          <a:p>
            <a:endParaRPr lang="zh-CN" dirty="0"/>
          </a:p>
          <a:p>
            <a:r>
              <a:rPr lang="zh-CN" dirty="0"/>
              <a:t>审查内容覆盖 4 个维度：安全性、代码质量、测试覆盖率、类型安全。</a:t>
            </a:r>
          </a:p>
          <a:p>
            <a:endParaRPr lang="zh-CN" dirty="0"/>
          </a:p>
          <a:p>
            <a:r>
              <a:rPr lang="zh-CN" dirty="0"/>
              <a:t>审查结果分 4 个级别：CRITICAL 会阻断，HIGH 是警告，MEDIUM 是建议，LOW 是提示。</a:t>
            </a:r>
          </a:p>
          <a:p>
            <a:endParaRPr lang="zh-CN" dirty="0"/>
          </a:p>
          <a:p>
            <a:r>
              <a:rPr lang="zh-CN" dirty="0"/>
              <a:t>有一点要强调：3.3 DIFF 任务是 ⛔ BLOCKING 的人工验证环节。AI 做完视觉对比之后，需要开发者亲眼确认——这不是可以省略的步骤。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这是完整的项目目录结构。</a:t>
            </a:r>
          </a:p>
          <a:p>
            <a:endParaRPr lang="zh-CN" dirty="0"/>
          </a:p>
          <a:p>
            <a:r>
              <a:rPr lang="zh-CN" dirty="0"/>
              <a:t>最上层是 openspec/——这是工作流的核心区域：changes/ 存放当前进行中的变更，archive/ 存放历史变更记录，capabilities.md 是项目能力记忆。</a:t>
            </a:r>
          </a:p>
          <a:p>
            <a:endParaRPr lang="zh-CN" dirty="0"/>
          </a:p>
          <a:p>
            <a:r>
              <a:rPr lang="zh-CN" dirty="0"/>
              <a:t>src/ 是实际的代码：组件、样式、测试文件。</a:t>
            </a:r>
          </a:p>
          <a:p>
            <a:endParaRPr lang="zh-CN" dirty="0"/>
          </a:p>
          <a:p>
            <a:r>
              <a:rPr lang="zh-CN" dirty="0"/>
              <a:t>foundation 层是 .claude/skills/——这里存放 4 个主要命令（explore、propose、apply、archive）以及其他扩展技能。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安装只需要两个前提：Node.js 20.19+ 和 Claude Code CLI。</a:t>
            </a:r>
          </a:p>
          <a:p>
            <a:endParaRPr lang="zh-CN" dirty="0"/>
          </a:p>
          <a:p>
            <a:r>
              <a:rPr lang="zh-CN" dirty="0"/>
              <a:t>安装步骤：</a:t>
            </a:r>
          </a:p>
          <a:p>
            <a:r>
              <a:rPr lang="zh-CN" dirty="0"/>
              <a:t>1. 在 Claude Code 里安装 Superpowers 插件。</a:t>
            </a:r>
          </a:p>
          <a:p>
            <a:r>
              <a:rPr lang="zh-CN" dirty="0"/>
              <a:t>2. 在 Windows 上运行 opsx-install 脚本安装 openspec CLI。</a:t>
            </a:r>
          </a:p>
          <a:p>
            <a:r>
              <a:rPr lang="zh-CN" dirty="0"/>
              <a:t>3. 在项目里执行 openspec init 初始化目录结构。</a:t>
            </a:r>
          </a:p>
          <a:p>
            <a:endParaRPr lang="zh-CN" dirty="0"/>
          </a:p>
          <a:p>
            <a:r>
              <a:rPr lang="zh-CN" dirty="0"/>
              <a:t>然后就可以按照右边的 Quick Start 流程开始使用了。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让我们回顾一下：</a:t>
            </a:r>
          </a:p>
          <a:p>
            <a:endParaRPr lang="zh-CN" dirty="0"/>
          </a:p>
          <a:p>
            <a:r>
              <a:rPr lang="zh-CN" dirty="0"/>
              <a:t>有边界的自动化：每个 Phase 都有 GATE，BLOCKING 步骤确保人工在正确的节点介入。</a:t>
            </a:r>
          </a:p>
          <a:p>
            <a:endParaRPr lang="zh-CN" dirty="0"/>
          </a:p>
          <a:p>
            <a:r>
              <a:rPr lang="zh-CN" dirty="0"/>
              <a:t>质量内建：TDD 是强制的，不是可选的。自动代码审查在每个 Group 末尾发生。</a:t>
            </a:r>
          </a:p>
          <a:p>
            <a:endParaRPr lang="zh-CN" dirty="0"/>
          </a:p>
          <a:p>
            <a:r>
              <a:rPr lang="zh-CN" dirty="0"/>
              <a:t>累积知识：每次 archive 都更新 capabilities.md，AI 的"项目记忆"随着每次迭代不断积累。</a:t>
            </a:r>
          </a:p>
          <a:p>
            <a:endParaRPr lang="zh-CN" dirty="0"/>
          </a:p>
          <a:p>
            <a:r>
              <a:rPr lang="zh-CN" dirty="0"/>
              <a:t>GitHub 地址：github.com/austinxyz/opsx-superpowers</a:t>
            </a:r>
          </a:p>
          <a:p>
            <a:endParaRPr lang="zh-CN" dirty="0"/>
          </a:p>
          <a:p>
            <a:r>
              <a:rPr lang="zh-CN" dirty="0"/>
              <a:t>谢谢大家，有问题欢迎讨论。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0F0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5E6AD2">
                    <a:alpha val="10000"/>
                  </a:srgbClr>
                </a:gs>
                <a:gs pos="100000">
                  <a:srgbClr val="5E6AD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5E6AD2">
                    <a:alpha val="4000"/>
                  </a:srgbClr>
                </a:gs>
                <a:gs pos="100000">
                  <a:srgbClr val="5E6AD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19050">
              <a:solidFill>
                <a:srgbClr val="5E6AD2">
                  <a:alpha val="60000"/>
                </a:srgbClr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533400" y="747712"/>
            <a:ext cx="10910887" cy="4967288"/>
            <a:chOff x="533400" y="747712"/>
            <a:chExt cx="10910887" cy="4967288"/>
          </a:xfrm>
        </p:grpSpPr>
        <p:sp>
          <p:nvSpPr>
            <p:cNvPr id="7" name="Rectangle 7"/>
            <p:cNvSpPr/>
            <p:nvPr/>
          </p:nvSpPr>
          <p:spPr>
            <a:xfrm>
              <a:off x="533400" y="762000"/>
              <a:ext cx="28575" cy="4953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E6AD2">
                    <a:alpha val="90000"/>
                  </a:srgbClr>
                </a:gs>
                <a:gs pos="60000">
                  <a:srgbClr val="5E6AD2">
                    <a:alpha val="50000"/>
                  </a:srgbClr>
                </a:gs>
                <a:gs pos="100000">
                  <a:srgbClr val="5E6AD2">
                    <a:alpha val="50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33400" y="3305175"/>
              <a:ext cx="457200" cy="19050"/>
            </a:xfrm>
            <a:prstGeom prst="roundRect">
              <a:avLst>
                <a:gd name="adj" fmla="val 50000"/>
              </a:avLst>
            </a:prstGeom>
            <a:solidFill>
              <a:srgbClr val="5E6AD2">
                <a:alpha val="70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463212" y="747712"/>
              <a:ext cx="28575" cy="28575"/>
            </a:xfrm>
            <a:prstGeom prst="ellipse">
              <a:avLst/>
            </a:prstGeom>
            <a:solidFill>
              <a:srgbClr val="5E6AD2">
                <a:alpha val="25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0653712" y="747712"/>
              <a:ext cx="28575" cy="28575"/>
            </a:xfrm>
            <a:prstGeom prst="ellipse">
              <a:avLst/>
            </a:prstGeom>
            <a:solidFill>
              <a:srgbClr val="5E6AD2">
                <a:alpha val="25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0844212" y="747712"/>
              <a:ext cx="28575" cy="28575"/>
            </a:xfrm>
            <a:prstGeom prst="ellipse">
              <a:avLst/>
            </a:prstGeom>
            <a:solidFill>
              <a:srgbClr val="5E6AD2">
                <a:alpha val="25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1034712" y="747712"/>
              <a:ext cx="28575" cy="28575"/>
            </a:xfrm>
            <a:prstGeom prst="ellipse">
              <a:avLst/>
            </a:prstGeom>
            <a:solidFill>
              <a:srgbClr val="5E6AD2">
                <a:alpha val="25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1225212" y="747712"/>
              <a:ext cx="28575" cy="28575"/>
            </a:xfrm>
            <a:prstGeom prst="ellipse">
              <a:avLst/>
            </a:prstGeom>
            <a:solidFill>
              <a:srgbClr val="5E6AD2">
                <a:alpha val="25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1415712" y="747712"/>
              <a:ext cx="28575" cy="28575"/>
            </a:xfrm>
            <a:prstGeom prst="ellipse">
              <a:avLst/>
            </a:prstGeom>
            <a:solidFill>
              <a:srgbClr val="5E6AD2">
                <a:alpha val="25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0463212" y="938212"/>
              <a:ext cx="28575" cy="28575"/>
            </a:xfrm>
            <a:prstGeom prst="ellipse">
              <a:avLst/>
            </a:prstGeom>
            <a:solidFill>
              <a:srgbClr val="5E6AD2">
                <a:alpha val="15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653712" y="938212"/>
              <a:ext cx="28575" cy="28575"/>
            </a:xfrm>
            <a:prstGeom prst="ellipse">
              <a:avLst/>
            </a:prstGeom>
            <a:solidFill>
              <a:srgbClr val="5E6AD2">
                <a:alpha val="15000"/>
              </a:srgb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0844212" y="938212"/>
              <a:ext cx="28575" cy="28575"/>
            </a:xfrm>
            <a:prstGeom prst="ellipse">
              <a:avLst/>
            </a:prstGeom>
            <a:solidFill>
              <a:srgbClr val="5E6AD2">
                <a:alpha val="15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1034712" y="938212"/>
              <a:ext cx="28575" cy="28575"/>
            </a:xfrm>
            <a:prstGeom prst="ellipse">
              <a:avLst/>
            </a:prstGeom>
            <a:solidFill>
              <a:srgbClr val="5E6AD2">
                <a:alpha val="15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1225212" y="938212"/>
              <a:ext cx="28575" cy="28575"/>
            </a:xfrm>
            <a:prstGeom prst="ellipse">
              <a:avLst/>
            </a:prstGeom>
            <a:solidFill>
              <a:srgbClr val="5E6AD2">
                <a:alpha val="15000"/>
              </a:srgb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1415712" y="938212"/>
              <a:ext cx="28575" cy="28575"/>
            </a:xfrm>
            <a:prstGeom prst="ellipse">
              <a:avLst/>
            </a:prstGeom>
            <a:solidFill>
              <a:srgbClr val="5E6AD2">
                <a:alpha val="15000"/>
              </a:srgb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653712" y="1128712"/>
              <a:ext cx="28575" cy="28575"/>
            </a:xfrm>
            <a:prstGeom prst="ellipse">
              <a:avLst/>
            </a:prstGeom>
            <a:solidFill>
              <a:srgbClr val="5E6AD2">
                <a:alpha val="10000"/>
              </a:srgb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844212" y="1128712"/>
              <a:ext cx="28575" cy="28575"/>
            </a:xfrm>
            <a:prstGeom prst="ellipse">
              <a:avLst/>
            </a:prstGeom>
            <a:solidFill>
              <a:srgbClr val="5E6AD2">
                <a:alpha val="10000"/>
              </a:srgb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1034712" y="1128712"/>
              <a:ext cx="28575" cy="28575"/>
            </a:xfrm>
            <a:prstGeom prst="ellipse">
              <a:avLst/>
            </a:prstGeom>
            <a:solidFill>
              <a:srgbClr val="5E6AD2">
                <a:alpha val="10000"/>
              </a:srgb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1225212" y="1128712"/>
              <a:ext cx="28575" cy="28575"/>
            </a:xfrm>
            <a:prstGeom prst="ellipse">
              <a:avLst/>
            </a:prstGeom>
            <a:solidFill>
              <a:srgbClr val="5E6AD2">
                <a:alpha val="10000"/>
              </a:srgb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1415712" y="1128712"/>
              <a:ext cx="28575" cy="28575"/>
            </a:xfrm>
            <a:prstGeom prst="ellipse">
              <a:avLst/>
            </a:prstGeom>
            <a:solidFill>
              <a:srgbClr val="5E6AD2">
                <a:alpha val="10000"/>
              </a:srgbClr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4572000" y="1638300"/>
            <a:ext cx="3048000" cy="257175"/>
            <a:chOff x="4572000" y="1638300"/>
            <a:chExt cx="3048000" cy="257175"/>
          </a:xfrm>
        </p:grpSpPr>
        <p:sp>
          <p:nvSpPr>
            <p:cNvPr id="27" name="Rectangle 27"/>
            <p:cNvSpPr/>
            <p:nvPr/>
          </p:nvSpPr>
          <p:spPr>
            <a:xfrm>
              <a:off x="4572000" y="1638300"/>
              <a:ext cx="3048000" cy="247650"/>
            </a:xfrm>
            <a:prstGeom prst="roundRect">
              <a:avLst>
                <a:gd name="adj" fmla="val 50000"/>
              </a:avLst>
            </a:prstGeom>
            <a:solidFill>
              <a:srgbClr val="5E6AD2">
                <a:alpha val="12000"/>
              </a:srgbClr>
            </a:solidFill>
            <a:ln w="9525">
              <a:solidFill>
                <a:srgbClr val="5E6AD2">
                  <a:alpha val="35000"/>
                </a:srgbClr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937712" y="1712595"/>
              <a:ext cx="23165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WORKFLOW · TECH TALK · 2026-05-14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587175" y="2002155"/>
            <a:ext cx="5017651" cy="1960245"/>
            <a:chOff x="3587175" y="2002155"/>
            <a:chExt cx="5017651" cy="1960245"/>
          </a:xfrm>
        </p:grpSpPr>
        <p:sp>
          <p:nvSpPr>
            <p:cNvPr id="30" name="TextBox 30"/>
            <p:cNvSpPr txBox="1"/>
            <p:nvPr/>
          </p:nvSpPr>
          <p:spPr>
            <a:xfrm>
              <a:off x="4232405" y="2002155"/>
              <a:ext cx="3727190" cy="1036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100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OpenSpec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08775" y="26984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E6AD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+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87175" y="2926080"/>
              <a:ext cx="5017651" cy="1036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100" b="1" dirty="0">
                  <a:gradFill>
                    <a:gsLst>
                      <a:gs pos="0">
                        <a:srgbClr val="5E6AD2"/>
                      </a:gs>
                      <a:gs pos="100000">
                        <a:srgbClr val="7B86DB"/>
                      </a:gs>
                    </a:gsLst>
                    <a:lin ang="0" scaled="1"/>
                  </a:gradFill>
                  <a:latin typeface="Arial"/>
                  <a:ea typeface="Microsoft YaHei"/>
                  <a:cs typeface="Arial"/>
                </a:rPr>
                <a:t>Superpowers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671245" y="3774758"/>
            <a:ext cx="4849511" cy="335280"/>
            <a:chOff x="3671245" y="3774758"/>
            <a:chExt cx="4849511" cy="335280"/>
          </a:xfrm>
        </p:grpSpPr>
        <p:sp>
          <p:nvSpPr>
            <p:cNvPr id="34" name="TextBox 34"/>
            <p:cNvSpPr txBox="1"/>
            <p:nvPr/>
          </p:nvSpPr>
          <p:spPr>
            <a:xfrm>
              <a:off x="3671245" y="3774758"/>
              <a:ext cx="484951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结构化开发工作流：TDD 与代码审查自动内嵌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857500" y="4248150"/>
            <a:ext cx="6477000" cy="9525"/>
            <a:chOff x="2857500" y="4248150"/>
            <a:chExt cx="6477000" cy="9525"/>
          </a:xfrm>
        </p:grpSpPr>
        <p:sp>
          <p:nvSpPr>
            <p:cNvPr id="36" name="Line 36"/>
            <p:cNvSpPr/>
            <p:nvPr/>
          </p:nvSpPr>
          <p:spPr>
            <a:xfrm>
              <a:off x="2857500" y="4248150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0" y="0"/>
                  </a:moveTo>
                  <a:lnTo>
                    <a:pt x="64770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3767042" y="4468178"/>
            <a:ext cx="4657915" cy="213360"/>
            <a:chOff x="3767042" y="4468178"/>
            <a:chExt cx="4657915" cy="213360"/>
          </a:xfrm>
        </p:grpSpPr>
        <p:sp>
          <p:nvSpPr>
            <p:cNvPr id="38" name="TextBox 38"/>
            <p:cNvSpPr txBox="1"/>
            <p:nvPr/>
          </p:nvSpPr>
          <p:spPr>
            <a:xfrm>
              <a:off x="3767042" y="4468178"/>
              <a:ext cx="4657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/opsx:explore</a:t>
              </a:r>
              <a:r>
                <a:rPr lang="zh-CN" sz="105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 xml:space="preserve"> → </a:t>
              </a:r>
              <a:r>
                <a:rPr lang="zh-CN" sz="105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/opsx:propose</a:t>
              </a:r>
              <a:r>
                <a:rPr lang="zh-CN" sz="105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 xml:space="preserve"> → </a:t>
              </a:r>
              <a:r>
                <a:rPr lang="zh-CN" sz="105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/opsx:apply</a:t>
              </a:r>
              <a:r>
                <a:rPr lang="zh-CN" sz="105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 xml:space="preserve"> → </a:t>
              </a:r>
              <a:r>
                <a:rPr lang="zh-CN" sz="105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/opsx:archive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0" y="6591300"/>
            <a:ext cx="12192000" cy="257175"/>
            <a:chOff x="0" y="6591300"/>
            <a:chExt cx="12192000" cy="257175"/>
          </a:xfrm>
        </p:grpSpPr>
        <p:sp>
          <p:nvSpPr>
            <p:cNvPr id="40" name="Line 40"/>
            <p:cNvSpPr/>
            <p:nvPr/>
          </p:nvSpPr>
          <p:spPr>
            <a:xfrm>
              <a:off x="0" y="65913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139184" y="6665595"/>
              <a:ext cx="39136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A5B66"/>
                  </a:solidFill>
                  <a:latin typeface="Arial"/>
                  <a:ea typeface="Microsoft YaHei"/>
                  <a:cs typeface="Arial"/>
                </a:rPr>
                <a:t>技术分享 · Austin · github.com/austinxyz/opsx-superpowers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412355" y="667369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3" grpId="0"/>
      <p:bldP spid="35" grpId="0"/>
      <p:bldP spid="37" grpId="0"/>
      <p:bldP spid="3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19050">
            <a:solidFill>
              <a:srgbClr val="5E6AD2">
                <a:alpha val="60000"/>
              </a:srgbClr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09600" y="457200"/>
            <a:ext cx="10984229" cy="650081"/>
            <a:chOff x="609600" y="457200"/>
            <a:chExt cx="10984229" cy="650081"/>
          </a:xfrm>
        </p:grpSpPr>
        <p:sp>
          <p:nvSpPr>
            <p:cNvPr id="4" name="Rectangle 4"/>
            <p:cNvSpPr/>
            <p:nvPr/>
          </p:nvSpPr>
          <p:spPr>
            <a:xfrm>
              <a:off x="609600" y="457200"/>
              <a:ext cx="28575" cy="590550"/>
            </a:xfrm>
            <a:prstGeom prst="roundRect">
              <a:avLst>
                <a:gd name="adj" fmla="val 50000"/>
              </a:avLst>
            </a:prstGeom>
            <a:solidFill>
              <a:srgbClr val="5E6AD2">
                <a:alpha val="85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3905" y="492442"/>
              <a:ext cx="2257663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今天讲什么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89622" y="939641"/>
              <a:ext cx="113549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TABLE OF CONTENTS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426380" y="60769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2192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2B2B2F"/>
            </a:solidFill>
          </a:ln>
        </p:spPr>
      </p:sp>
      <p:sp>
        <p:nvSpPr>
          <p:cNvPr id="10" name="Line 10"/>
          <p:cNvSpPr/>
          <p:nvPr/>
        </p:nvSpPr>
        <p:spPr>
          <a:xfrm>
            <a:off x="1295400" y="1905000"/>
            <a:ext cx="9525" cy="3848100"/>
          </a:xfrm>
          <a:custGeom>
            <a:avLst/>
            <a:gdLst/>
            <a:ahLst/>
            <a:cxnLst/>
            <a:rect l="l" t="t" r="r" b="b"/>
            <a:pathLst>
              <a:path w="9525" h="3848100">
                <a:moveTo>
                  <a:pt x="0" y="0"/>
                </a:moveTo>
                <a:lnTo>
                  <a:pt x="0" y="3848100"/>
                </a:lnTo>
              </a:path>
            </a:pathLst>
          </a:custGeom>
          <a:noFill/>
          <a:ln w="19050" cap="rnd">
            <a:gradFill>
              <a:gsLst>
                <a:gs pos="0">
                  <a:srgbClr val="5E6AD2">
                    <a:alpha val="80000"/>
                  </a:srgbClr>
                </a:gs>
                <a:gs pos="100000">
                  <a:srgbClr val="5E6AD2">
                    <a:alpha val="20000"/>
                  </a:srgbClr>
                </a:gs>
              </a:gsLst>
              <a:lin ang="5400000" scaled="1"/>
            </a:gradFill>
          </a:ln>
        </p:spPr>
      </p:sp>
      <p:grpSp>
        <p:nvGrpSpPr>
          <p:cNvPr id="18" name="Group 18"/>
          <p:cNvGrpSpPr/>
          <p:nvPr/>
        </p:nvGrpSpPr>
        <p:grpSpPr>
          <a:xfrm>
            <a:off x="1028700" y="1638300"/>
            <a:ext cx="10477500" cy="781050"/>
            <a:chOff x="1028700" y="1638300"/>
            <a:chExt cx="10477500" cy="781050"/>
          </a:xfrm>
        </p:grpSpPr>
        <p:sp>
          <p:nvSpPr>
            <p:cNvPr id="11" name="Rectangle 11"/>
            <p:cNvSpPr/>
            <p:nvPr/>
          </p:nvSpPr>
          <p:spPr>
            <a:xfrm>
              <a:off x="1028700" y="1638300"/>
              <a:ext cx="10477500" cy="781050"/>
            </a:xfrm>
            <a:prstGeom prst="roundRect">
              <a:avLst>
                <a:gd name="adj" fmla="val 9756"/>
              </a:avLst>
            </a:prstGeom>
            <a:solidFill>
              <a:srgbClr val="141414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085850" y="1819275"/>
              <a:ext cx="419100" cy="419100"/>
            </a:xfrm>
            <a:prstGeom prst="ellipse">
              <a:avLst/>
            </a:prstGeom>
            <a:solidFill>
              <a:srgbClr val="0F0F0F"/>
            </a:solidFill>
            <a:ln w="19050">
              <a:solidFill>
                <a:srgbClr val="5E6AD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13631" y="1972628"/>
              <a:ext cx="163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13548" y="1754029"/>
              <a:ext cx="5353669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OpenSpec + Superpowers 是什么 &amp; 4个阶段详解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20215" y="2067878"/>
              <a:ext cx="33927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4 个强制阶段 · 硬边界 · TDD + 代码审查自动内嵌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0096500" y="1752600"/>
              <a:ext cx="1219200" cy="285750"/>
            </a:xfrm>
            <a:prstGeom prst="roundRect">
              <a:avLst>
                <a:gd name="adj" fmla="val 50000"/>
              </a:avLst>
            </a:prstGeom>
            <a:solidFill>
              <a:srgbClr val="1A1A1F"/>
            </a:solidFill>
            <a:ln w="9525">
              <a:solidFill>
                <a:srgbClr val="5E6AD2">
                  <a:alpha val="50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427529" y="1854041"/>
              <a:ext cx="5571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P03 – P08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28700" y="3295650"/>
            <a:ext cx="10477500" cy="781050"/>
            <a:chOff x="1028700" y="3295650"/>
            <a:chExt cx="10477500" cy="781050"/>
          </a:xfrm>
        </p:grpSpPr>
        <p:sp>
          <p:nvSpPr>
            <p:cNvPr id="19" name="Rectangle 19"/>
            <p:cNvSpPr/>
            <p:nvPr/>
          </p:nvSpPr>
          <p:spPr>
            <a:xfrm>
              <a:off x="1028700" y="3295650"/>
              <a:ext cx="10477500" cy="781050"/>
            </a:xfrm>
            <a:prstGeom prst="roundRect">
              <a:avLst>
                <a:gd name="adj" fmla="val 9756"/>
              </a:avLst>
            </a:prstGeom>
            <a:solidFill>
              <a:srgbClr val="141414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085850" y="3476625"/>
              <a:ext cx="419100" cy="419100"/>
            </a:xfrm>
            <a:prstGeom prst="ellipse">
              <a:avLst/>
            </a:prstGeom>
            <a:solidFill>
              <a:srgbClr val="0F0F0F"/>
            </a:solidFill>
            <a:ln w="19050">
              <a:solidFill>
                <a:srgbClr val="5E6AD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93504" y="362997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13548" y="3411379"/>
              <a:ext cx="349388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实战案例：login-page 完整流程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20215" y="3725228"/>
              <a:ext cx="30937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真实 Change · TDD 任务流 · 代码审查 · 归档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0096500" y="3409950"/>
              <a:ext cx="1219200" cy="285750"/>
            </a:xfrm>
            <a:prstGeom prst="roundRect">
              <a:avLst>
                <a:gd name="adj" fmla="val 50000"/>
              </a:avLst>
            </a:prstGeom>
            <a:solidFill>
              <a:srgbClr val="1A1A1F"/>
            </a:solidFill>
            <a:ln w="9525">
              <a:solidFill>
                <a:srgbClr val="5E6AD2">
                  <a:alpha val="50000"/>
                </a:srgbClr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442591" y="351139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P09 – P12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28700" y="4953000"/>
            <a:ext cx="10477500" cy="781050"/>
            <a:chOff x="1028700" y="4953000"/>
            <a:chExt cx="10477500" cy="781050"/>
          </a:xfrm>
        </p:grpSpPr>
        <p:sp>
          <p:nvSpPr>
            <p:cNvPr id="27" name="Rectangle 27"/>
            <p:cNvSpPr/>
            <p:nvPr/>
          </p:nvSpPr>
          <p:spPr>
            <a:xfrm>
              <a:off x="1028700" y="4953000"/>
              <a:ext cx="10477500" cy="781050"/>
            </a:xfrm>
            <a:prstGeom prst="roundRect">
              <a:avLst>
                <a:gd name="adj" fmla="val 9756"/>
              </a:avLst>
            </a:prstGeom>
            <a:solidFill>
              <a:srgbClr val="141414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085850" y="5133975"/>
              <a:ext cx="419100" cy="419100"/>
            </a:xfrm>
            <a:prstGeom prst="ellipse">
              <a:avLst/>
            </a:prstGeom>
            <a:solidFill>
              <a:srgbClr val="0F0F0F"/>
            </a:solidFill>
            <a:ln w="19050">
              <a:solidFill>
                <a:srgbClr val="5E6AD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93504" y="52873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13548" y="5068729"/>
              <a:ext cx="173071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如何安装与上手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20215" y="5382578"/>
              <a:ext cx="25263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先决条件 · 安装命令 · 新项目初始化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0096500" y="5067300"/>
              <a:ext cx="1219200" cy="285750"/>
            </a:xfrm>
            <a:prstGeom prst="roundRect">
              <a:avLst>
                <a:gd name="adj" fmla="val 50000"/>
              </a:avLst>
            </a:prstGeom>
            <a:solidFill>
              <a:srgbClr val="1A1A1F"/>
            </a:solidFill>
            <a:ln w="9525">
              <a:solidFill>
                <a:srgbClr val="5E6AD2">
                  <a:alpha val="50000"/>
                </a:srgbClr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611279" y="5168741"/>
              <a:ext cx="18964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P13</a:t>
              </a:r>
            </a:p>
          </p:txBody>
        </p:sp>
      </p:grpSp>
      <p:sp>
        <p:nvSpPr>
          <p:cNvPr id="35" name="Line 35"/>
          <p:cNvSpPr/>
          <p:nvPr/>
        </p:nvSpPr>
        <p:spPr>
          <a:xfrm>
            <a:off x="0" y="65913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2B2B2F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4139184" y="6665595"/>
            <a:ext cx="39136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5B66"/>
                </a:solidFill>
                <a:latin typeface="Arial"/>
                <a:ea typeface="Microsoft YaHei"/>
                <a:cs typeface="Arial"/>
              </a:rPr>
              <a:t>技术分享 · Austin · github.com/austinxyz/opsx-superpowers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382232" y="66736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5A5B66"/>
                </a:solidFill>
                <a:latin typeface="Consolas"/>
                <a:ea typeface="Microsoft YaHei"/>
                <a:cs typeface="Consolas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6" grpId="0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E6AD2">
                  <a:alpha val="5000"/>
                </a:srgbClr>
              </a:gs>
              <a:gs pos="100000">
                <a:srgbClr val="5E6AD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19050">
            <a:solidFill>
              <a:srgbClr val="5E6AD2">
                <a:alpha val="60000"/>
              </a:srgbClr>
            </a:solidFill>
          </a:ln>
        </p:spPr>
      </p:sp>
      <p:grpSp>
        <p:nvGrpSpPr>
          <p:cNvPr id="9" name="Group 9"/>
          <p:cNvGrpSpPr/>
          <p:nvPr/>
        </p:nvGrpSpPr>
        <p:grpSpPr>
          <a:xfrm>
            <a:off x="609600" y="400050"/>
            <a:ext cx="10984229" cy="621506"/>
            <a:chOff x="609600" y="400050"/>
            <a:chExt cx="10984229" cy="621506"/>
          </a:xfrm>
        </p:grpSpPr>
        <p:sp>
          <p:nvSpPr>
            <p:cNvPr id="5" name="Rectangle 5"/>
            <p:cNvSpPr/>
            <p:nvPr/>
          </p:nvSpPr>
          <p:spPr>
            <a:xfrm>
              <a:off x="609600" y="400050"/>
              <a:ext cx="28575" cy="533400"/>
            </a:xfrm>
            <a:prstGeom prst="roundRect">
              <a:avLst>
                <a:gd name="adj" fmla="val 50000"/>
              </a:avLst>
            </a:prstGeom>
            <a:solidFill>
              <a:srgbClr val="5E6AD2">
                <a:alpha val="85000"/>
              </a:srgbClr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9620" y="455295"/>
              <a:ext cx="153314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概念介绍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89622" y="853916"/>
              <a:ext cx="5752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CONCEPTS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426380" y="56959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609600" y="1104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2B2B2F"/>
            </a:solidFill>
          </a:ln>
        </p:spPr>
      </p:sp>
      <p:grpSp>
        <p:nvGrpSpPr>
          <p:cNvPr id="36" name="Group 36"/>
          <p:cNvGrpSpPr/>
          <p:nvPr/>
        </p:nvGrpSpPr>
        <p:grpSpPr>
          <a:xfrm>
            <a:off x="609600" y="1295400"/>
            <a:ext cx="4953000" cy="4286250"/>
            <a:chOff x="609600" y="1295400"/>
            <a:chExt cx="4953000" cy="4286250"/>
          </a:xfrm>
        </p:grpSpPr>
        <p:sp>
          <p:nvSpPr>
            <p:cNvPr id="11" name="Rectangle 11"/>
            <p:cNvSpPr/>
            <p:nvPr/>
          </p:nvSpPr>
          <p:spPr>
            <a:xfrm>
              <a:off x="609600" y="1295400"/>
              <a:ext cx="4953000" cy="4286250"/>
            </a:xfrm>
            <a:prstGeom prst="roundRect">
              <a:avLst>
                <a:gd name="adj" fmla="val 2222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1295400"/>
              <a:ext cx="4953000" cy="28575"/>
            </a:xfrm>
            <a:prstGeom prst="roundRect">
              <a:avLst>
                <a:gd name="adj" fmla="val 50000"/>
              </a:avLst>
            </a:prstGeom>
            <a:solidFill>
              <a:srgbClr val="5E6AD2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909638" y="1555432"/>
              <a:ext cx="146685" cy="188595"/>
              <a:chOff x="909638" y="1555432"/>
              <a:chExt cx="146685" cy="18859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003935" y="1555432"/>
                <a:ext cx="52388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52388">
                    <a:moveTo>
                      <a:pt x="0" y="0"/>
                    </a:moveTo>
                    <a:lnTo>
                      <a:pt x="0" y="41910"/>
                    </a:lnTo>
                    <a:cubicBezTo>
                      <a:pt x="0" y="47697"/>
                      <a:pt x="4691" y="52388"/>
                      <a:pt x="10477" y="52388"/>
                    </a:cubicBezTo>
                    <a:lnTo>
                      <a:pt x="52388" y="52388"/>
                    </a:lnTo>
                  </a:path>
                </a:pathLst>
              </a:custGeom>
              <a:noFill/>
              <a:ln w="14288" cap="rnd">
                <a:solidFill>
                  <a:srgbClr val="5E6AD2"/>
                </a:solidFill>
                <a:round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09638" y="1555432"/>
                <a:ext cx="146685" cy="188595"/>
              </a:xfrm>
              <a:custGeom>
                <a:avLst/>
                <a:gdLst/>
                <a:ahLst/>
                <a:cxnLst/>
                <a:rect l="l" t="t" r="r" b="b"/>
                <a:pathLst>
                  <a:path w="146685" h="188595">
                    <a:moveTo>
                      <a:pt x="125730" y="188595"/>
                    </a:moveTo>
                    <a:lnTo>
                      <a:pt x="20955" y="188595"/>
                    </a:lnTo>
                    <a:cubicBezTo>
                      <a:pt x="9382" y="188595"/>
                      <a:pt x="0" y="179213"/>
                      <a:pt x="0" y="167640"/>
                    </a:cubicBezTo>
                    <a:lnTo>
                      <a:pt x="0" y="20955"/>
                    </a:lnTo>
                    <a:cubicBezTo>
                      <a:pt x="0" y="9382"/>
                      <a:pt x="9382" y="0"/>
                      <a:pt x="20955" y="0"/>
                    </a:cubicBezTo>
                    <a:lnTo>
                      <a:pt x="94298" y="0"/>
                    </a:lnTo>
                    <a:lnTo>
                      <a:pt x="146685" y="52388"/>
                    </a:lnTo>
                    <a:lnTo>
                      <a:pt x="146685" y="167640"/>
                    </a:lnTo>
                    <a:cubicBezTo>
                      <a:pt x="146685" y="179213"/>
                      <a:pt x="137303" y="188595"/>
                      <a:pt x="125730" y="188595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5E6AD2"/>
                </a:solidFill>
                <a:round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51548" y="1660208"/>
                <a:ext cx="2095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9525">
                    <a:moveTo>
                      <a:pt x="0" y="0"/>
                    </a:moveTo>
                    <a:lnTo>
                      <a:pt x="20955" y="0"/>
                    </a:lnTo>
                  </a:path>
                </a:pathLst>
              </a:custGeom>
              <a:noFill/>
              <a:ln w="14288" cap="rnd">
                <a:solidFill>
                  <a:srgbClr val="5E6AD2"/>
                </a:solidFill>
                <a:round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51548" y="1702118"/>
                <a:ext cx="6286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865" h="9525">
                    <a:moveTo>
                      <a:pt x="0" y="0"/>
                    </a:moveTo>
                    <a:lnTo>
                      <a:pt x="62865" y="0"/>
                    </a:lnTo>
                  </a:path>
                </a:pathLst>
              </a:custGeom>
              <a:noFill/>
              <a:ln w="14288" cap="rnd">
                <a:solidFill>
                  <a:srgbClr val="5E6AD2"/>
                </a:solidFill>
                <a:round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122045" y="1469708"/>
              <a:ext cx="120585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OpenSpec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0618" y="1752124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结构化变更管理系统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38200" y="20002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38200" y="2133600"/>
              <a:ext cx="76200" cy="76200"/>
            </a:xfrm>
            <a:prstGeom prst="roundRect">
              <a:avLst>
                <a:gd name="adj" fmla="val 25000"/>
              </a:avLst>
            </a:prstGeom>
            <a:solidFill>
              <a:srgbClr val="5E6AD2">
                <a:alpha val="70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7270" y="2122170"/>
              <a:ext cx="17973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openspec/changes/&lt;topic&gt;/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16318" y="2285524"/>
              <a:ext cx="32572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变更工作目录：proposal、specs、design、tasks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38200" y="2590800"/>
              <a:ext cx="76200" cy="76200"/>
            </a:xfrm>
            <a:prstGeom prst="roundRect">
              <a:avLst>
                <a:gd name="adj" fmla="val 25000"/>
              </a:avLst>
            </a:prstGeom>
            <a:solidFill>
              <a:srgbClr val="5E6AD2">
                <a:alpha val="70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17270" y="2579370"/>
              <a:ext cx="24808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openspec/specs/&lt;capability&gt;/spec.md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16318" y="2742724"/>
              <a:ext cx="35776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能力规格 source of truth，归档后从 change 合并至此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38200" y="3048000"/>
              <a:ext cx="76200" cy="76200"/>
            </a:xfrm>
            <a:prstGeom prst="roundRect">
              <a:avLst>
                <a:gd name="adj" fmla="val 25000"/>
              </a:avLst>
            </a:prstGeom>
            <a:solidFill>
              <a:srgbClr val="5E6AD2">
                <a:alpha val="70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17270" y="3036570"/>
              <a:ext cx="17119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docs/superpowers/specs/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6318" y="3199924"/>
              <a:ext cx="32785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requirements.md + mocks.html（Phase 1 输出）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38200" y="3505200"/>
              <a:ext cx="76200" cy="76200"/>
            </a:xfrm>
            <a:prstGeom prst="roundRect">
              <a:avLst>
                <a:gd name="adj" fmla="val 25000"/>
              </a:avLst>
            </a:prstGeom>
            <a:solidFill>
              <a:srgbClr val="5E6AD2">
                <a:alpha val="70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17270" y="3493770"/>
              <a:ext cx="14293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openspec/config.yaml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16318" y="3657124"/>
              <a:ext cx="39264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项目上下文：tech stack、test commands、design system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38200" y="4057650"/>
              <a:ext cx="4572000" cy="419100"/>
            </a:xfrm>
            <a:prstGeom prst="roundRect">
              <a:avLst>
                <a:gd name="adj" fmla="val 13636"/>
              </a:avLst>
            </a:prstGeom>
            <a:solidFill>
              <a:srgbClr val="1A1A1F"/>
            </a:solidFill>
            <a:ln w="9525">
              <a:solidFill>
                <a:srgbClr val="2B2B2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17270" y="4131945"/>
              <a:ext cx="20602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D2"/>
                  </a:solidFill>
                  <a:latin typeface="Arial"/>
                  <a:ea typeface="Microsoft YaHei"/>
                  <a:cs typeface="Arial"/>
                </a:rPr>
                <a:t>四个阶段，每个阶段有硬边界 GATE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18222" y="4301966"/>
              <a:ext cx="246692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/opsx:explore → propose → apply → archive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886450" y="1295400"/>
            <a:ext cx="5695950" cy="4286250"/>
            <a:chOff x="5886450" y="1295400"/>
            <a:chExt cx="5695950" cy="4286250"/>
          </a:xfrm>
        </p:grpSpPr>
        <p:sp>
          <p:nvSpPr>
            <p:cNvPr id="37" name="Rectangle 37"/>
            <p:cNvSpPr/>
            <p:nvPr/>
          </p:nvSpPr>
          <p:spPr>
            <a:xfrm>
              <a:off x="5886450" y="1295400"/>
              <a:ext cx="5695950" cy="4286250"/>
            </a:xfrm>
            <a:prstGeom prst="roundRect">
              <a:avLst>
                <a:gd name="adj" fmla="val 2222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886450" y="1295400"/>
              <a:ext cx="5695950" cy="28575"/>
            </a:xfrm>
            <a:prstGeom prst="roundRect">
              <a:avLst>
                <a:gd name="adj" fmla="val 50000"/>
              </a:avLst>
            </a:prstGeom>
            <a:solidFill>
              <a:srgbClr val="5E6AD2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6186488" y="1555432"/>
              <a:ext cx="146685" cy="188595"/>
            </a:xfrm>
            <a:custGeom>
              <a:avLst/>
              <a:gdLst/>
              <a:ahLst/>
              <a:cxnLst/>
              <a:rect l="l" t="t" r="r" b="b"/>
              <a:pathLst>
                <a:path w="146685" h="188595">
                  <a:moveTo>
                    <a:pt x="83820" y="0"/>
                  </a:moveTo>
                  <a:lnTo>
                    <a:pt x="83820" y="73342"/>
                  </a:lnTo>
                  <a:lnTo>
                    <a:pt x="146685" y="73342"/>
                  </a:lnTo>
                  <a:lnTo>
                    <a:pt x="62865" y="188595"/>
                  </a:lnTo>
                  <a:lnTo>
                    <a:pt x="62865" y="115252"/>
                  </a:lnTo>
                  <a:lnTo>
                    <a:pt x="0" y="115252"/>
                  </a:lnTo>
                  <a:lnTo>
                    <a:pt x="83820" y="0"/>
                  </a:lnTo>
                </a:path>
              </a:pathLst>
            </a:custGeom>
            <a:noFill/>
            <a:ln w="14288" cap="rnd">
              <a:solidFill>
                <a:srgbClr val="5E6AD2"/>
              </a:solidFill>
              <a:round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98895" y="1469708"/>
              <a:ext cx="234449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Superpowers Skills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07468" y="1752124"/>
              <a:ext cx="29368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嵌入工作流的 AI 技能，自动触发，不是可选项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115050" y="200025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115050" y="2114550"/>
              <a:ext cx="5295900" cy="647700"/>
            </a:xfrm>
            <a:prstGeom prst="roundRect">
              <a:avLst>
                <a:gd name="adj" fmla="val 8824"/>
              </a:avLst>
            </a:prstGeom>
            <a:solidFill>
              <a:srgbClr val="1A1A1F"/>
            </a:solidFill>
            <a:ln w="9525">
              <a:solidFill>
                <a:srgbClr val="2B2B2F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115050" y="2114550"/>
              <a:ext cx="38100" cy="647700"/>
            </a:xfrm>
            <a:prstGeom prst="roundRect">
              <a:avLst>
                <a:gd name="adj" fmla="val 50000"/>
              </a:avLst>
            </a:prstGeom>
            <a:solidFill>
              <a:srgbClr val="5E6AD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75070" y="2226945"/>
              <a:ext cx="18170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superpowers:brainstorming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75070" y="2398395"/>
              <a:ext cx="33747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Phase 1：审查 requirements 的遗漏、歧义、范围一致性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76022" y="2577941"/>
              <a:ext cx="177410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DRAFT → REVIEWED 必须通过此关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115050" y="2876550"/>
              <a:ext cx="5295900" cy="647700"/>
            </a:xfrm>
            <a:prstGeom prst="roundRect">
              <a:avLst>
                <a:gd name="adj" fmla="val 8824"/>
              </a:avLst>
            </a:prstGeom>
            <a:solidFill>
              <a:srgbClr val="1A1A1F"/>
            </a:solidFill>
            <a:ln w="9525">
              <a:solidFill>
                <a:srgbClr val="E5484D">
                  <a:alpha val="40000"/>
                </a:srgbClr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115050" y="2876550"/>
              <a:ext cx="38100" cy="647700"/>
            </a:xfrm>
            <a:prstGeom prst="roundRect">
              <a:avLst>
                <a:gd name="adj" fmla="val 50000"/>
              </a:avLst>
            </a:prstGeom>
            <a:solidFill>
              <a:srgbClr val="E5484D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75070" y="2988945"/>
              <a:ext cx="2540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5484D"/>
                  </a:solidFill>
                  <a:latin typeface="Consolas"/>
                  <a:ea typeface="Microsoft YaHei"/>
                  <a:cs typeface="Consolas"/>
                </a:rPr>
                <a:t>superpowers:test-driven-development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75070" y="3160395"/>
              <a:ext cx="34667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Phase 3 session-start：强制执行"先 RED 后 GREEN"纪律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76022" y="3339941"/>
              <a:ext cx="185844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无 GREEN without RED — 全程执行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115050" y="3638550"/>
              <a:ext cx="5295900" cy="647700"/>
            </a:xfrm>
            <a:prstGeom prst="roundRect">
              <a:avLst>
                <a:gd name="adj" fmla="val 8824"/>
              </a:avLst>
            </a:prstGeom>
            <a:solidFill>
              <a:srgbClr val="1A1A1F"/>
            </a:solidFill>
            <a:ln w="9525">
              <a:solidFill>
                <a:srgbClr val="2B2B2F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115050" y="3638550"/>
              <a:ext cx="38100" cy="647700"/>
            </a:xfrm>
            <a:prstGeom prst="roundRect">
              <a:avLst>
                <a:gd name="adj" fmla="val 50000"/>
              </a:avLst>
            </a:prstGeom>
            <a:solidFill>
              <a:srgbClr val="5E6AD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275070" y="3750945"/>
              <a:ext cx="24677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superpowers:requesting-code-review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75070" y="3922395"/>
              <a:ext cx="37361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每 Group 末（X.Z 任务）：审查 diff，CRITICAL/HIGH 立即修复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76022" y="4101941"/>
              <a:ext cx="16114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Phase 3 任务 1.Z · 2.Z · 3.4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115050" y="4400550"/>
              <a:ext cx="5295900" cy="647700"/>
            </a:xfrm>
            <a:prstGeom prst="roundRect">
              <a:avLst>
                <a:gd name="adj" fmla="val 8824"/>
              </a:avLst>
            </a:prstGeom>
            <a:solidFill>
              <a:srgbClr val="1A1A1F"/>
            </a:solidFill>
            <a:ln w="9525">
              <a:solidFill>
                <a:srgbClr val="30A46C">
                  <a:alpha val="40000"/>
                </a:srgbClr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115050" y="4400550"/>
              <a:ext cx="38100" cy="647700"/>
            </a:xfrm>
            <a:prstGeom prst="roundRect">
              <a:avLst>
                <a:gd name="adj" fmla="val 50000"/>
              </a:avLst>
            </a:prstGeom>
            <a:solidFill>
              <a:srgbClr val="30A46C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275070" y="4512945"/>
              <a:ext cx="294751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superpowers:verification-before-completion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275070" y="4684395"/>
              <a:ext cx="30658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最终验证：全测试 + console.log 审查 + 完整性核验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276022" y="4863941"/>
              <a:ext cx="19488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Phase 3 任务 3.3 — 归档前最后一关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4827520" y="5825014"/>
            <a:ext cx="253696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8B8D98"/>
                </a:solidFill>
                <a:latin typeface="Arial"/>
                <a:ea typeface="Microsoft YaHei"/>
                <a:cs typeface="Arial"/>
              </a:rPr>
              <a:t>让 AI 做正确的事，而不只是快</a:t>
            </a:r>
          </a:p>
        </p:txBody>
      </p:sp>
      <p:sp>
        <p:nvSpPr>
          <p:cNvPr id="65" name="Line 65"/>
          <p:cNvSpPr/>
          <p:nvPr/>
        </p:nvSpPr>
        <p:spPr>
          <a:xfrm>
            <a:off x="0" y="65913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2B2B2F"/>
            </a:solidFill>
          </a:ln>
        </p:spPr>
      </p:sp>
      <p:sp>
        <p:nvSpPr>
          <p:cNvPr id="66" name="TextBox 66"/>
          <p:cNvSpPr txBox="1"/>
          <p:nvPr/>
        </p:nvSpPr>
        <p:spPr>
          <a:xfrm>
            <a:off x="4139184" y="6665595"/>
            <a:ext cx="39136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5B66"/>
                </a:solidFill>
                <a:latin typeface="Arial"/>
                <a:ea typeface="Microsoft YaHei"/>
                <a:cs typeface="Arial"/>
              </a:rPr>
              <a:t>技术分享 · Austin · github.com/austinxyz/opsx-superpowers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382232" y="66736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5A5B66"/>
                </a:solidFill>
                <a:latin typeface="Consolas"/>
                <a:ea typeface="Microsoft YaHei"/>
                <a:cs typeface="Consolas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6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19050">
            <a:solidFill>
              <a:srgbClr val="5E6AD2">
                <a:alpha val="60000"/>
              </a:srgbClr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09600" y="400050"/>
            <a:ext cx="10984229" cy="602456"/>
            <a:chOff x="609600" y="400050"/>
            <a:chExt cx="10984229" cy="602456"/>
          </a:xfrm>
        </p:grpSpPr>
        <p:sp>
          <p:nvSpPr>
            <p:cNvPr id="4" name="Rectangle 4"/>
            <p:cNvSpPr/>
            <p:nvPr/>
          </p:nvSpPr>
          <p:spPr>
            <a:xfrm>
              <a:off x="609600" y="400050"/>
              <a:ext cx="28575" cy="533400"/>
            </a:xfrm>
            <a:prstGeom prst="roundRect">
              <a:avLst>
                <a:gd name="adj" fmla="val 50000"/>
              </a:avLst>
            </a:prstGeom>
            <a:solidFill>
              <a:srgbClr val="5E6AD2">
                <a:alpha val="85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9620" y="455295"/>
              <a:ext cx="436709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工作流全貌 · 4个强制阶段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89622" y="834866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WORKFLOW OVERVIEW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426380" y="5505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04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0858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2B2B2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4378392" y="1209199"/>
            <a:ext cx="34352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5B66"/>
                </a:solidFill>
                <a:latin typeface="Arial"/>
                <a:ea typeface="Microsoft YaHei"/>
                <a:cs typeface="Arial"/>
              </a:rPr>
              <a:t>每个阶段有前置 Gate 检查 — 条件不满足技能拒绝执行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09600" y="1447800"/>
            <a:ext cx="10782300" cy="914400"/>
            <a:chOff x="609600" y="1447800"/>
            <a:chExt cx="10782300" cy="914400"/>
          </a:xfrm>
        </p:grpSpPr>
        <p:sp>
          <p:nvSpPr>
            <p:cNvPr id="11" name="Polygon 11"/>
            <p:cNvSpPr/>
            <p:nvPr/>
          </p:nvSpPr>
          <p:spPr>
            <a:xfrm>
              <a:off x="609600" y="1447800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0" y="0"/>
                  </a:moveTo>
                  <a:lnTo>
                    <a:pt x="2381250" y="0"/>
                  </a:lnTo>
                  <a:lnTo>
                    <a:pt x="2667000" y="457200"/>
                  </a:lnTo>
                  <a:lnTo>
                    <a:pt x="23812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5E6AD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72003" y="1752124"/>
              <a:ext cx="10564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/opsx:explore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21166" y="1942624"/>
              <a:ext cx="7581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探索 · 需求</a:t>
              </a:r>
            </a:p>
          </p:txBody>
        </p:sp>
        <p:sp>
          <p:nvSpPr>
            <p:cNvPr id="14" name="Polygon 14"/>
            <p:cNvSpPr/>
            <p:nvPr/>
          </p:nvSpPr>
          <p:spPr>
            <a:xfrm>
              <a:off x="3314700" y="1447800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0" y="0"/>
                  </a:moveTo>
                  <a:lnTo>
                    <a:pt x="2381250" y="0"/>
                  </a:lnTo>
                  <a:lnTo>
                    <a:pt x="2667000" y="457200"/>
                  </a:lnTo>
                  <a:lnTo>
                    <a:pt x="2381250" y="914400"/>
                  </a:lnTo>
                  <a:lnTo>
                    <a:pt x="0" y="914400"/>
                  </a:lnTo>
                  <a:lnTo>
                    <a:pt x="285750" y="457200"/>
                  </a:lnTo>
                  <a:close/>
                </a:path>
              </a:pathLst>
            </a:custGeom>
            <a:solidFill>
              <a:srgbClr val="5E6AD2">
                <a:alpha val="88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01288" y="1752124"/>
              <a:ext cx="10938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/opsx:propose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69141" y="1942624"/>
              <a:ext cx="7581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提案 · 方案</a:t>
              </a:r>
            </a:p>
          </p:txBody>
        </p:sp>
        <p:sp>
          <p:nvSpPr>
            <p:cNvPr id="17" name="Polygon 17"/>
            <p:cNvSpPr/>
            <p:nvPr/>
          </p:nvSpPr>
          <p:spPr>
            <a:xfrm>
              <a:off x="6019800" y="1447800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0" y="0"/>
                  </a:moveTo>
                  <a:lnTo>
                    <a:pt x="2381250" y="0"/>
                  </a:lnTo>
                  <a:lnTo>
                    <a:pt x="2667000" y="457200"/>
                  </a:lnTo>
                  <a:lnTo>
                    <a:pt x="2381250" y="914400"/>
                  </a:lnTo>
                  <a:lnTo>
                    <a:pt x="0" y="914400"/>
                  </a:lnTo>
                  <a:lnTo>
                    <a:pt x="285750" y="457200"/>
                  </a:lnTo>
                  <a:close/>
                </a:path>
              </a:pathLst>
            </a:custGeom>
            <a:solidFill>
              <a:srgbClr val="5E6AD2">
                <a:alpha val="76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07313" y="1752124"/>
              <a:ext cx="8919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/opsx:apply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99161" y="1942624"/>
              <a:ext cx="7082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实施 · TDD</a:t>
              </a:r>
            </a:p>
          </p:txBody>
        </p:sp>
        <p:sp>
          <p:nvSpPr>
            <p:cNvPr id="20" name="Polygon 20"/>
            <p:cNvSpPr/>
            <p:nvPr/>
          </p:nvSpPr>
          <p:spPr>
            <a:xfrm>
              <a:off x="8724900" y="1447800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0" y="0"/>
                  </a:moveTo>
                  <a:lnTo>
                    <a:pt x="2381250" y="0"/>
                  </a:lnTo>
                  <a:lnTo>
                    <a:pt x="2667000" y="457200"/>
                  </a:lnTo>
                  <a:lnTo>
                    <a:pt x="2381250" y="914400"/>
                  </a:lnTo>
                  <a:lnTo>
                    <a:pt x="0" y="914400"/>
                  </a:lnTo>
                  <a:lnTo>
                    <a:pt x="285750" y="457200"/>
                  </a:lnTo>
                  <a:close/>
                </a:path>
              </a:pathLst>
            </a:custGeom>
            <a:solidFill>
              <a:srgbClr val="5E6AD2">
                <a:alpha val="64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530178" y="1752124"/>
              <a:ext cx="10564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/opsx:archive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679341" y="1942624"/>
              <a:ext cx="7581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归档 · 能力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9600" y="2514600"/>
            <a:ext cx="2667000" cy="3524250"/>
            <a:chOff x="609600" y="2514600"/>
            <a:chExt cx="2667000" cy="3524250"/>
          </a:xfrm>
        </p:grpSpPr>
        <p:sp>
          <p:nvSpPr>
            <p:cNvPr id="24" name="Rectangle 24"/>
            <p:cNvSpPr/>
            <p:nvPr/>
          </p:nvSpPr>
          <p:spPr>
            <a:xfrm>
              <a:off x="609600" y="2514600"/>
              <a:ext cx="2667000" cy="3524250"/>
            </a:xfrm>
            <a:prstGeom prst="roundRect">
              <a:avLst>
                <a:gd name="adj" fmla="val 2857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9600" y="2514600"/>
              <a:ext cx="2667000" cy="28575"/>
            </a:xfrm>
            <a:prstGeom prst="roundRect">
              <a:avLst>
                <a:gd name="adj" fmla="val 50000"/>
              </a:avLst>
            </a:prstGeom>
            <a:solidFill>
              <a:srgbClr val="5E6AD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9622" y="2749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PHASE 01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4860" y="29375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探索阶段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800100" y="32194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87718" y="3342799"/>
              <a:ext cx="15697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· 分析代码库现状与约束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7718" y="3590449"/>
              <a:ext cx="1427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· 与用户澄清需求边界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7718" y="3838099"/>
              <a:ext cx="17477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· 草拟需求文档 + UI mocks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800100" y="41338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88670" y="4246245"/>
              <a:ext cx="4369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E6AD2"/>
                  </a:solidFill>
                  <a:latin typeface="Arial"/>
                  <a:ea typeface="Microsoft YaHei"/>
                  <a:cs typeface="Arial"/>
                </a:rPr>
                <a:t>产出：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8670" y="4436745"/>
              <a:ext cx="11269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requirements.md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9622" y="4606766"/>
              <a:ext cx="152709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mocks.html (有 UI 表面时)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8670" y="4798695"/>
              <a:ext cx="5818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A5B66"/>
                  </a:solidFill>
                  <a:latin typeface="Arial"/>
                  <a:ea typeface="Microsoft YaHei"/>
                  <a:cs typeface="Arial"/>
                </a:rPr>
                <a:t>🚧 Gate：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8670" y="4989195"/>
              <a:ext cx="15607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Arial"/>
                  <a:ea typeface="Microsoft YaHei"/>
                  <a:cs typeface="Arial"/>
                </a:rPr>
                <a:t>requirements.md 不存在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8670" y="5179695"/>
              <a:ext cx="14556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Arial"/>
                  <a:ea typeface="Microsoft YaHei"/>
                  <a:cs typeface="Arial"/>
                </a:rPr>
                <a:t>（已有则跳过 explore）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800100" y="54483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89622" y="5530691"/>
              <a:ext cx="16897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⛔ 需求未确认禁止进入下一阶段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0575" y="5719762"/>
              <a:ext cx="172783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SP: superpowers:brainstorming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3352800" y="2514600"/>
            <a:ext cx="2667000" cy="3524250"/>
            <a:chOff x="3352800" y="2514600"/>
            <a:chExt cx="2667000" cy="3524250"/>
          </a:xfrm>
        </p:grpSpPr>
        <p:sp>
          <p:nvSpPr>
            <p:cNvPr id="43" name="Rectangle 43"/>
            <p:cNvSpPr/>
            <p:nvPr/>
          </p:nvSpPr>
          <p:spPr>
            <a:xfrm>
              <a:off x="3352800" y="2514600"/>
              <a:ext cx="2667000" cy="3524250"/>
            </a:xfrm>
            <a:prstGeom prst="roundRect">
              <a:avLst>
                <a:gd name="adj" fmla="val 2857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3352800" y="2514600"/>
              <a:ext cx="2667000" cy="28575"/>
            </a:xfrm>
            <a:prstGeom prst="roundRect">
              <a:avLst>
                <a:gd name="adj" fmla="val 50000"/>
              </a:avLst>
            </a:prstGeom>
            <a:solidFill>
              <a:srgbClr val="5E6AD2">
                <a:alpha val="88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532822" y="2749391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PHASE 02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528060" y="29375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提案阶段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3543300" y="32194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530918" y="334279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· 技术方案 + 影响范围分析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530918" y="3590449"/>
              <a:ext cx="16053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· 生成 TDD 任务拆解清单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530918" y="3838099"/>
              <a:ext cx="14060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5484D"/>
                  </a:solidFill>
                  <a:latin typeface="Arial"/>
                  <a:ea typeface="Microsoft YaHei"/>
                  <a:cs typeface="Arial"/>
                </a:rPr>
                <a:t>· ⛔ 等待人工确认提案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3543300" y="41338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531870" y="4246245"/>
              <a:ext cx="4369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E6AD2"/>
                  </a:solidFill>
                  <a:latin typeface="Arial"/>
                  <a:ea typeface="Microsoft YaHei"/>
                  <a:cs typeface="Arial"/>
                </a:rPr>
                <a:t>产出：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531870" y="4436745"/>
              <a:ext cx="16330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proposal · design · tasks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531870" y="4798695"/>
              <a:ext cx="5818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A5B66"/>
                  </a:solidFill>
                  <a:latin typeface="Arial"/>
                  <a:ea typeface="Microsoft YaHei"/>
                  <a:cs typeface="Arial"/>
                </a:rPr>
                <a:t>🚧 Gate：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531870" y="4989195"/>
              <a:ext cx="15607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Arial"/>
                  <a:ea typeface="Microsoft YaHei"/>
                  <a:cs typeface="Arial"/>
                </a:rPr>
                <a:t>requirements.md 已存在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531870" y="5179695"/>
              <a:ext cx="1376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Arial"/>
                  <a:ea typeface="Microsoft YaHei"/>
                  <a:cs typeface="Arial"/>
                </a:rPr>
                <a:t>proposal.md 尚未生成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3543300" y="54483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532822" y="5530691"/>
              <a:ext cx="158131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5484D"/>
                  </a:solidFill>
                  <a:latin typeface="Consolas"/>
                  <a:ea typeface="Microsoft YaHei"/>
                  <a:cs typeface="Consolas"/>
                </a:rPr>
                <a:t>⛔ 用户回复确认后 apply 继续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532822" y="5721191"/>
              <a:ext cx="137648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不确认则 AI 不执行 apply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6096000" y="2514600"/>
            <a:ext cx="2667000" cy="3524250"/>
            <a:chOff x="6096000" y="2514600"/>
            <a:chExt cx="2667000" cy="3524250"/>
          </a:xfrm>
        </p:grpSpPr>
        <p:sp>
          <p:nvSpPr>
            <p:cNvPr id="61" name="Rectangle 61"/>
            <p:cNvSpPr/>
            <p:nvPr/>
          </p:nvSpPr>
          <p:spPr>
            <a:xfrm>
              <a:off x="6096000" y="2514600"/>
              <a:ext cx="2667000" cy="3524250"/>
            </a:xfrm>
            <a:prstGeom prst="roundRect">
              <a:avLst>
                <a:gd name="adj" fmla="val 2857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096000" y="2514600"/>
              <a:ext cx="2667000" cy="28575"/>
            </a:xfrm>
            <a:prstGeom prst="roundRect">
              <a:avLst>
                <a:gd name="adj" fmla="val 50000"/>
              </a:avLst>
            </a:prstGeom>
            <a:solidFill>
              <a:srgbClr val="5E6AD2">
                <a:alpha val="76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276022" y="2749391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PHASE 03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271260" y="29375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实施阶段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6286500" y="32194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274118" y="3342799"/>
              <a:ext cx="17976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· TDD: mock → red → green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274118" y="3590449"/>
              <a:ext cx="18474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· 视觉验证对比 mocks.html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274118" y="3838099"/>
              <a:ext cx="12849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· 代码审查自动内嵌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6286500" y="41338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275070" y="4246245"/>
              <a:ext cx="4369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E6AD2"/>
                  </a:solidFill>
                  <a:latin typeface="Arial"/>
                  <a:ea typeface="Microsoft YaHei"/>
                  <a:cs typeface="Arial"/>
                </a:rPr>
                <a:t>产出：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275070" y="4436745"/>
              <a:ext cx="12255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功能代码 · 测试套件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275070" y="4798695"/>
              <a:ext cx="5818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A5B66"/>
                  </a:solidFill>
                  <a:latin typeface="Arial"/>
                  <a:ea typeface="Microsoft YaHei"/>
                  <a:cs typeface="Arial"/>
                </a:rPr>
                <a:t>🚧 Gate：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275070" y="4989195"/>
              <a:ext cx="18696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Arial"/>
                  <a:ea typeface="Microsoft YaHei"/>
                  <a:cs typeface="Arial"/>
                </a:rPr>
                <a:t>proposal.md + tasks.md 存在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275070" y="5179695"/>
              <a:ext cx="1435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Arial"/>
                  <a:ea typeface="Microsoft YaHei"/>
                  <a:cs typeface="Arial"/>
                </a:rPr>
                <a:t>且 proposal 已人工确认</a:t>
              </a:r>
            </a:p>
          </p:txBody>
        </p:sp>
        <p:sp>
          <p:nvSpPr>
            <p:cNvPr id="75" name="Line 75"/>
            <p:cNvSpPr/>
            <p:nvPr/>
          </p:nvSpPr>
          <p:spPr>
            <a:xfrm>
              <a:off x="6286500" y="54483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276975" y="5481638"/>
              <a:ext cx="158543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SP: test-driven-development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276975" y="5614988"/>
              <a:ext cx="152519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SP: requesting-code-review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276975" y="5748338"/>
              <a:ext cx="19250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SP: verification-before-completion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8839200" y="2514600"/>
            <a:ext cx="2667000" cy="3524250"/>
            <a:chOff x="8839200" y="2514600"/>
            <a:chExt cx="2667000" cy="3524250"/>
          </a:xfrm>
        </p:grpSpPr>
        <p:sp>
          <p:nvSpPr>
            <p:cNvPr id="80" name="Rectangle 80"/>
            <p:cNvSpPr/>
            <p:nvPr/>
          </p:nvSpPr>
          <p:spPr>
            <a:xfrm>
              <a:off x="8839200" y="2514600"/>
              <a:ext cx="2667000" cy="3524250"/>
            </a:xfrm>
            <a:prstGeom prst="roundRect">
              <a:avLst>
                <a:gd name="adj" fmla="val 2857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8839200" y="2514600"/>
              <a:ext cx="2667000" cy="28575"/>
            </a:xfrm>
            <a:prstGeom prst="roundRect">
              <a:avLst>
                <a:gd name="adj" fmla="val 50000"/>
              </a:avLst>
            </a:prstGeom>
            <a:solidFill>
              <a:srgbClr val="5E6AD2">
                <a:alpha val="64000"/>
              </a:srgbClr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019222" y="2749391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PHASE 04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014460" y="29375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归档阶段</a:t>
              </a:r>
            </a:p>
          </p:txBody>
        </p:sp>
        <p:sp>
          <p:nvSpPr>
            <p:cNvPr id="84" name="Line 84"/>
            <p:cNvSpPr/>
            <p:nvPr/>
          </p:nvSpPr>
          <p:spPr>
            <a:xfrm>
              <a:off x="9029700" y="32194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9017318" y="3342799"/>
              <a:ext cx="17762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· 整理变更目录至 archive/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017318" y="3590449"/>
              <a:ext cx="16409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· 填写 spec.md Purpose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017318" y="3838099"/>
              <a:ext cx="18474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· 更新 CLAUDE.md + dev log</a:t>
              </a:r>
            </a:p>
          </p:txBody>
        </p:sp>
        <p:sp>
          <p:nvSpPr>
            <p:cNvPr id="88" name="Line 88"/>
            <p:cNvSpPr/>
            <p:nvPr/>
          </p:nvSpPr>
          <p:spPr>
            <a:xfrm>
              <a:off x="9029700" y="41338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9018270" y="4246245"/>
              <a:ext cx="4369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E6AD2"/>
                  </a:solidFill>
                  <a:latin typeface="Arial"/>
                  <a:ea typeface="Microsoft YaHei"/>
                  <a:cs typeface="Arial"/>
                </a:rPr>
                <a:t>产出：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018270" y="4436745"/>
              <a:ext cx="18170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归档记录 · spec + CLAUDE.md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018270" y="4798695"/>
              <a:ext cx="5818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A5B66"/>
                  </a:solidFill>
                  <a:latin typeface="Arial"/>
                  <a:ea typeface="Microsoft YaHei"/>
                  <a:cs typeface="Arial"/>
                </a:rPr>
                <a:t>🚧 Gate：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018270" y="4989195"/>
              <a:ext cx="13241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Arial"/>
                  <a:ea typeface="Microsoft YaHei"/>
                  <a:cs typeface="Arial"/>
                </a:rPr>
                <a:t>tasks.md 中所有任务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018270" y="5179695"/>
              <a:ext cx="9758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Arial"/>
                  <a:ea typeface="Microsoft YaHei"/>
                  <a:cs typeface="Arial"/>
                </a:rPr>
                <a:t>已标记 [x] 完成</a:t>
              </a:r>
            </a:p>
          </p:txBody>
        </p:sp>
        <p:sp>
          <p:nvSpPr>
            <p:cNvPr id="94" name="Line 94"/>
            <p:cNvSpPr/>
            <p:nvPr/>
          </p:nvSpPr>
          <p:spPr>
            <a:xfrm>
              <a:off x="9029700" y="54483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9019222" y="5530691"/>
              <a:ext cx="16897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✓ 能力知识沉淀，可供后续复用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019222" y="5721191"/>
              <a:ext cx="14005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CLAUDE.md 记录新增踩坑</a:t>
              </a:r>
            </a:p>
          </p:txBody>
        </p:sp>
      </p:grpSp>
      <p:sp>
        <p:nvSpPr>
          <p:cNvPr id="98" name="Line 98"/>
          <p:cNvSpPr/>
          <p:nvPr/>
        </p:nvSpPr>
        <p:spPr>
          <a:xfrm>
            <a:off x="0" y="65913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2B2B2F"/>
            </a:solidFill>
          </a:ln>
        </p:spPr>
      </p:sp>
      <p:sp>
        <p:nvSpPr>
          <p:cNvPr id="99" name="TextBox 99"/>
          <p:cNvSpPr txBox="1"/>
          <p:nvPr/>
        </p:nvSpPr>
        <p:spPr>
          <a:xfrm>
            <a:off x="4139184" y="6665595"/>
            <a:ext cx="39136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5B66"/>
                </a:solidFill>
                <a:latin typeface="Arial"/>
                <a:ea typeface="Microsoft YaHei"/>
                <a:cs typeface="Arial"/>
              </a:rPr>
              <a:t>技术分享 · Austin · github.com/austinxyz/opsx-superpowers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1382232" y="66736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5A5B66"/>
                </a:solidFill>
                <a:latin typeface="Consolas"/>
                <a:ea typeface="Microsoft YaHei"/>
                <a:cs typeface="Consolas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42" grpId="0"/>
      <p:bldP spid="60" grpId="0"/>
      <p:bldP spid="79" grpId="0"/>
      <p:bldP spid="9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19050">
            <a:solidFill>
              <a:srgbClr val="5E6AD2">
                <a:alpha val="60000"/>
              </a:srgbClr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09600" y="400050"/>
            <a:ext cx="10984229" cy="742950"/>
            <a:chOff x="609600" y="400050"/>
            <a:chExt cx="10984229" cy="742950"/>
          </a:xfrm>
        </p:grpSpPr>
        <p:sp>
          <p:nvSpPr>
            <p:cNvPr id="4" name="Rectangle 4"/>
            <p:cNvSpPr/>
            <p:nvPr/>
          </p:nvSpPr>
          <p:spPr>
            <a:xfrm>
              <a:off x="609600" y="400050"/>
              <a:ext cx="28575" cy="533400"/>
            </a:xfrm>
            <a:prstGeom prst="roundRect">
              <a:avLst>
                <a:gd name="adj" fmla="val 50000"/>
              </a:avLst>
            </a:prstGeom>
            <a:solidFill>
              <a:srgbClr val="5E6AD2">
                <a:alpha val="85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87718" y="580549"/>
              <a:ext cx="5801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PHASE 01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9620" y="655320"/>
              <a:ext cx="565525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/opsx:explore — 需求澄清 &amp; 文档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426380" y="5886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05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104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2B2B2F"/>
            </a:solidFill>
          </a:ln>
        </p:spPr>
      </p:sp>
      <p:grpSp>
        <p:nvGrpSpPr>
          <p:cNvPr id="49" name="Group 49"/>
          <p:cNvGrpSpPr/>
          <p:nvPr/>
        </p:nvGrpSpPr>
        <p:grpSpPr>
          <a:xfrm>
            <a:off x="599122" y="1257300"/>
            <a:ext cx="5045965" cy="4629150"/>
            <a:chOff x="599122" y="1257300"/>
            <a:chExt cx="5045965" cy="4629150"/>
          </a:xfrm>
        </p:grpSpPr>
        <p:sp>
          <p:nvSpPr>
            <p:cNvPr id="10" name="Rectangle 10"/>
            <p:cNvSpPr/>
            <p:nvPr/>
          </p:nvSpPr>
          <p:spPr>
            <a:xfrm>
              <a:off x="609600" y="1257300"/>
              <a:ext cx="4991100" cy="342900"/>
            </a:xfrm>
            <a:prstGeom prst="roundRect">
              <a:avLst>
                <a:gd name="adj" fmla="val 16667"/>
              </a:avLst>
            </a:prstGeom>
            <a:solidFill>
              <a:srgbClr val="1A1A1F"/>
            </a:solidFill>
            <a:ln w="9525">
              <a:solidFill>
                <a:srgbClr val="2B2B2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89622" y="132064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GATE IN: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55420" y="1312545"/>
              <a:ext cx="26649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任何描述都行——含糊的想法到具体规格都接受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9622" y="1453991"/>
              <a:ext cx="61136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GATE OUT: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55420" y="1445895"/>
              <a:ext cx="41896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5484D"/>
                  </a:solidFill>
                  <a:latin typeface="Arial"/>
                  <a:ea typeface="Microsoft YaHei"/>
                  <a:cs typeface="Arial"/>
                </a:rPr>
                <a:t>requirements.md Status: REVIEWED（DRAFT 则 propose 拒绝执行）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9122" y="1796891"/>
              <a:ext cx="4547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5 STEPS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09600" y="196215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628650" y="2076450"/>
              <a:ext cx="266700" cy="266700"/>
            </a:xfrm>
            <a:prstGeom prst="ellipse">
              <a:avLst/>
            </a:prstGeom>
            <a:solidFill>
              <a:srgbClr val="1A1A1F"/>
            </a:solidFill>
            <a:ln w="14288">
              <a:solidFill>
                <a:srgbClr val="5E6AD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30853" y="2160270"/>
              <a:ext cx="622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7265" y="206787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自由讨论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9170" y="2255520"/>
              <a:ext cx="36573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对话式澄清，逐一提问，ASCII 图，读项目代码——无代码无文档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762000" y="23431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9525">
              <a:solidFill>
                <a:srgbClr val="5E6AD2">
                  <a:alpha val="40000"/>
                </a:srgbClr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628650" y="2609850"/>
              <a:ext cx="266700" cy="266700"/>
            </a:xfrm>
            <a:prstGeom prst="ellipse">
              <a:avLst/>
            </a:prstGeom>
            <a:solidFill>
              <a:srgbClr val="1A1A1F"/>
            </a:solidFill>
            <a:ln w="14288">
              <a:solidFill>
                <a:srgbClr val="5E6AD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4423" y="269367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7265" y="2601278"/>
              <a:ext cx="17495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起草 requirements.md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9170" y="2788920"/>
              <a:ext cx="38676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docs/superpowers/specs/&lt;date&gt;-&lt;topic&gt;-requirements.md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79170" y="2941320"/>
              <a:ext cx="42816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Arial"/>
                  <a:ea typeface="Microsoft YaHei"/>
                  <a:cs typeface="Arial"/>
                </a:rPr>
                <a:t>Status: DRAFT，Goals / Non-Goals / Constraints / Success Criteria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762000" y="287655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9525">
              <a:solidFill>
                <a:srgbClr val="5E6AD2">
                  <a:alpha val="40000"/>
                </a:srgbClr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628650" y="3276600"/>
              <a:ext cx="266700" cy="266700"/>
            </a:xfrm>
            <a:prstGeom prst="ellipse">
              <a:avLst/>
            </a:prstGeom>
            <a:solidFill>
              <a:srgbClr val="5E6AD2">
                <a:alpha val="15000"/>
              </a:srgbClr>
            </a:solidFill>
            <a:ln w="14288">
              <a:solidFill>
                <a:srgbClr val="5E6AD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4423" y="336042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7265" y="3268028"/>
              <a:ext cx="25949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运行 superpowers:brainstorming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79170" y="3455670"/>
              <a:ext cx="33221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自我审查：检查占位符、一致性、范围、歧义——填补空洞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79170" y="3608070"/>
              <a:ext cx="16527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Status: DRAFT → REVIEWED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762000" y="354330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9525">
              <a:solidFill>
                <a:srgbClr val="5E6AD2">
                  <a:alpha val="40000"/>
                </a:srgbClr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628650" y="3962400"/>
              <a:ext cx="266700" cy="266700"/>
            </a:xfrm>
            <a:prstGeom prst="ellipse">
              <a:avLst/>
            </a:prstGeom>
            <a:solidFill>
              <a:srgbClr val="1A1A1F"/>
            </a:solidFill>
            <a:ln w="14288">
              <a:solidFill>
                <a:srgbClr val="5E6AD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4423" y="404622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7265" y="3953828"/>
              <a:ext cx="29894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UI 绕道（HAS_UI_SURFACE: yes 时执行）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79170" y="4141470"/>
              <a:ext cx="31315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选设计系统，在浏览器中画 mock，保存 mocks.html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79170" y="4293870"/>
              <a:ext cx="39662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docs/superpowers/specs/mocks/&lt;date&gt;-&lt;topic&gt;-mocks.html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762000" y="42291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9525">
              <a:solidFill>
                <a:srgbClr val="5E6AD2">
                  <a:alpha val="40000"/>
                </a:srgbClr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628650" y="4610100"/>
              <a:ext cx="266700" cy="266700"/>
            </a:xfrm>
            <a:prstGeom prst="ellipse">
              <a:avLst/>
            </a:prstGeom>
            <a:solidFill>
              <a:srgbClr val="30A46C">
                <a:alpha val="15000"/>
              </a:srgbClr>
            </a:solidFill>
            <a:ln w="14288">
              <a:solidFill>
                <a:srgbClr val="30A46C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14423" y="469392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77265" y="4601528"/>
              <a:ext cx="10894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Commit + 移交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79170" y="4789170"/>
              <a:ext cx="40187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提交 requirements (+ mocks)，告知运行 /opsx:propose &lt;topic&gt;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99122" y="5187791"/>
              <a:ext cx="50894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OUTPUTS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609600" y="535305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09600" y="5429250"/>
              <a:ext cx="4991100" cy="457200"/>
            </a:xfrm>
            <a:prstGeom prst="roundRect">
              <a:avLst>
                <a:gd name="adj" fmla="val 12500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88670" y="5532120"/>
              <a:ext cx="38676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docs/superpowers/specs/&lt;date&gt;-&lt;topic&gt;-requirements.md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8670" y="5703570"/>
              <a:ext cx="45577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docs/superpowers/specs/mocks/&lt;date&gt;-&lt;topic&gt;-mocks.html (UI only)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5829300" y="1257300"/>
            <a:ext cx="5753100" cy="5143500"/>
            <a:chOff x="5829300" y="1257300"/>
            <a:chExt cx="5753100" cy="5143500"/>
          </a:xfrm>
        </p:grpSpPr>
        <p:sp>
          <p:nvSpPr>
            <p:cNvPr id="50" name="Rectangle 50"/>
            <p:cNvSpPr/>
            <p:nvPr/>
          </p:nvSpPr>
          <p:spPr>
            <a:xfrm>
              <a:off x="5829300" y="1257300"/>
              <a:ext cx="5753100" cy="5143500"/>
            </a:xfrm>
            <a:prstGeom prst="roundRect">
              <a:avLst>
                <a:gd name="adj" fmla="val 1481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829300" y="1257300"/>
              <a:ext cx="5753100" cy="28575"/>
            </a:xfrm>
            <a:prstGeom prst="roundRect">
              <a:avLst>
                <a:gd name="adj" fmla="val 50000"/>
              </a:avLst>
            </a:prstGeom>
            <a:solidFill>
              <a:srgbClr val="5E6AD2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829300" y="1285875"/>
              <a:ext cx="5753100" cy="304800"/>
            </a:xfrm>
            <a:prstGeom prst="roundRect">
              <a:avLst>
                <a:gd name="adj" fmla="val 25000"/>
              </a:avLst>
            </a:prstGeom>
            <a:solidFill>
              <a:srgbClr val="1A1A1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520583" y="1396841"/>
              <a:ext cx="23705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2026-05-11-login-page-requirements.md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46470" y="16935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---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46470" y="1864995"/>
              <a:ext cx="23231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Date: 2026-05-11 Change: login-page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046470" y="2036445"/>
              <a:ext cx="528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Status: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770370" y="2036445"/>
              <a:ext cx="5946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REVIEWED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046470" y="2207895"/>
              <a:ext cx="10744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HAS_UI_SURFACE: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41870" y="220789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yes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046470" y="23793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---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6057900" y="259080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046470" y="2684145"/>
              <a:ext cx="5354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## Goals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045518" y="2847499"/>
              <a:ext cx="31432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- 实现 React 登录页面，Mock 认证，无真实后端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045518" y="3018949"/>
              <a:ext cx="19969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- 界面简洁实用，无需复杂样式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046470" y="3274695"/>
              <a:ext cx="12650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## Success Criteria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045518" y="3438049"/>
              <a:ext cx="35206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- [ ] 正确凭据登录成功，显示欢迎信息（无路由跳转）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045518" y="3609499"/>
              <a:ext cx="18118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- [ ] 错误凭据显示错误提示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045518" y="3780949"/>
              <a:ext cx="19542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- [ ] 空字段提交显示验证错误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046470" y="4036695"/>
              <a:ext cx="791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## Decisions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045518" y="4200049"/>
              <a:ext cx="28513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- 登录成功：显示内联欢迎消息，无路由跳转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045518" y="4371499"/>
              <a:ext cx="37556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- Mock 用户：username admin / password password123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046470" y="4627245"/>
              <a:ext cx="11072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## Design System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045518" y="4790599"/>
              <a:ext cx="43679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- Linear 暗色主题：bg #0F0F0F, accent #5E6AD2, error #E5484D</a:t>
              </a:r>
            </a:p>
          </p:txBody>
        </p:sp>
        <p:sp>
          <p:nvSpPr>
            <p:cNvPr id="74" name="Line 74"/>
            <p:cNvSpPr/>
            <p:nvPr/>
          </p:nvSpPr>
          <p:spPr>
            <a:xfrm>
              <a:off x="6057900" y="50482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047422" y="5168741"/>
              <a:ext cx="22741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// Step 4 输出（HAS_UI_SURFACE: yes）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046470" y="5332095"/>
              <a:ext cx="21719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docs/superpowers/specs/mocks/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046470" y="5503545"/>
              <a:ext cx="22245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2026-05-11-login-page-mocks.html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046470" y="5674995"/>
              <a:ext cx="26320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Arial"/>
                  <a:ea typeface="Microsoft YaHei"/>
                  <a:cs typeface="Arial"/>
                </a:rPr>
                <a:t>3 个状态 pane：Default / Error / Success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047422" y="5930741"/>
              <a:ext cx="332844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// propose 阶段在 2.1 MOCK 任务中打开此文件作为视觉参照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047422" y="6102191"/>
              <a:ext cx="338266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// VISUAL DIFF 阶段（2.4, 2.11）在浏览器中对比实现与 mock</a:t>
              </a:r>
            </a:p>
          </p:txBody>
        </p:sp>
      </p:grpSp>
      <p:sp>
        <p:nvSpPr>
          <p:cNvPr id="82" name="Line 82"/>
          <p:cNvSpPr/>
          <p:nvPr/>
        </p:nvSpPr>
        <p:spPr>
          <a:xfrm>
            <a:off x="0" y="65913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2B2B2F"/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4139184" y="6665595"/>
            <a:ext cx="39136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5B66"/>
                </a:solidFill>
                <a:latin typeface="Arial"/>
                <a:ea typeface="Microsoft YaHei"/>
                <a:cs typeface="Arial"/>
              </a:rPr>
              <a:t>技术分享 · Austin · github.com/austinxyz/opsx-superpowers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1382232" y="66736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5A5B66"/>
                </a:solidFill>
                <a:latin typeface="Consolas"/>
                <a:ea typeface="Microsoft YaHei"/>
                <a:cs typeface="Consolas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8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19050">
            <a:solidFill>
              <a:srgbClr val="5E6AD2">
                <a:alpha val="60000"/>
              </a:srgbClr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09600" y="400050"/>
            <a:ext cx="10984229" cy="742950"/>
            <a:chOff x="609600" y="400050"/>
            <a:chExt cx="10984229" cy="742950"/>
          </a:xfrm>
        </p:grpSpPr>
        <p:sp>
          <p:nvSpPr>
            <p:cNvPr id="4" name="Rectangle 4"/>
            <p:cNvSpPr/>
            <p:nvPr/>
          </p:nvSpPr>
          <p:spPr>
            <a:xfrm>
              <a:off x="609600" y="400050"/>
              <a:ext cx="28575" cy="533400"/>
            </a:xfrm>
            <a:prstGeom prst="roundRect">
              <a:avLst>
                <a:gd name="adj" fmla="val 50000"/>
              </a:avLst>
            </a:prstGeom>
            <a:solidFill>
              <a:srgbClr val="5E6AD2">
                <a:alpha val="85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87718" y="580549"/>
              <a:ext cx="6157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PHASE 02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9620" y="655320"/>
              <a:ext cx="574727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/opsx:propose — 提案 &amp; 任务拆解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426380" y="5886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06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104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2B2B2F"/>
            </a:solidFill>
          </a:ln>
        </p:spPr>
      </p:sp>
      <p:grpSp>
        <p:nvGrpSpPr>
          <p:cNvPr id="44" name="Group 44"/>
          <p:cNvGrpSpPr/>
          <p:nvPr/>
        </p:nvGrpSpPr>
        <p:grpSpPr>
          <a:xfrm>
            <a:off x="596265" y="1257300"/>
            <a:ext cx="5004435" cy="4500562"/>
            <a:chOff x="596265" y="1257300"/>
            <a:chExt cx="5004435" cy="4500562"/>
          </a:xfrm>
        </p:grpSpPr>
        <p:sp>
          <p:nvSpPr>
            <p:cNvPr id="10" name="Rectangle 10"/>
            <p:cNvSpPr/>
            <p:nvPr/>
          </p:nvSpPr>
          <p:spPr>
            <a:xfrm>
              <a:off x="609600" y="1257300"/>
              <a:ext cx="4991100" cy="419100"/>
            </a:xfrm>
            <a:prstGeom prst="roundRect">
              <a:avLst>
                <a:gd name="adj" fmla="val 13636"/>
              </a:avLst>
            </a:prstGeom>
            <a:solidFill>
              <a:srgbClr val="1A1A1F"/>
            </a:solidFill>
            <a:ln w="9525">
              <a:solidFill>
                <a:srgbClr val="2B2B2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88670" y="1350645"/>
              <a:ext cx="5552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🚧 GATE：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50670" y="1350645"/>
              <a:ext cx="29343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requirements.md 已存在 &amp; proposal.md 不存在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8670" y="1512570"/>
              <a:ext cx="31775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Arial"/>
                  <a:ea typeface="Microsoft YaHei"/>
                  <a:cs typeface="Arial"/>
                </a:rPr>
                <a:t>已有 proposal 则跳过本阶段 → 直接运行 /opsx:apply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9122" y="1873091"/>
              <a:ext cx="8101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WHAT HAPPENS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203835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28650" y="2190750"/>
              <a:ext cx="266700" cy="266700"/>
            </a:xfrm>
            <a:prstGeom prst="ellipse">
              <a:avLst/>
            </a:prstGeom>
            <a:solidFill>
              <a:srgbClr val="1A1A1F"/>
            </a:solidFill>
            <a:ln w="14288">
              <a:solidFill>
                <a:srgbClr val="5E6AD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0853" y="2274570"/>
              <a:ext cx="622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6312" y="2174081"/>
              <a:ext cx="25905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读取 requirements.md + 代码库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8218" y="2361724"/>
              <a:ext cx="21607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分析现有代码、约束、技术可行性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762000" y="24574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9525">
              <a:solidFill>
                <a:srgbClr val="5E6AD2">
                  <a:alpha val="40000"/>
                </a:srgbClr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628650" y="2724150"/>
              <a:ext cx="266700" cy="266700"/>
            </a:xfrm>
            <a:prstGeom prst="ellipse">
              <a:avLst/>
            </a:prstGeom>
            <a:solidFill>
              <a:srgbClr val="1A1A1F"/>
            </a:solidFill>
            <a:ln w="14288">
              <a:solidFill>
                <a:srgbClr val="5E6AD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14423" y="280797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76312" y="2707481"/>
              <a:ext cx="25042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生成 proposal.md + design.md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8218" y="2895124"/>
              <a:ext cx="20183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技术方案、架构决策、影响分析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762000" y="29908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9525">
              <a:solidFill>
                <a:srgbClr val="5E6AD2">
                  <a:alpha val="40000"/>
                </a:srgbClr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628650" y="3257550"/>
              <a:ext cx="266700" cy="266700"/>
            </a:xfrm>
            <a:prstGeom prst="ellipse">
              <a:avLst/>
            </a:prstGeom>
            <a:solidFill>
              <a:srgbClr val="1A1A1F"/>
            </a:solidFill>
            <a:ln w="14288">
              <a:solidFill>
                <a:srgbClr val="5E6AD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14423" y="334137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76312" y="3240881"/>
              <a:ext cx="25905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生成 tasks.md（TDD 任务清单）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8218" y="3428524"/>
              <a:ext cx="21037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MOCK → RED → GREEN 逐任务拆解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762000" y="35242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9525">
              <a:solidFill>
                <a:srgbClr val="5E6AD2">
                  <a:alpha val="40000"/>
                </a:srgbClr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28650" y="3790950"/>
              <a:ext cx="266700" cy="266700"/>
            </a:xfrm>
            <a:prstGeom prst="ellipse">
              <a:avLst/>
            </a:prstGeom>
            <a:solidFill>
              <a:srgbClr val="E5484D">
                <a:alpha val="15000"/>
              </a:srgbClr>
            </a:solidFill>
            <a:ln w="14288">
              <a:solidFill>
                <a:srgbClr val="E5484D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4423" y="387477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5484D"/>
                  </a:solidFill>
                  <a:latin typeface="Consolas"/>
                  <a:ea typeface="Microsoft YaHei"/>
                  <a:cs typeface="Consolas"/>
                </a:rPr>
                <a:t>⛔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6312" y="3774281"/>
              <a:ext cx="23576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5484D"/>
                  </a:solidFill>
                  <a:latin typeface="Arial"/>
                  <a:ea typeface="Microsoft YaHei"/>
                  <a:cs typeface="Arial"/>
                </a:rPr>
                <a:t>BLOCKING — 等待人工确认提案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78218" y="3961924"/>
              <a:ext cx="25879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回复"确认"或"继续"，apply 才继续执行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99122" y="4387691"/>
              <a:ext cx="7860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DELIVERABLES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609600" y="455295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09600" y="4667250"/>
              <a:ext cx="4991100" cy="704850"/>
            </a:xfrm>
            <a:prstGeom prst="roundRect">
              <a:avLst>
                <a:gd name="adj" fmla="val 8108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87718" y="4790599"/>
              <a:ext cx="20610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DEDEF"/>
                  </a:solidFill>
                  <a:latin typeface="Consolas"/>
                  <a:ea typeface="Microsoft YaHei"/>
                  <a:cs typeface="Consolas"/>
                </a:rPr>
                <a:t>openspec/changes/&lt;change&gt;/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2018" y="49810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proposal.md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178368" y="4981099"/>
              <a:ext cx="7225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design.md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359468" y="4981099"/>
              <a:ext cx="679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tasks.md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8670" y="5179695"/>
              <a:ext cx="26911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Arial"/>
                  <a:ea typeface="Microsoft YaHei"/>
                  <a:cs typeface="Arial"/>
                </a:rPr>
                <a:t>确认后 tasks.md 成为 apply 阶段的执行蓝图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96265" y="5544502"/>
              <a:ext cx="40905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此阶段是人机对齐关键点 —— 用户不回复确认，apply 不执行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829300" y="1257300"/>
            <a:ext cx="5753100" cy="4953000"/>
            <a:chOff x="5829300" y="1257300"/>
            <a:chExt cx="5753100" cy="4953000"/>
          </a:xfrm>
        </p:grpSpPr>
        <p:sp>
          <p:nvSpPr>
            <p:cNvPr id="45" name="Rectangle 45"/>
            <p:cNvSpPr/>
            <p:nvPr/>
          </p:nvSpPr>
          <p:spPr>
            <a:xfrm>
              <a:off x="5829300" y="1257300"/>
              <a:ext cx="5753100" cy="4953000"/>
            </a:xfrm>
            <a:prstGeom prst="roundRect">
              <a:avLst>
                <a:gd name="adj" fmla="val 1538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829300" y="1257300"/>
              <a:ext cx="5753100" cy="28575"/>
            </a:xfrm>
            <a:prstGeom prst="roundRect">
              <a:avLst>
                <a:gd name="adj" fmla="val 50000"/>
              </a:avLst>
            </a:prstGeom>
            <a:solidFill>
              <a:srgbClr val="5E6AD2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829300" y="1285875"/>
              <a:ext cx="5753100" cy="342900"/>
            </a:xfrm>
            <a:prstGeom prst="roundRect">
              <a:avLst>
                <a:gd name="adj" fmla="val 22222"/>
              </a:avLst>
            </a:prstGeom>
            <a:solidFill>
              <a:srgbClr val="1A1A1F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6048375" y="1409700"/>
              <a:ext cx="95250" cy="95250"/>
            </a:xfrm>
            <a:prstGeom prst="ellipse">
              <a:avLst/>
            </a:prstGeom>
            <a:solidFill>
              <a:srgbClr val="E5484D">
                <a:alpha val="60000"/>
              </a:srgbClr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6219825" y="1409700"/>
              <a:ext cx="95250" cy="95250"/>
            </a:xfrm>
            <a:prstGeom prst="ellipse">
              <a:avLst/>
            </a:prstGeom>
            <a:solidFill>
              <a:srgbClr val="5E6AD2">
                <a:alpha val="40000"/>
              </a:srgbClr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6391275" y="1409700"/>
              <a:ext cx="95250" cy="95250"/>
            </a:xfrm>
            <a:prstGeom prst="ellipse">
              <a:avLst/>
            </a:prstGeom>
            <a:solidFill>
              <a:srgbClr val="30A46C">
                <a:alpha val="40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46643" y="1415891"/>
              <a:ext cx="5752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tasks.md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064568" y="176164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# Tasks: login-page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6076950" y="2000250"/>
              <a:ext cx="5314950" cy="9525"/>
            </a:xfrm>
            <a:custGeom>
              <a:avLst/>
              <a:gdLst/>
              <a:ahLst/>
              <a:cxnLst/>
              <a:rect l="l" t="t" r="r" b="b"/>
              <a:pathLst>
                <a:path w="5314950" h="9525">
                  <a:moveTo>
                    <a:pt x="0" y="0"/>
                  </a:moveTo>
                  <a:lnTo>
                    <a:pt x="531495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064568" y="2104549"/>
              <a:ext cx="15341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## Group 1: 项目脚手架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65520" y="2303145"/>
              <a:ext cx="20799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DEDEF"/>
                  </a:solidFill>
                  <a:latin typeface="Consolas"/>
                  <a:ea typeface="Microsoft YaHei"/>
                  <a:cs typeface="Consolas"/>
                </a:rPr>
                <a:t>- [x] 1.1 初始化 Vite + React + TS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065520" y="2474595"/>
              <a:ext cx="24545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DEDEF"/>
                  </a:solidFill>
                  <a:latin typeface="Consolas"/>
                  <a:ea typeface="Microsoft YaHei"/>
                  <a:cs typeface="Consolas"/>
                </a:rPr>
                <a:t>- [x] 1.2 安装 Vitest + Testing Library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065520" y="2646045"/>
              <a:ext cx="11401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- [x] 1.Z 代码审查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6076950" y="2876550"/>
              <a:ext cx="5314950" cy="9525"/>
            </a:xfrm>
            <a:custGeom>
              <a:avLst/>
              <a:gdLst/>
              <a:ahLst/>
              <a:cxnLst/>
              <a:rect l="l" t="t" r="r" b="b"/>
              <a:pathLst>
                <a:path w="5314950" h="9525">
                  <a:moveTo>
                    <a:pt x="0" y="0"/>
                  </a:moveTo>
                  <a:lnTo>
                    <a:pt x="531495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064568" y="2961799"/>
              <a:ext cx="18545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## Group 2: LoginPage 组件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065520" y="3160395"/>
              <a:ext cx="22179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DEDEF"/>
                  </a:solidFill>
                  <a:latin typeface="Consolas"/>
                  <a:ea typeface="Microsoft YaHei"/>
                  <a:cs typeface="Consolas"/>
                </a:rPr>
                <a:t>- [ ] 2.1 MOCK: 创建静态 mock 组件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065520" y="3331845"/>
              <a:ext cx="26517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5484D"/>
                  </a:solidFill>
                  <a:latin typeface="Consolas"/>
                  <a:ea typeface="Microsoft YaHei"/>
                  <a:cs typeface="Consolas"/>
                </a:rPr>
                <a:t>- [ ] 2.2 RED: 空邮箱提交测试（预期失败）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065520" y="3503295"/>
              <a:ext cx="21391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- [ ] 2.3 GREEN: 实现邮箱验证逻辑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065520" y="3674745"/>
              <a:ext cx="26188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- [ ] 2.4 DIFF: browser vs mock 截图对比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065520" y="3846195"/>
              <a:ext cx="25203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5484D"/>
                  </a:solidFill>
                  <a:latin typeface="Consolas"/>
                  <a:ea typeface="Microsoft YaHei"/>
                  <a:cs typeface="Consolas"/>
                </a:rPr>
                <a:t>- [ ] 2.5 RED: 错误消息测试（预期失败）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065520" y="4017645"/>
              <a:ext cx="21391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- [ ] 2.6 GREEN: 实现错误提示显示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065520" y="4189095"/>
              <a:ext cx="20865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...（更多 RED/GREEN/DIFF 循环）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065520" y="4360545"/>
              <a:ext cx="11401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- [ ] 2.Z 代码审查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6076950" y="4591050"/>
              <a:ext cx="5314950" cy="9525"/>
            </a:xfrm>
            <a:custGeom>
              <a:avLst/>
              <a:gdLst/>
              <a:ahLst/>
              <a:cxnLst/>
              <a:rect l="l" t="t" r="r" b="b"/>
              <a:pathLst>
                <a:path w="5314950" h="9525">
                  <a:moveTo>
                    <a:pt x="0" y="0"/>
                  </a:moveTo>
                  <a:lnTo>
                    <a:pt x="531495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064568" y="4676299"/>
              <a:ext cx="15697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## Group 3: 验证与发布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065520" y="4874895"/>
              <a:ext cx="16330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DEDEF"/>
                  </a:solidFill>
                  <a:latin typeface="Consolas"/>
                  <a:ea typeface="Microsoft YaHei"/>
                  <a:cs typeface="Consolas"/>
                </a:rPr>
                <a:t>- [ ] 3.1 所有测试套件通过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065520" y="5046345"/>
              <a:ext cx="17382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DEDEF"/>
                  </a:solidFill>
                  <a:latin typeface="Consolas"/>
                  <a:ea typeface="Microsoft YaHei"/>
                  <a:cs typeface="Consolas"/>
                </a:rPr>
                <a:t>- [ ] 3.2 视觉对比 100% 通过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066472" y="5225891"/>
              <a:ext cx="324409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- [ ] 3.3 superpowers:verification-before-completion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066472" y="5397341"/>
              <a:ext cx="280430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- [ ] 3.4 superpowers:requesting-code-review</a:t>
              </a:r>
            </a:p>
          </p:txBody>
        </p:sp>
        <p:sp>
          <p:nvSpPr>
            <p:cNvPr id="74" name="Line 74"/>
            <p:cNvSpPr/>
            <p:nvPr/>
          </p:nvSpPr>
          <p:spPr>
            <a:xfrm>
              <a:off x="6076950" y="5676900"/>
              <a:ext cx="5314950" cy="9525"/>
            </a:xfrm>
            <a:custGeom>
              <a:avLst/>
              <a:gdLst/>
              <a:ahLst/>
              <a:cxnLst/>
              <a:rect l="l" t="t" r="r" b="b"/>
              <a:pathLst>
                <a:path w="5314950" h="9525">
                  <a:moveTo>
                    <a:pt x="0" y="0"/>
                  </a:moveTo>
                  <a:lnTo>
                    <a:pt x="531495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6038850" y="5905500"/>
              <a:ext cx="76200" cy="76200"/>
            </a:xfrm>
            <a:prstGeom prst="ellipse">
              <a:avLst/>
            </a:prstGeom>
            <a:solidFill>
              <a:srgbClr val="E5484D">
                <a:alpha val="80000"/>
              </a:srgbClr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180772" y="5892641"/>
              <a:ext cx="21976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RED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6648450" y="5905500"/>
              <a:ext cx="76200" cy="76200"/>
            </a:xfrm>
            <a:prstGeom prst="ellipse">
              <a:avLst/>
            </a:prstGeom>
            <a:solidFill>
              <a:srgbClr val="30A46C">
                <a:alpha val="80000"/>
              </a:srgbClr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790372" y="5892641"/>
              <a:ext cx="35230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GREEN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7410450" y="5905500"/>
              <a:ext cx="76200" cy="76200"/>
            </a:xfrm>
            <a:prstGeom prst="ellipse">
              <a:avLst/>
            </a:prstGeom>
            <a:solidFill>
              <a:srgbClr val="5E6AD2">
                <a:alpha val="80000"/>
              </a:srgbClr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552372" y="5892641"/>
              <a:ext cx="2559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DIFF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8058150" y="5905500"/>
              <a:ext cx="76200" cy="76200"/>
            </a:xfrm>
            <a:prstGeom prst="ellipse">
              <a:avLst/>
            </a:prstGeom>
            <a:solidFill>
              <a:srgbClr val="30A46C">
                <a:alpha val="50000"/>
              </a:srgbClr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200072" y="5892641"/>
              <a:ext cx="198496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Z / 3.4 = requesting-code-review</a:t>
              </a:r>
            </a:p>
          </p:txBody>
        </p:sp>
      </p:grpSp>
      <p:sp>
        <p:nvSpPr>
          <p:cNvPr id="84" name="Line 84"/>
          <p:cNvSpPr/>
          <p:nvPr/>
        </p:nvSpPr>
        <p:spPr>
          <a:xfrm>
            <a:off x="0" y="65913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2B2B2F"/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4139184" y="6665595"/>
            <a:ext cx="39136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5B66"/>
                </a:solidFill>
                <a:latin typeface="Arial"/>
                <a:ea typeface="Microsoft YaHei"/>
                <a:cs typeface="Arial"/>
              </a:rPr>
              <a:t>技术分享 · Austin · github.com/austinxyz/opsx-superpowers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1382232" y="66736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5A5B66"/>
                </a:solidFill>
                <a:latin typeface="Consolas"/>
                <a:ea typeface="Microsoft YaHei"/>
                <a:cs typeface="Consolas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8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19050">
            <a:solidFill>
              <a:srgbClr val="5E6AD2">
                <a:alpha val="60000"/>
              </a:srgbClr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09600" y="400050"/>
            <a:ext cx="10984229" cy="742950"/>
            <a:chOff x="609600" y="400050"/>
            <a:chExt cx="10984229" cy="742950"/>
          </a:xfrm>
        </p:grpSpPr>
        <p:sp>
          <p:nvSpPr>
            <p:cNvPr id="4" name="Rectangle 4"/>
            <p:cNvSpPr/>
            <p:nvPr/>
          </p:nvSpPr>
          <p:spPr>
            <a:xfrm>
              <a:off x="609600" y="400050"/>
              <a:ext cx="28575" cy="533400"/>
            </a:xfrm>
            <a:prstGeom prst="roundRect">
              <a:avLst>
                <a:gd name="adj" fmla="val 50000"/>
              </a:avLst>
            </a:prstGeom>
            <a:solidFill>
              <a:srgbClr val="5E6AD2">
                <a:alpha val="85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87718" y="580549"/>
              <a:ext cx="6157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PHASE 03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9620" y="655320"/>
              <a:ext cx="596809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/opsx:apply — TDD 执行 &amp; 代码审查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426380" y="5886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07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104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2B2B2F"/>
            </a:solidFill>
          </a:ln>
        </p:spPr>
      </p:sp>
      <p:grpSp>
        <p:nvGrpSpPr>
          <p:cNvPr id="46" name="Group 46"/>
          <p:cNvGrpSpPr/>
          <p:nvPr/>
        </p:nvGrpSpPr>
        <p:grpSpPr>
          <a:xfrm>
            <a:off x="599122" y="1257300"/>
            <a:ext cx="5001578" cy="4143375"/>
            <a:chOff x="599122" y="1257300"/>
            <a:chExt cx="5001578" cy="4143375"/>
          </a:xfrm>
        </p:grpSpPr>
        <p:sp>
          <p:nvSpPr>
            <p:cNvPr id="10" name="Rectangle 10"/>
            <p:cNvSpPr/>
            <p:nvPr/>
          </p:nvSpPr>
          <p:spPr>
            <a:xfrm>
              <a:off x="609600" y="1257300"/>
              <a:ext cx="4991100" cy="342900"/>
            </a:xfrm>
            <a:prstGeom prst="roundRect">
              <a:avLst>
                <a:gd name="adj" fmla="val 16667"/>
              </a:avLst>
            </a:prstGeom>
            <a:solidFill>
              <a:srgbClr val="1A1A1F"/>
            </a:solidFill>
            <a:ln w="9525">
              <a:solidFill>
                <a:srgbClr val="2B2B2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89622" y="1320641"/>
              <a:ext cx="35230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GATE: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64920" y="1312545"/>
              <a:ext cx="34535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tasks.md 已存在且人工审批通过（proposal 已 commit）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9622" y="1453991"/>
              <a:ext cx="5450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SESSION: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98270" y="1445895"/>
              <a:ext cx="31052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5484D"/>
                  </a:solidFill>
                  <a:latin typeface="Consolas"/>
                  <a:ea typeface="Microsoft YaHei"/>
                  <a:cs typeface="Consolas"/>
                </a:rPr>
                <a:t>立即调用 superpowers:test-driven-development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9122" y="1777841"/>
              <a:ext cx="8101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WHAT HAPPENS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09600" y="194310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628650" y="2038350"/>
              <a:ext cx="266700" cy="266700"/>
            </a:xfrm>
            <a:prstGeom prst="ellipse">
              <a:avLst/>
            </a:prstGeom>
            <a:solidFill>
              <a:srgbClr val="1A1A1F"/>
            </a:solidFill>
            <a:ln w="14288">
              <a:solidFill>
                <a:srgbClr val="5E6AD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30853" y="2122170"/>
              <a:ext cx="622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8218" y="2037874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加载完整上下文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9170" y="2217420"/>
              <a:ext cx="37493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proposal / specs / design / mocks / requirements 全部读入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762000" y="230505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rgbClr val="5E6AD2">
                  <a:alpha val="40000"/>
                </a:srgbClr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628650" y="2609850"/>
              <a:ext cx="266700" cy="266700"/>
            </a:xfrm>
            <a:prstGeom prst="ellipse">
              <a:avLst/>
            </a:prstGeom>
            <a:solidFill>
              <a:srgbClr val="E5484D">
                <a:alpha val="15000"/>
              </a:srgbClr>
            </a:solidFill>
            <a:ln w="14288">
              <a:solidFill>
                <a:srgbClr val="E5484D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4423" y="269367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5484D"/>
                  </a:solidFill>
                  <a:latin typeface="Consolas"/>
                  <a:ea typeface="Microsoft YaHei"/>
                  <a:cs typeface="Consola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8218" y="2609374"/>
              <a:ext cx="40468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session-start: superpowers:test-driven-development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9170" y="2788920"/>
              <a:ext cx="2940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强制执行"无 GREEN without RED"纪律，全程有效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762000" y="287655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rgbClr val="5E6AD2">
                  <a:alpha val="40000"/>
                </a:srgbClr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628650" y="3181350"/>
              <a:ext cx="266700" cy="266700"/>
            </a:xfrm>
            <a:prstGeom prst="ellipse">
              <a:avLst/>
            </a:prstGeom>
            <a:solidFill>
              <a:srgbClr val="1A1A1F"/>
            </a:solidFill>
            <a:ln w="14288">
              <a:solidFill>
                <a:srgbClr val="5E6AD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4423" y="326517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8218" y="3180874"/>
              <a:ext cx="13554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按序执行 tasks.md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9170" y="3360420"/>
              <a:ext cx="29277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RED → GREEN → MOCK → VISUAL DIFF → X.Z review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79170" y="3512820"/>
              <a:ext cx="23822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Arial"/>
                  <a:ea typeface="Microsoft YaHei"/>
                  <a:cs typeface="Arial"/>
                </a:rPr>
                <a:t>每个任务完成后立即标 [x]，不批量打勾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762000" y="344805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9525">
              <a:solidFill>
                <a:srgbClr val="5E6AD2">
                  <a:alpha val="40000"/>
                </a:srgbClr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628650" y="3867150"/>
              <a:ext cx="266700" cy="266700"/>
            </a:xfrm>
            <a:prstGeom prst="ellipse">
              <a:avLst/>
            </a:prstGeom>
            <a:solidFill>
              <a:srgbClr val="1A1A1F"/>
            </a:solidFill>
            <a:ln w="14288">
              <a:solidFill>
                <a:srgbClr val="5E6AD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14423" y="395097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8218" y="3866674"/>
              <a:ext cx="35459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X.Z 任务：superpowers:requesting-code-review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9170" y="4046220"/>
              <a:ext cx="36113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审查本 Group 的 diff，CRITICAL/HIGH 必须立即修复才能继续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762000" y="4133850"/>
              <a:ext cx="9525" cy="323850"/>
            </a:xfrm>
            <a:custGeom>
              <a:avLst/>
              <a:gdLst/>
              <a:ahLst/>
              <a:cxnLst/>
              <a:rect l="l" t="t" r="r" b="b"/>
              <a:pathLst>
                <a:path w="9525"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noFill/>
            <a:ln w="9525">
              <a:solidFill>
                <a:srgbClr val="5E6AD2">
                  <a:alpha val="40000"/>
                </a:srgbClr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628650" y="4457700"/>
              <a:ext cx="266700" cy="266700"/>
            </a:xfrm>
            <a:prstGeom prst="ellipse">
              <a:avLst/>
            </a:prstGeom>
            <a:solidFill>
              <a:srgbClr val="30A46C">
                <a:alpha val="15000"/>
              </a:srgbClr>
            </a:solidFill>
            <a:ln w="14288">
              <a:solidFill>
                <a:srgbClr val="30A46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14423" y="454152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8218" y="4457224"/>
              <a:ext cx="42337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最终 Group: superpowers:verification-before-completion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79170" y="4636770"/>
              <a:ext cx="35915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全测试 + stray console.log 审查 + 完整性核验（任务 3.3）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9600" y="4972050"/>
              <a:ext cx="4991100" cy="419100"/>
            </a:xfrm>
            <a:prstGeom prst="roundRect">
              <a:avLst>
                <a:gd name="adj" fmla="val 13636"/>
              </a:avLst>
            </a:prstGeom>
            <a:solidFill>
              <a:srgbClr val="1A1A1F"/>
            </a:solidFill>
            <a:ln w="9525">
              <a:solidFill>
                <a:srgbClr val="2B2B2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88670" y="5046345"/>
              <a:ext cx="31972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部分任务需要浏览器/shell 手动操作：agent 暂停，写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8670" y="5217795"/>
              <a:ext cx="27569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openspec/changes/&lt;topic&gt;/manual-ops.md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608070" y="521779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，等你回报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829300" y="1257300"/>
            <a:ext cx="5753100" cy="4953000"/>
            <a:chOff x="5829300" y="1257300"/>
            <a:chExt cx="5753100" cy="4953000"/>
          </a:xfrm>
        </p:grpSpPr>
        <p:sp>
          <p:nvSpPr>
            <p:cNvPr id="47" name="Rectangle 47"/>
            <p:cNvSpPr/>
            <p:nvPr/>
          </p:nvSpPr>
          <p:spPr>
            <a:xfrm>
              <a:off x="5829300" y="1257300"/>
              <a:ext cx="5753100" cy="1905000"/>
            </a:xfrm>
            <a:prstGeom prst="roundRect">
              <a:avLst>
                <a:gd name="adj" fmla="val 4000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5829300" y="1257300"/>
              <a:ext cx="5753100" cy="28575"/>
            </a:xfrm>
            <a:prstGeom prst="roundRect">
              <a:avLst>
                <a:gd name="adj" fmla="val 50000"/>
              </a:avLst>
            </a:prstGeom>
            <a:solidFill>
              <a:srgbClr val="E5484D">
                <a:alpha val="80000"/>
              </a:srgbClr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829300" y="1285875"/>
              <a:ext cx="5753100" cy="285750"/>
            </a:xfrm>
            <a:prstGeom prst="roundRect">
              <a:avLst>
                <a:gd name="adj" fmla="val 26667"/>
              </a:avLst>
            </a:prstGeom>
            <a:solidFill>
              <a:srgbClr val="1A1A1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827835" y="1387316"/>
              <a:ext cx="17560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5484D"/>
                  </a:solidFill>
                  <a:latin typeface="Consolas"/>
                  <a:ea typeface="Microsoft YaHei"/>
                  <a:cs typeface="Consolas"/>
                </a:rPr>
                <a:t>2.2 RED — LoginPage.test.tsx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46470" y="1636395"/>
              <a:ext cx="19485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// 先写测试，运行，确认它 FAIL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046470" y="1807845"/>
              <a:ext cx="45182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it('renders username input, password input, submit button', () =&gt; {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46470" y="1979295"/>
              <a:ext cx="15476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render(&lt;LoginPage /&gt;);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46470" y="2150745"/>
              <a:ext cx="44919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expect(screen.getByLabelText('Username')).toBeInTheDocument();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46470" y="2322195"/>
              <a:ext cx="39793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expect(screen.getByRole('button', { name: 'Sign in' }))...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046470" y="2493645"/>
              <a:ext cx="2940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}); // → FAIL: Cannot find module 'LoginPage'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046470" y="2722245"/>
              <a:ext cx="31709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5484D"/>
                  </a:solidFill>
                  <a:latin typeface="Consolas"/>
                  <a:ea typeface="Microsoft YaHei"/>
                  <a:cs typeface="Consolas"/>
                </a:rPr>
                <a:t>FAIL src/components/LoginPage.test.tsx (0.3s)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046470" y="2893695"/>
              <a:ext cx="26583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5484D"/>
                  </a:solidFill>
                  <a:latin typeface="Consolas"/>
                  <a:ea typeface="Microsoft YaHei"/>
                  <a:cs typeface="Consolas"/>
                </a:rPr>
                <a:t>× renders username input... ← 预期失败 ✓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829300" y="3276600"/>
              <a:ext cx="5753100" cy="1866900"/>
            </a:xfrm>
            <a:prstGeom prst="roundRect">
              <a:avLst>
                <a:gd name="adj" fmla="val 4082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5829300" y="3276600"/>
              <a:ext cx="5753100" cy="28575"/>
            </a:xfrm>
            <a:prstGeom prst="roundRect">
              <a:avLst>
                <a:gd name="adj" fmla="val 50000"/>
              </a:avLst>
            </a:prstGeom>
            <a:solidFill>
              <a:srgbClr val="30A46C">
                <a:alpha val="80000"/>
              </a:srgbClr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829300" y="3305175"/>
              <a:ext cx="5753100" cy="285750"/>
            </a:xfrm>
            <a:prstGeom prst="roundRect">
              <a:avLst>
                <a:gd name="adj" fmla="val 26667"/>
              </a:avLst>
            </a:prstGeom>
            <a:solidFill>
              <a:srgbClr val="1A1A1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668185" y="3406616"/>
              <a:ext cx="20753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2.3 GREEN — LoginPage.tsx 最小实现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046470" y="3655695"/>
              <a:ext cx="13898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// 最小实现让测试通过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046470" y="3827145"/>
              <a:ext cx="19551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export function LoginPage() {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046470" y="3998595"/>
              <a:ext cx="5683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return (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046470" y="4170045"/>
              <a:ext cx="25860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DEDEF"/>
                  </a:solidFill>
                  <a:latin typeface="Consolas"/>
                  <a:ea typeface="Microsoft YaHei"/>
                  <a:cs typeface="Consolas"/>
                </a:rPr>
                <a:t>&lt;form&gt;&lt;label&gt;Username&lt;input/&gt;&lt;/label&gt;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046470" y="4341495"/>
              <a:ext cx="2125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DEDEF"/>
                  </a:solidFill>
                  <a:latin typeface="Consolas"/>
                  <a:ea typeface="Microsoft YaHei"/>
                  <a:cs typeface="Consolas"/>
                </a:rPr>
                <a:t>&lt;label&gt;Password&lt;input/&gt;&lt;/label&gt;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046470" y="4512945"/>
              <a:ext cx="21917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DEDEF"/>
                  </a:solidFill>
                  <a:latin typeface="Consolas"/>
                  <a:ea typeface="Microsoft YaHei"/>
                  <a:cs typeface="Consolas"/>
                </a:rPr>
                <a:t>&lt;button&gt;Sign in&lt;/button&gt;&lt;/form&gt;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046470" y="4684395"/>
              <a:ext cx="17645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// PASS all tests ← 测试通过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829300" y="5257800"/>
              <a:ext cx="5753100" cy="952500"/>
            </a:xfrm>
            <a:prstGeom prst="roundRect">
              <a:avLst>
                <a:gd name="adj" fmla="val 8000"/>
              </a:avLst>
            </a:prstGeom>
            <a:solidFill>
              <a:srgbClr val="141414"/>
            </a:solidFill>
            <a:ln w="9525">
              <a:solidFill>
                <a:srgbClr val="5E6AD2">
                  <a:alpha val="40000"/>
                </a:srgbClr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5829300" y="5257800"/>
              <a:ext cx="5753100" cy="28575"/>
            </a:xfrm>
            <a:prstGeom prst="roundRect">
              <a:avLst>
                <a:gd name="adj" fmla="val 50000"/>
              </a:avLst>
            </a:prstGeom>
            <a:solidFill>
              <a:srgbClr val="5E6AD2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046470" y="5389245"/>
              <a:ext cx="42291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2.Z Run superpowers:requesting-code-review on diff for group 2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046470" y="5579745"/>
              <a:ext cx="38413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审查 Group 2 整体 diff — CRITICAL/HIGH 立即修复，MEDIUM 记录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046470" y="5770245"/>
              <a:ext cx="35061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Group 1 → 1.Z，Group 2 → 2.Z，最终 diff → 3.4（共 3 次）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047422" y="5968841"/>
              <a:ext cx="17560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// 修复后继续，不跳过，不延迟</a:t>
              </a:r>
            </a:p>
          </p:txBody>
        </p:sp>
      </p:grpSp>
      <p:sp>
        <p:nvSpPr>
          <p:cNvPr id="77" name="Line 77"/>
          <p:cNvSpPr/>
          <p:nvPr/>
        </p:nvSpPr>
        <p:spPr>
          <a:xfrm>
            <a:off x="0" y="65913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2B2B2F"/>
            </a:solidFill>
          </a:ln>
        </p:spPr>
      </p:sp>
      <p:sp>
        <p:nvSpPr>
          <p:cNvPr id="78" name="TextBox 78"/>
          <p:cNvSpPr txBox="1"/>
          <p:nvPr/>
        </p:nvSpPr>
        <p:spPr>
          <a:xfrm>
            <a:off x="4139184" y="6665595"/>
            <a:ext cx="39136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5B66"/>
                </a:solidFill>
                <a:latin typeface="Arial"/>
                <a:ea typeface="Microsoft YaHei"/>
                <a:cs typeface="Arial"/>
              </a:rPr>
              <a:t>技术分享 · Austin · github.com/austinxyz/opsx-superpowers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1382232" y="66736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5A5B66"/>
                </a:solidFill>
                <a:latin typeface="Consolas"/>
                <a:ea typeface="Microsoft YaHei"/>
                <a:cs typeface="Consolas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7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19050">
            <a:solidFill>
              <a:srgbClr val="5E6AD2">
                <a:alpha val="60000"/>
              </a:srgbClr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09600" y="400050"/>
            <a:ext cx="10984229" cy="742950"/>
            <a:chOff x="609600" y="400050"/>
            <a:chExt cx="10984229" cy="742950"/>
          </a:xfrm>
        </p:grpSpPr>
        <p:sp>
          <p:nvSpPr>
            <p:cNvPr id="4" name="Rectangle 4"/>
            <p:cNvSpPr/>
            <p:nvPr/>
          </p:nvSpPr>
          <p:spPr>
            <a:xfrm>
              <a:off x="609600" y="400050"/>
              <a:ext cx="28575" cy="533400"/>
            </a:xfrm>
            <a:prstGeom prst="roundRect">
              <a:avLst>
                <a:gd name="adj" fmla="val 50000"/>
              </a:avLst>
            </a:prstGeom>
            <a:solidFill>
              <a:srgbClr val="5E6AD2">
                <a:alpha val="85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87718" y="580549"/>
              <a:ext cx="6157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PHASE 04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9620" y="655320"/>
              <a:ext cx="639135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/opsx:archive — 归档 &amp; 四项收尾清理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426380" y="5886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08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104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2B2B2F"/>
            </a:solidFill>
          </a:ln>
        </p:spPr>
      </p:sp>
      <p:grpSp>
        <p:nvGrpSpPr>
          <p:cNvPr id="47" name="Group 47"/>
          <p:cNvGrpSpPr/>
          <p:nvPr/>
        </p:nvGrpSpPr>
        <p:grpSpPr>
          <a:xfrm>
            <a:off x="599122" y="1257300"/>
            <a:ext cx="5001578" cy="4683919"/>
            <a:chOff x="599122" y="1257300"/>
            <a:chExt cx="5001578" cy="4683919"/>
          </a:xfrm>
        </p:grpSpPr>
        <p:sp>
          <p:nvSpPr>
            <p:cNvPr id="10" name="Rectangle 10"/>
            <p:cNvSpPr/>
            <p:nvPr/>
          </p:nvSpPr>
          <p:spPr>
            <a:xfrm>
              <a:off x="609600" y="1257300"/>
              <a:ext cx="4991100" cy="419100"/>
            </a:xfrm>
            <a:prstGeom prst="roundRect">
              <a:avLst>
                <a:gd name="adj" fmla="val 13636"/>
              </a:avLst>
            </a:prstGeom>
            <a:solidFill>
              <a:srgbClr val="1A1A1F"/>
            </a:solidFill>
            <a:ln w="9525">
              <a:solidFill>
                <a:srgbClr val="2B2B2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89622" y="1339691"/>
              <a:ext cx="35230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GATE: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64920" y="1331595"/>
              <a:ext cx="31381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tasks.md 中所有任务标记 [x]，spec deltas 已同步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8670" y="1503045"/>
              <a:ext cx="23888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Arial"/>
                  <a:ea typeface="Microsoft YaHei"/>
                  <a:cs typeface="Arial"/>
                </a:rPr>
                <a:t>有未完成任务则拒绝执行，提示剩余清单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9122" y="1815941"/>
              <a:ext cx="8101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WHAT HAPPENS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198120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28650" y="2095500"/>
              <a:ext cx="266700" cy="266700"/>
            </a:xfrm>
            <a:prstGeom prst="ellipse">
              <a:avLst/>
            </a:prstGeom>
            <a:solidFill>
              <a:srgbClr val="1A1A1F"/>
            </a:solidFill>
            <a:ln w="14288">
              <a:solidFill>
                <a:srgbClr val="5E6AD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0853" y="2179320"/>
              <a:ext cx="622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8218" y="2095024"/>
              <a:ext cx="18488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openspec archive &lt;topic&gt;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9170" y="2274570"/>
              <a:ext cx="38150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变更目录移至 archive/，spec deltas 合并入 openspec/specs/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762000" y="23622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rgbClr val="5E6AD2">
                  <a:alpha val="40000"/>
                </a:srgbClr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628650" y="2667000"/>
              <a:ext cx="266700" cy="266700"/>
            </a:xfrm>
            <a:prstGeom prst="ellipse">
              <a:avLst/>
            </a:prstGeom>
            <a:solidFill>
              <a:srgbClr val="1A1A1F"/>
            </a:solidFill>
            <a:ln w="14288">
              <a:solidFill>
                <a:srgbClr val="5E6AD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14423" y="275082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78218" y="2666524"/>
              <a:ext cx="25292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Cleanup 1：填写能力规格 ## Purpose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9170" y="2846070"/>
              <a:ext cx="37624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openspec archive 留下 TBD，从 proposal Why 提取 1-3 句填入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0122" y="3006566"/>
              <a:ext cx="22741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openspec/specs/&lt;capability&gt;/spec.md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762000" y="293370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9525">
              <a:solidFill>
                <a:srgbClr val="5E6AD2">
                  <a:alpha val="40000"/>
                </a:srgbClr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628650" y="3371850"/>
              <a:ext cx="266700" cy="266700"/>
            </a:xfrm>
            <a:prstGeom prst="ellipse">
              <a:avLst/>
            </a:prstGeom>
            <a:solidFill>
              <a:srgbClr val="1A1A1F"/>
            </a:solidFill>
            <a:ln w="14288">
              <a:solidFill>
                <a:srgbClr val="5E6AD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4423" y="345567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8218" y="3371374"/>
              <a:ext cx="32169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Cleanup 2：更新 openspec/specs/README.md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9170" y="3550920"/>
              <a:ext cx="33812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为新增能力添加一行：user story / 覆盖需求 / 验收标准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762000" y="363855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rgbClr val="5E6AD2">
                  <a:alpha val="40000"/>
                </a:srgbClr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628650" y="3943350"/>
              <a:ext cx="266700" cy="266700"/>
            </a:xfrm>
            <a:prstGeom prst="ellipse">
              <a:avLst/>
            </a:prstGeom>
            <a:solidFill>
              <a:srgbClr val="1A1A1F"/>
            </a:solidFill>
            <a:ln w="14288">
              <a:solidFill>
                <a:srgbClr val="5E6AD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4423" y="402717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78218" y="3942874"/>
              <a:ext cx="31796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Cleanup 3 &amp; 4：CLAUDE.md + 项目 README.md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9170" y="4122420"/>
              <a:ext cx="31972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CLAUDE.md：记录非显而易见的踩坑（无新坑则跳过）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9170" y="4274820"/>
              <a:ext cx="25663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README.md：仅在用户可见行为有变时更新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762000" y="421005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9525">
              <a:solidFill>
                <a:srgbClr val="5E6AD2">
                  <a:alpha val="40000"/>
                </a:srgbClr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628650" y="4572000"/>
              <a:ext cx="266700" cy="266700"/>
            </a:xfrm>
            <a:prstGeom prst="ellipse">
              <a:avLst/>
            </a:prstGeom>
            <a:solidFill>
              <a:srgbClr val="30A46C">
                <a:alpha val="15000"/>
              </a:srgbClr>
            </a:solidFill>
            <a:ln w="14288">
              <a:solidFill>
                <a:srgbClr val="30A46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14423" y="465582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8218" y="4571524"/>
              <a:ext cx="22002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Dev log 检查 + 单次清理 commit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79170" y="4751070"/>
              <a:ext cx="35390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提醒写 docs/log/&lt;today&gt;.md，一次 commit 完成所有清理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9600" y="5086350"/>
              <a:ext cx="4991100" cy="838200"/>
            </a:xfrm>
            <a:prstGeom prst="roundRect">
              <a:avLst>
                <a:gd name="adj" fmla="val 6818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89622" y="5206841"/>
              <a:ext cx="90656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WHY IT MATTERS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7718" y="5400199"/>
              <a:ext cx="31432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## Purpose 填 TBD 是死路——未来贡献者无从理解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7718" y="5571649"/>
              <a:ext cx="29795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openspec/specs/README.md = 项目能力索引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7718" y="5743099"/>
              <a:ext cx="26235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CLAUDE.md Pitfalls = 跨会话的踩坑记忆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829300" y="1257300"/>
            <a:ext cx="5753100" cy="4667250"/>
            <a:chOff x="5829300" y="1257300"/>
            <a:chExt cx="5753100" cy="4667250"/>
          </a:xfrm>
        </p:grpSpPr>
        <p:sp>
          <p:nvSpPr>
            <p:cNvPr id="48" name="Rectangle 48"/>
            <p:cNvSpPr/>
            <p:nvPr/>
          </p:nvSpPr>
          <p:spPr>
            <a:xfrm>
              <a:off x="5829300" y="1257300"/>
              <a:ext cx="5753100" cy="2381250"/>
            </a:xfrm>
            <a:prstGeom prst="roundRect">
              <a:avLst>
                <a:gd name="adj" fmla="val 3200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829300" y="1257300"/>
              <a:ext cx="5753100" cy="28575"/>
            </a:xfrm>
            <a:prstGeom prst="roundRect">
              <a:avLst>
                <a:gd name="adj" fmla="val 50000"/>
              </a:avLst>
            </a:prstGeom>
            <a:solidFill>
              <a:srgbClr val="5E6AD2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829300" y="1285875"/>
              <a:ext cx="5753100" cy="304800"/>
            </a:xfrm>
            <a:prstGeom prst="roundRect">
              <a:avLst>
                <a:gd name="adj" fmla="val 25000"/>
              </a:avLst>
            </a:prstGeom>
            <a:solidFill>
              <a:srgbClr val="1A1A1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273653" y="1396841"/>
              <a:ext cx="8643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归档后目录结构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046470" y="1712595"/>
              <a:ext cx="17973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openspec/changes/archive/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46470" y="1903095"/>
              <a:ext cx="15147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2026-05-13-login-page/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46470" y="2074545"/>
              <a:ext cx="21391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DEDEF"/>
                  </a:solidFill>
                  <a:latin typeface="Consolas"/>
                  <a:ea typeface="Microsoft YaHei"/>
                  <a:cs typeface="Consolas"/>
                </a:rPr>
                <a:t>proposal.md design.md tasks.md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46470" y="2245995"/>
              <a:ext cx="27634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DEDEF"/>
                  </a:solidFill>
                  <a:latin typeface="Consolas"/>
                  <a:ea typeface="Microsoft YaHei"/>
                  <a:cs typeface="Consolas"/>
                </a:rPr>
                <a:t>specs/login-page/spec.md .openspec.yaml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6057900" y="247650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046470" y="2550795"/>
              <a:ext cx="23691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openspec/specs/login-page/spec.md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561070" y="2550795"/>
              <a:ext cx="1534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← Cleanup 1 填写 Purpose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46470" y="2722245"/>
              <a:ext cx="18105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openspec/specs/README.md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561070" y="2722245"/>
              <a:ext cx="12847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← Cleanup 2 新增一行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046470" y="2893695"/>
              <a:ext cx="6998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CLAUDE.md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561070" y="2893695"/>
              <a:ext cx="12847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← Cleanup 3 记录踩坑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046470" y="3065145"/>
              <a:ext cx="7260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README.md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561070" y="3065145"/>
              <a:ext cx="18236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← Cleanup 4 (用户可见变更时)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047422" y="3339941"/>
              <a:ext cx="407548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// openspec archive 只做移动 + 合并；四项清理是 /opsx:archive 追加的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829300" y="3752850"/>
              <a:ext cx="5753100" cy="2171700"/>
            </a:xfrm>
            <a:prstGeom prst="roundRect">
              <a:avLst>
                <a:gd name="adj" fmla="val 3509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5829300" y="3752850"/>
              <a:ext cx="5753100" cy="28575"/>
            </a:xfrm>
            <a:prstGeom prst="roundRect">
              <a:avLst>
                <a:gd name="adj" fmla="val 50000"/>
              </a:avLst>
            </a:prstGeom>
            <a:solidFill>
              <a:srgbClr val="30A46C">
                <a:alpha val="80000"/>
              </a:srgbClr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829300" y="3781425"/>
              <a:ext cx="5753100" cy="304800"/>
            </a:xfrm>
            <a:prstGeom prst="roundRect">
              <a:avLst>
                <a:gd name="adj" fmla="val 25000"/>
              </a:avLst>
            </a:prstGeom>
            <a:solidFill>
              <a:srgbClr val="1A1A1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204293" y="3892391"/>
              <a:ext cx="30031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openspec/specs/login-page/spec.md (Cleanup 1 后)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046470" y="420814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## Purpose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045518" y="4371499"/>
              <a:ext cx="38410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React 登录组件，mock 认证，username/password 表单。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045518" y="4542949"/>
              <a:ext cx="32714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建立 Linear 暗色 CSS baseline，供后续组件复用。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6057900" y="47815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046470" y="485584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## Capabilities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046470" y="5027295"/>
              <a:ext cx="22837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Files: LoginPage.tsx LoginPage.css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046470" y="5198745"/>
              <a:ext cx="17645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Tests: LoginPage.test.tsx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047422" y="5378291"/>
              <a:ext cx="25392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// 未来 /opsx:explore 读此文件理解已有能力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047422" y="5549741"/>
              <a:ext cx="32260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// TBD Purpose 是致命缺陷——这是该工作流的核心动机之一</a:t>
              </a:r>
            </a:p>
          </p:txBody>
        </p:sp>
      </p:grpSp>
      <p:sp>
        <p:nvSpPr>
          <p:cNvPr id="80" name="Line 80"/>
          <p:cNvSpPr/>
          <p:nvPr/>
        </p:nvSpPr>
        <p:spPr>
          <a:xfrm>
            <a:off x="0" y="65913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2B2B2F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4139184" y="6665595"/>
            <a:ext cx="39136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5B66"/>
                </a:solidFill>
                <a:latin typeface="Arial"/>
                <a:ea typeface="Microsoft YaHei"/>
                <a:cs typeface="Arial"/>
              </a:rPr>
              <a:t>技术分享 · Austin · github.com/austinxyz/opsx-superpowers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1382232" y="66736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5A5B66"/>
                </a:solidFill>
                <a:latin typeface="Consolas"/>
                <a:ea typeface="Microsoft YaHei"/>
                <a:cs typeface="Consolas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7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E6AD2">
                  <a:alpha val="6000"/>
                </a:srgbClr>
              </a:gs>
              <a:gs pos="100000">
                <a:srgbClr val="5E6AD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19050">
            <a:solidFill>
              <a:srgbClr val="5E6AD2">
                <a:alpha val="60000"/>
              </a:srgbClr>
            </a:solidFill>
          </a:ln>
        </p:spPr>
      </p:sp>
      <p:grpSp>
        <p:nvGrpSpPr>
          <p:cNvPr id="9" name="Group 9"/>
          <p:cNvGrpSpPr/>
          <p:nvPr/>
        </p:nvGrpSpPr>
        <p:grpSpPr>
          <a:xfrm>
            <a:off x="609600" y="400050"/>
            <a:ext cx="10984229" cy="621506"/>
            <a:chOff x="609600" y="400050"/>
            <a:chExt cx="10984229" cy="621506"/>
          </a:xfrm>
        </p:grpSpPr>
        <p:sp>
          <p:nvSpPr>
            <p:cNvPr id="5" name="Rectangle 5"/>
            <p:cNvSpPr/>
            <p:nvPr/>
          </p:nvSpPr>
          <p:spPr>
            <a:xfrm>
              <a:off x="609600" y="400050"/>
              <a:ext cx="28575" cy="533400"/>
            </a:xfrm>
            <a:prstGeom prst="roundRect">
              <a:avLst>
                <a:gd name="adj" fmla="val 50000"/>
              </a:avLst>
            </a:prstGeom>
            <a:solidFill>
              <a:srgbClr val="5E6AD2">
                <a:alpha val="85000"/>
              </a:srgbClr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9620" y="455295"/>
              <a:ext cx="153314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实战案例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89622" y="853916"/>
              <a:ext cx="6535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CASE STUDY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426380" y="56959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09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609600" y="1104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2B2B2F"/>
            </a:solidFill>
          </a:ln>
        </p:spPr>
      </p:sp>
      <p:grpSp>
        <p:nvGrpSpPr>
          <p:cNvPr id="16" name="Group 16"/>
          <p:cNvGrpSpPr/>
          <p:nvPr/>
        </p:nvGrpSpPr>
        <p:grpSpPr>
          <a:xfrm>
            <a:off x="2931090" y="1314450"/>
            <a:ext cx="6329820" cy="1457325"/>
            <a:chOff x="2931090" y="1314450"/>
            <a:chExt cx="6329820" cy="1457325"/>
          </a:xfrm>
        </p:grpSpPr>
        <p:sp>
          <p:nvSpPr>
            <p:cNvPr id="11" name="Rectangle 11"/>
            <p:cNvSpPr/>
            <p:nvPr/>
          </p:nvSpPr>
          <p:spPr>
            <a:xfrm>
              <a:off x="4343400" y="1314450"/>
              <a:ext cx="3505200" cy="266700"/>
            </a:xfrm>
            <a:prstGeom prst="roundRect">
              <a:avLst>
                <a:gd name="adj" fmla="val 50000"/>
              </a:avLst>
            </a:prstGeom>
            <a:solidFill>
              <a:srgbClr val="5E6AD2">
                <a:alpha val="10000"/>
              </a:srgbClr>
            </a:solidFill>
            <a:ln w="9525">
              <a:solidFill>
                <a:srgbClr val="5E6AD2">
                  <a:alpha val="30000"/>
                </a:srgbClr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374767" y="1398270"/>
              <a:ext cx="14424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2026-05-13-login-page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31090" y="1725930"/>
              <a:ext cx="632982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Login Page 完整流程演示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71995" y="2368868"/>
              <a:ext cx="46480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React 登录组件 · Mock 认证 · Linear 暗色设计系统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619500" y="276225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1219200" y="2990850"/>
            <a:ext cx="9753600" cy="1638300"/>
            <a:chOff x="1219200" y="2990850"/>
            <a:chExt cx="9753600" cy="1638300"/>
          </a:xfrm>
        </p:grpSpPr>
        <p:sp>
          <p:nvSpPr>
            <p:cNvPr id="17" name="Rectangle 17"/>
            <p:cNvSpPr/>
            <p:nvPr/>
          </p:nvSpPr>
          <p:spPr>
            <a:xfrm>
              <a:off x="1219200" y="2990850"/>
              <a:ext cx="2209800" cy="1638300"/>
            </a:xfrm>
            <a:prstGeom prst="roundRect">
              <a:avLst>
                <a:gd name="adj" fmla="val 5814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219200" y="2990850"/>
              <a:ext cx="2209800" cy="28575"/>
            </a:xfrm>
            <a:prstGeom prst="roundRect">
              <a:avLst>
                <a:gd name="adj" fmla="val 50000"/>
              </a:avLst>
            </a:prstGeom>
            <a:solidFill>
              <a:srgbClr val="5E6AD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974742" y="3173730"/>
              <a:ext cx="6987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23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80736" y="3696652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任务项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33349" y="4284345"/>
              <a:ext cx="5815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7 + 12 + 4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657600" y="2990850"/>
              <a:ext cx="2190750" cy="1638300"/>
            </a:xfrm>
            <a:prstGeom prst="roundRect">
              <a:avLst>
                <a:gd name="adj" fmla="val 5814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657600" y="2990850"/>
              <a:ext cx="2190750" cy="28575"/>
            </a:xfrm>
            <a:prstGeom prst="roundRect">
              <a:avLst>
                <a:gd name="adj" fmla="val 50000"/>
              </a:avLst>
            </a:prstGeom>
            <a:solidFill>
              <a:srgbClr val="5E6AD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555436" y="3173730"/>
              <a:ext cx="395078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32935" y="36966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任务分组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30326" y="4284345"/>
              <a:ext cx="12452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A5B66"/>
                  </a:solidFill>
                  <a:latin typeface="Arial"/>
                  <a:ea typeface="Microsoft YaHei"/>
                  <a:cs typeface="Arial"/>
                </a:rPr>
                <a:t>脚手架 · 组件 · 验证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076950" y="2990850"/>
              <a:ext cx="2209800" cy="1638300"/>
            </a:xfrm>
            <a:prstGeom prst="roundRect">
              <a:avLst>
                <a:gd name="adj" fmla="val 5814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76950" y="2990850"/>
              <a:ext cx="2209800" cy="28575"/>
            </a:xfrm>
            <a:prstGeom prst="roundRect">
              <a:avLst>
                <a:gd name="adj" fmla="val 50000"/>
              </a:avLst>
            </a:prstGeom>
            <a:solidFill>
              <a:srgbClr val="30A46C">
                <a:alpha val="80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84311" y="3173730"/>
              <a:ext cx="395078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61810" y="36966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代码审查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10362" y="428434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1.Z · 2.Z · 3.4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515350" y="2990850"/>
              <a:ext cx="2457450" cy="1638300"/>
            </a:xfrm>
            <a:prstGeom prst="roundRect">
              <a:avLst>
                <a:gd name="adj" fmla="val 5814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8515350" y="2990850"/>
              <a:ext cx="2457450" cy="28575"/>
            </a:xfrm>
            <a:prstGeom prst="roundRect">
              <a:avLst>
                <a:gd name="adj" fmla="val 50000"/>
              </a:avLst>
            </a:prstGeom>
            <a:solidFill>
              <a:srgbClr val="5E6AD2">
                <a:alpha val="50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615545" y="3173730"/>
              <a:ext cx="257061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24035" y="36966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最终验证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73170" y="4110038"/>
              <a:ext cx="114180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verification-before-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282708" y="4262438"/>
              <a:ext cx="92273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completion (3.3)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240530" y="4994910"/>
            <a:ext cx="3710940" cy="877252"/>
            <a:chOff x="4240530" y="4994910"/>
            <a:chExt cx="3710940" cy="877252"/>
          </a:xfrm>
        </p:grpSpPr>
        <p:sp>
          <p:nvSpPr>
            <p:cNvPr id="39" name="TextBox 39"/>
            <p:cNvSpPr txBox="1"/>
            <p:nvPr/>
          </p:nvSpPr>
          <p:spPr>
            <a:xfrm>
              <a:off x="4836414" y="4994910"/>
              <a:ext cx="25191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接下来演示：从 tasks.md 出发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40530" y="5242560"/>
              <a:ext cx="37109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完整走一遍 apply → 代码审查 → archive 的流程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292275" y="5658802"/>
              <a:ext cx="36074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/opsx:propose</a:t>
              </a:r>
              <a:r>
                <a:rPr lang="zh-CN" sz="105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 xml:space="preserve"> → </a:t>
              </a:r>
              <a:r>
                <a:rPr lang="zh-CN" sz="105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/opsx:apply</a:t>
              </a:r>
              <a:r>
                <a:rPr lang="zh-CN" sz="105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 xml:space="preserve"> → </a:t>
              </a:r>
              <a:r>
                <a:rPr lang="zh-CN" sz="105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/opsx:archive</a:t>
              </a:r>
            </a:p>
          </p:txBody>
        </p:sp>
      </p:grpSp>
      <p:sp>
        <p:nvSpPr>
          <p:cNvPr id="43" name="Line 43"/>
          <p:cNvSpPr/>
          <p:nvPr/>
        </p:nvSpPr>
        <p:spPr>
          <a:xfrm>
            <a:off x="0" y="65913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2B2B2F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4139184" y="6665595"/>
            <a:ext cx="39136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5B66"/>
                </a:solidFill>
                <a:latin typeface="Arial"/>
                <a:ea typeface="Microsoft YaHei"/>
                <a:cs typeface="Arial"/>
              </a:rPr>
              <a:t>技术分享 · Austin · github.com/austinxyz/opsx-superpowers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382232" y="66736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5A5B66"/>
                </a:solidFill>
                <a:latin typeface="Consolas"/>
                <a:ea typeface="Microsoft YaHei"/>
                <a:cs typeface="Consolas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8" grpId="0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19050">
            <a:solidFill>
              <a:srgbClr val="5E6AD2">
                <a:alpha val="60000"/>
              </a:srgbClr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09600" y="400050"/>
            <a:ext cx="10984230" cy="621506"/>
            <a:chOff x="609600" y="400050"/>
            <a:chExt cx="10984230" cy="621506"/>
          </a:xfrm>
        </p:grpSpPr>
        <p:sp>
          <p:nvSpPr>
            <p:cNvPr id="4" name="Rectangle 4"/>
            <p:cNvSpPr/>
            <p:nvPr/>
          </p:nvSpPr>
          <p:spPr>
            <a:xfrm>
              <a:off x="609600" y="400050"/>
              <a:ext cx="28575" cy="533400"/>
            </a:xfrm>
            <a:prstGeom prst="roundRect">
              <a:avLst>
                <a:gd name="adj" fmla="val 50000"/>
              </a:avLst>
            </a:prstGeom>
            <a:solidFill>
              <a:srgbClr val="5E6AD2">
                <a:alpha val="85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9620" y="455295"/>
              <a:ext cx="370461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tasks.md 完整任务流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89622" y="853916"/>
              <a:ext cx="25994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2026-05-13-login-page · 23 tasks · 3 groups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459242" y="569595"/>
              <a:ext cx="134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10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104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2B2B2F"/>
            </a:solidFill>
          </a:ln>
        </p:spPr>
      </p:sp>
      <p:grpSp>
        <p:nvGrpSpPr>
          <p:cNvPr id="34" name="Group 34"/>
          <p:cNvGrpSpPr/>
          <p:nvPr/>
        </p:nvGrpSpPr>
        <p:grpSpPr>
          <a:xfrm>
            <a:off x="609600" y="1257300"/>
            <a:ext cx="3409950" cy="5219700"/>
            <a:chOff x="609600" y="1257300"/>
            <a:chExt cx="3409950" cy="5219700"/>
          </a:xfrm>
        </p:grpSpPr>
        <p:sp>
          <p:nvSpPr>
            <p:cNvPr id="10" name="Rectangle 10"/>
            <p:cNvSpPr/>
            <p:nvPr/>
          </p:nvSpPr>
          <p:spPr>
            <a:xfrm>
              <a:off x="609600" y="1257300"/>
              <a:ext cx="3409950" cy="5219700"/>
            </a:xfrm>
            <a:prstGeom prst="roundRect">
              <a:avLst>
                <a:gd name="adj" fmla="val 2235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1257300"/>
              <a:ext cx="3409950" cy="342900"/>
            </a:xfrm>
            <a:prstGeom prst="roundRect">
              <a:avLst>
                <a:gd name="adj" fmla="val 22222"/>
              </a:avLst>
            </a:prstGeom>
            <a:solidFill>
              <a:srgbClr val="1A1A1F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1257300"/>
              <a:ext cx="3409950" cy="38100"/>
            </a:xfrm>
            <a:prstGeom prst="roundRect">
              <a:avLst>
                <a:gd name="adj" fmla="val 50000"/>
              </a:avLst>
            </a:prstGeom>
            <a:solidFill>
              <a:srgbClr val="5E6AD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97082" y="1379220"/>
              <a:ext cx="10349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GROUP 1 — 脚手架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8670" y="1750695"/>
              <a:ext cx="20011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1.1 Bootstrap React + Vite (TS)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8670" y="1941195"/>
              <a:ext cx="18499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1.2 Verify dev server starts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8670" y="2131695"/>
              <a:ext cx="17382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1.3 Remove Vite boilerplate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8670" y="2322195"/>
              <a:ext cx="22311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1.4 Install Vitest + Testing Library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8670" y="2512695"/>
              <a:ext cx="24414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1.5 Configure Vitest in vite.config.ts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8670" y="2703195"/>
              <a:ext cx="25203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1.6 Run npx vitest — 0 tests, 0 failures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00100" y="29337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00100" y="3009900"/>
              <a:ext cx="3028950" cy="514350"/>
            </a:xfrm>
            <a:prstGeom prst="roundRect">
              <a:avLst>
                <a:gd name="adj" fmla="val 11111"/>
              </a:avLst>
            </a:prstGeom>
            <a:solidFill>
              <a:srgbClr val="5E6AD2">
                <a:alpha val="8000"/>
              </a:srgbClr>
            </a:solidFill>
            <a:ln w="9525">
              <a:solidFill>
                <a:srgbClr val="5E6AD2">
                  <a:alpha val="40000"/>
                </a:srgb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81111" y="3130391"/>
              <a:ext cx="246692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1.Z superpowers:requesting-code-review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14984" y="3312795"/>
              <a:ext cx="25991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Group 1 diff 审查，CRITICAL/HIGH 必须修复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00100" y="3714750"/>
              <a:ext cx="3028950" cy="2609850"/>
            </a:xfrm>
            <a:prstGeom prst="roundRect">
              <a:avLst>
                <a:gd name="adj" fmla="val 2190"/>
              </a:avLst>
            </a:prstGeom>
            <a:solidFill>
              <a:srgbClr val="1A1A1F"/>
            </a:solidFill>
            <a:ln w="9525">
              <a:solidFill>
                <a:srgbClr val="2B2B2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093238" y="3835241"/>
              <a:ext cx="4426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OUTPUT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79170" y="401764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login-app/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9170" y="4189095"/>
              <a:ext cx="3120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src/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79170" y="4360545"/>
              <a:ext cx="15081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DEDEF"/>
                  </a:solidFill>
                  <a:latin typeface="Consolas"/>
                  <a:ea typeface="Microsoft YaHei"/>
                  <a:cs typeface="Consolas"/>
                </a:rPr>
                <a:t>App.tsx setupTests.ts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9170" y="4531995"/>
              <a:ext cx="9692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vite.config.ts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9170" y="4703445"/>
              <a:ext cx="8575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package.json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0122" y="4959191"/>
              <a:ext cx="17018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Vitest: 0 tests, 0 failures 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0122" y="5130641"/>
              <a:ext cx="16957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Dev server: localhost:5173 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80122" y="5302091"/>
              <a:ext cx="14728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Code review: APPROVED ✓</a:t>
              </a:r>
            </a:p>
          </p:txBody>
        </p:sp>
      </p:grpSp>
      <p:sp>
        <p:nvSpPr>
          <p:cNvPr id="35" name="Freeform 35"/>
          <p:cNvSpPr/>
          <p:nvPr/>
        </p:nvSpPr>
        <p:spPr>
          <a:xfrm>
            <a:off x="4019550" y="3867150"/>
            <a:ext cx="247650" cy="9525"/>
          </a:xfrm>
          <a:custGeom>
            <a:avLst/>
            <a:gdLst/>
            <a:ahLst/>
            <a:cxnLst/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4288">
            <a:solidFill>
              <a:srgbClr val="5E6AD2">
                <a:alpha val="50000"/>
              </a:srgbClr>
            </a:solidFill>
          </a:ln>
        </p:spPr>
      </p:sp>
      <p:sp>
        <p:nvSpPr>
          <p:cNvPr id="36" name="Polygon 36"/>
          <p:cNvSpPr/>
          <p:nvPr/>
        </p:nvSpPr>
        <p:spPr>
          <a:xfrm>
            <a:off x="4267200" y="38290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5E6AD2">
              <a:alpha val="50000"/>
            </a:srgbClr>
          </a:solidFill>
          <a:ln>
            <a:noFill/>
          </a:ln>
        </p:spPr>
      </p:sp>
      <p:grpSp>
        <p:nvGrpSpPr>
          <p:cNvPr id="66" name="Group 66"/>
          <p:cNvGrpSpPr/>
          <p:nvPr/>
        </p:nvGrpSpPr>
        <p:grpSpPr>
          <a:xfrm>
            <a:off x="4362450" y="1257300"/>
            <a:ext cx="3790950" cy="5219700"/>
            <a:chOff x="4362450" y="1257300"/>
            <a:chExt cx="3790950" cy="5219700"/>
          </a:xfrm>
        </p:grpSpPr>
        <p:sp>
          <p:nvSpPr>
            <p:cNvPr id="37" name="Rectangle 37"/>
            <p:cNvSpPr/>
            <p:nvPr/>
          </p:nvSpPr>
          <p:spPr>
            <a:xfrm>
              <a:off x="4362450" y="1257300"/>
              <a:ext cx="3790950" cy="5219700"/>
            </a:xfrm>
            <a:prstGeom prst="roundRect">
              <a:avLst>
                <a:gd name="adj" fmla="val 2010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4362450" y="1257300"/>
              <a:ext cx="3790950" cy="342900"/>
            </a:xfrm>
            <a:prstGeom prst="roundRect">
              <a:avLst>
                <a:gd name="adj" fmla="val 22222"/>
              </a:avLst>
            </a:prstGeom>
            <a:solidFill>
              <a:srgbClr val="1A1A1F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362450" y="1257300"/>
              <a:ext cx="3790950" cy="38100"/>
            </a:xfrm>
            <a:prstGeom prst="roundRect">
              <a:avLst>
                <a:gd name="adj" fmla="val 50000"/>
              </a:avLst>
            </a:prstGeom>
            <a:solidFill>
              <a:srgbClr val="E5484D">
                <a:alpha val="80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461111" y="1379220"/>
              <a:ext cx="1593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5484D"/>
                  </a:solidFill>
                  <a:latin typeface="Consolas"/>
                  <a:ea typeface="Microsoft YaHei"/>
                  <a:cs typeface="Consolas"/>
                </a:rPr>
                <a:t>GROUP 2 — LoginPage 组件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42472" y="1720691"/>
              <a:ext cx="24789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2.1 MOCK — 打开 mocks.html，记录设计令牌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42472" y="1892141"/>
              <a:ext cx="31838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5484D"/>
                  </a:solidFill>
                  <a:latin typeface="Consolas"/>
                  <a:ea typeface="Microsoft YaHei"/>
                  <a:cs typeface="Consolas"/>
                </a:rPr>
                <a:t>2.2 RED — form renders (username/password/submit)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42472" y="2063591"/>
              <a:ext cx="280430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2.3 GREEN — LoginPage.tsx + LoginPage.css 创建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42472" y="2235041"/>
              <a:ext cx="22922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2.4 VISUAL DIFF — browser vs mock 对比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542472" y="2406491"/>
              <a:ext cx="19186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5484D"/>
                  </a:solidFill>
                  <a:latin typeface="Consolas"/>
                  <a:ea typeface="Microsoft YaHei"/>
                  <a:cs typeface="Consolas"/>
                </a:rPr>
                <a:t>2.5 RED — 空字段提交显示验证错误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42472" y="2577941"/>
              <a:ext cx="15692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2.6 GREEN — 空字段验证逻辑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542472" y="2749391"/>
              <a:ext cx="17982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5484D"/>
                  </a:solidFill>
                  <a:latin typeface="Consolas"/>
                  <a:ea typeface="Microsoft YaHei"/>
                  <a:cs typeface="Consolas"/>
                </a:rPr>
                <a:t>2.7 RED — 正确凭据显示欢迎消息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542472" y="2920841"/>
              <a:ext cx="247897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2.8 GREEN — MOCK_USER + isLoggedIn state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542472" y="3092291"/>
              <a:ext cx="17982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5484D"/>
                  </a:solidFill>
                  <a:latin typeface="Consolas"/>
                  <a:ea typeface="Microsoft YaHei"/>
                  <a:cs typeface="Consolas"/>
                </a:rPr>
                <a:t>2.9 RED — 错误凭据显示错误提示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542472" y="3263741"/>
              <a:ext cx="196688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2.10 GREEN — error state handling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542472" y="3435191"/>
              <a:ext cx="30693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2.11 VISUAL DIFF — 3 states (default/error/success)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4552950" y="36576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4552950" y="3733800"/>
              <a:ext cx="3409950" cy="514350"/>
            </a:xfrm>
            <a:prstGeom prst="roundRect">
              <a:avLst>
                <a:gd name="adj" fmla="val 11111"/>
              </a:avLst>
            </a:prstGeom>
            <a:solidFill>
              <a:srgbClr val="5E6AD2">
                <a:alpha val="8000"/>
              </a:srgbClr>
            </a:solidFill>
            <a:ln w="9525">
              <a:solidFill>
                <a:srgbClr val="5E6AD2">
                  <a:alpha val="40000"/>
                </a:srgbClr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009400" y="3854291"/>
              <a:ext cx="24970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2.Z superpowers:requesting-code-review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941903" y="4036695"/>
              <a:ext cx="26320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Group 2 diff 审查，CRITICAL/HIGH 必须修复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4552950" y="4381500"/>
              <a:ext cx="3409950" cy="1943100"/>
            </a:xfrm>
            <a:prstGeom prst="roundRect">
              <a:avLst>
                <a:gd name="adj" fmla="val 2941"/>
              </a:avLst>
            </a:prstGeom>
            <a:solidFill>
              <a:srgbClr val="1A1A1F"/>
            </a:solidFill>
            <a:ln w="9525">
              <a:solidFill>
                <a:srgbClr val="2B2B2F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036588" y="4501991"/>
              <a:ext cx="4426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OUTPUT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732020" y="4684395"/>
              <a:ext cx="20405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DEDEF"/>
                  </a:solidFill>
                  <a:latin typeface="Consolas"/>
                  <a:ea typeface="Microsoft YaHei"/>
                  <a:cs typeface="Consolas"/>
                </a:rPr>
                <a:t>src/components/LoginPage.tsx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732020" y="4855845"/>
              <a:ext cx="20405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DEDEF"/>
                  </a:solidFill>
                  <a:latin typeface="Consolas"/>
                  <a:ea typeface="Microsoft YaHei"/>
                  <a:cs typeface="Consolas"/>
                </a:rPr>
                <a:t>src/components/LoginPage.css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732020" y="5027295"/>
              <a:ext cx="24020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DEDEF"/>
                  </a:solidFill>
                  <a:latin typeface="Consolas"/>
                  <a:ea typeface="Microsoft YaHei"/>
                  <a:cs typeface="Consolas"/>
                </a:rPr>
                <a:t>src/components/LoginPage.test.tsx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732972" y="5263991"/>
              <a:ext cx="9969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All tests green ✓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732972" y="5435441"/>
              <a:ext cx="129816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Visual diff approved ✓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732972" y="5606891"/>
              <a:ext cx="14728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Code review: APPROVED ✓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732972" y="6083141"/>
              <a:ext cx="24970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// superpowers:test-driven-development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732972" y="6235541"/>
              <a:ext cx="170783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// 全程保证 RED before GREEN</a:t>
              </a:r>
            </a:p>
          </p:txBody>
        </p:sp>
      </p:grpSp>
      <p:sp>
        <p:nvSpPr>
          <p:cNvPr id="67" name="Freeform 67"/>
          <p:cNvSpPr/>
          <p:nvPr/>
        </p:nvSpPr>
        <p:spPr>
          <a:xfrm>
            <a:off x="8153400" y="386715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4288">
            <a:solidFill>
              <a:srgbClr val="5E6AD2">
                <a:alpha val="50000"/>
              </a:srgbClr>
            </a:solidFill>
          </a:ln>
        </p:spPr>
      </p:sp>
      <p:sp>
        <p:nvSpPr>
          <p:cNvPr id="68" name="Polygon 68"/>
          <p:cNvSpPr/>
          <p:nvPr/>
        </p:nvSpPr>
        <p:spPr>
          <a:xfrm>
            <a:off x="8343900" y="38290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5E6AD2">
              <a:alpha val="50000"/>
            </a:srgbClr>
          </a:solidFill>
          <a:ln>
            <a:noFill/>
          </a:ln>
        </p:spPr>
      </p:sp>
      <p:grpSp>
        <p:nvGrpSpPr>
          <p:cNvPr id="96" name="Group 96"/>
          <p:cNvGrpSpPr/>
          <p:nvPr/>
        </p:nvGrpSpPr>
        <p:grpSpPr>
          <a:xfrm>
            <a:off x="8439150" y="1257300"/>
            <a:ext cx="3143250" cy="5219700"/>
            <a:chOff x="8439150" y="1257300"/>
            <a:chExt cx="3143250" cy="5219700"/>
          </a:xfrm>
        </p:grpSpPr>
        <p:sp>
          <p:nvSpPr>
            <p:cNvPr id="69" name="Rectangle 69"/>
            <p:cNvSpPr/>
            <p:nvPr/>
          </p:nvSpPr>
          <p:spPr>
            <a:xfrm>
              <a:off x="8439150" y="1257300"/>
              <a:ext cx="3143250" cy="5219700"/>
            </a:xfrm>
            <a:prstGeom prst="roundRect">
              <a:avLst>
                <a:gd name="adj" fmla="val 2424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439150" y="1257300"/>
              <a:ext cx="3143250" cy="342900"/>
            </a:xfrm>
            <a:prstGeom prst="roundRect">
              <a:avLst>
                <a:gd name="adj" fmla="val 22222"/>
              </a:avLst>
            </a:prstGeom>
            <a:solidFill>
              <a:srgbClr val="1A1A1F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8439150" y="1257300"/>
              <a:ext cx="3143250" cy="38100"/>
            </a:xfrm>
            <a:prstGeom prst="roundRect">
              <a:avLst>
                <a:gd name="adj" fmla="val 50000"/>
              </a:avLst>
            </a:prstGeom>
            <a:solidFill>
              <a:srgbClr val="30A46C">
                <a:alpha val="80000"/>
              </a:srgbClr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335548" y="1379220"/>
              <a:ext cx="13504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GROUP 3 — 验证 + 归档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618220" y="1769745"/>
              <a:ext cx="18630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3.1 Run npx vitest — all green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618220" y="1960245"/>
              <a:ext cx="18499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3.2 grep -r console.log src/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619172" y="2196941"/>
              <a:ext cx="187049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(confirm no debug statements)</a:t>
              </a:r>
            </a:p>
          </p:txBody>
        </p:sp>
        <p:sp>
          <p:nvSpPr>
            <p:cNvPr id="76" name="Line 76"/>
            <p:cNvSpPr/>
            <p:nvPr/>
          </p:nvSpPr>
          <p:spPr>
            <a:xfrm>
              <a:off x="8629650" y="2419350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8629650" y="2495550"/>
              <a:ext cx="2762250" cy="514350"/>
            </a:xfrm>
            <a:prstGeom prst="roundRect">
              <a:avLst>
                <a:gd name="adj" fmla="val 11111"/>
              </a:avLst>
            </a:prstGeom>
            <a:solidFill>
              <a:srgbClr val="30A46C">
                <a:alpha val="8000"/>
              </a:srgbClr>
            </a:solidFill>
            <a:ln w="9525">
              <a:solidFill>
                <a:srgbClr val="30A46C">
                  <a:alpha val="40000"/>
                </a:srgbClr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675846" y="2624138"/>
              <a:ext cx="266985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3.3 superpowers:verification-before-completion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934640" y="2798445"/>
              <a:ext cx="21522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全测试 + console 审查 + 完整性核验</a:t>
              </a:r>
            </a:p>
          </p:txBody>
        </p:sp>
        <p:sp>
          <p:nvSpPr>
            <p:cNvPr id="80" name="Line 80"/>
            <p:cNvSpPr/>
            <p:nvPr/>
          </p:nvSpPr>
          <p:spPr>
            <a:xfrm>
              <a:off x="8629650" y="3105150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8629650" y="3181350"/>
              <a:ext cx="2762250" cy="514350"/>
            </a:xfrm>
            <a:prstGeom prst="roundRect">
              <a:avLst>
                <a:gd name="adj" fmla="val 11111"/>
              </a:avLst>
            </a:prstGeom>
            <a:solidFill>
              <a:srgbClr val="5E6AD2">
                <a:alpha val="8000"/>
              </a:srgbClr>
            </a:solidFill>
            <a:ln w="9525">
              <a:solidFill>
                <a:srgbClr val="5E6AD2">
                  <a:alpha val="40000"/>
                </a:srgbClr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762250" y="3301841"/>
              <a:ext cx="24970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3.4 superpowers:requesting-code-review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305973" y="3484245"/>
              <a:ext cx="14096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完整变更 diff 最终审查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8629650" y="3867150"/>
              <a:ext cx="2762250" cy="2457450"/>
            </a:xfrm>
            <a:prstGeom prst="roundRect">
              <a:avLst>
                <a:gd name="adj" fmla="val 2326"/>
              </a:avLst>
            </a:prstGeom>
            <a:solidFill>
              <a:srgbClr val="1A1A1F"/>
            </a:solidFill>
            <a:ln w="9525">
              <a:solidFill>
                <a:srgbClr val="2B2B2F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9503271" y="3987641"/>
              <a:ext cx="10150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OUTPUT → archive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808720" y="4208145"/>
              <a:ext cx="17973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openspec/changes/archive/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808720" y="4379595"/>
              <a:ext cx="15147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2026-05-13-login-page/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808720" y="4570095"/>
              <a:ext cx="14556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DEDEF"/>
                  </a:solidFill>
                  <a:latin typeface="Consolas"/>
                  <a:ea typeface="Microsoft YaHei"/>
                  <a:cs typeface="Consolas"/>
                </a:rPr>
                <a:t>tasks.md proposal.md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808720" y="4760595"/>
              <a:ext cx="11401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DEDEF"/>
                  </a:solidFill>
                  <a:latin typeface="Consolas"/>
                  <a:ea typeface="Microsoft YaHei"/>
                  <a:cs typeface="Consolas"/>
                </a:rPr>
                <a:t>design.md specs/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809672" y="4997291"/>
              <a:ext cx="21717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openspec/specs/login-page/spec.md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809672" y="5168741"/>
              <a:ext cx="16596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openspec/specs/README.md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809672" y="5340191"/>
              <a:ext cx="14246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CLAUDE.md / README.md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809672" y="5568791"/>
              <a:ext cx="8643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All tasks [x] ✓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809672" y="5740241"/>
              <a:ext cx="14186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3 code reviews passed ✓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809672" y="5911691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Workflow complete ✓</a:t>
              </a:r>
            </a:p>
          </p:txBody>
        </p:sp>
      </p:grpSp>
      <p:sp>
        <p:nvSpPr>
          <p:cNvPr id="97" name="Line 97"/>
          <p:cNvSpPr/>
          <p:nvPr/>
        </p:nvSpPr>
        <p:spPr>
          <a:xfrm>
            <a:off x="0" y="65913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2B2B2F"/>
            </a:solidFill>
          </a:ln>
        </p:spPr>
      </p:sp>
      <p:sp>
        <p:nvSpPr>
          <p:cNvPr id="98" name="TextBox 98"/>
          <p:cNvSpPr txBox="1"/>
          <p:nvPr/>
        </p:nvSpPr>
        <p:spPr>
          <a:xfrm>
            <a:off x="4139184" y="6665595"/>
            <a:ext cx="39136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5B66"/>
                </a:solidFill>
                <a:latin typeface="Arial"/>
                <a:ea typeface="Microsoft YaHei"/>
                <a:cs typeface="Arial"/>
              </a:rPr>
              <a:t>技术分享 · Austin · github.com/austinxyz/opsx-superpowers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1412355" y="6673691"/>
            <a:ext cx="123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5A5B66"/>
                </a:solidFill>
                <a:latin typeface="Consolas"/>
                <a:ea typeface="Microsoft YaHei"/>
                <a:cs typeface="Consolas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66" grpId="0"/>
      <p:bldP spid="9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19050">
            <a:solidFill>
              <a:srgbClr val="5E6AD2">
                <a:alpha val="60000"/>
              </a:srgbClr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09600" y="400050"/>
            <a:ext cx="10984230" cy="621506"/>
            <a:chOff x="609600" y="400050"/>
            <a:chExt cx="10984230" cy="621506"/>
          </a:xfrm>
        </p:grpSpPr>
        <p:sp>
          <p:nvSpPr>
            <p:cNvPr id="4" name="Rectangle 4"/>
            <p:cNvSpPr/>
            <p:nvPr/>
          </p:nvSpPr>
          <p:spPr>
            <a:xfrm>
              <a:off x="609600" y="400050"/>
              <a:ext cx="28575" cy="533400"/>
            </a:xfrm>
            <a:prstGeom prst="roundRect">
              <a:avLst>
                <a:gd name="adj" fmla="val 50000"/>
              </a:avLst>
            </a:prstGeom>
            <a:solidFill>
              <a:srgbClr val="5E6AD2">
                <a:alpha val="85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9620" y="455295"/>
              <a:ext cx="342858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代码审查 &amp; 最终验证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89622" y="853916"/>
              <a:ext cx="426224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superpowers:requesting-code-review · verification-before-completion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492103" y="569595"/>
              <a:ext cx="1017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11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104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2B2B2F"/>
            </a:solidFill>
          </a:ln>
        </p:spPr>
      </p:sp>
      <p:grpSp>
        <p:nvGrpSpPr>
          <p:cNvPr id="57" name="Group 57"/>
          <p:cNvGrpSpPr/>
          <p:nvPr/>
        </p:nvGrpSpPr>
        <p:grpSpPr>
          <a:xfrm>
            <a:off x="599122" y="1320641"/>
            <a:ext cx="5001578" cy="5003959"/>
            <a:chOff x="599122" y="1320641"/>
            <a:chExt cx="5001578" cy="5003959"/>
          </a:xfrm>
        </p:grpSpPr>
        <p:sp>
          <p:nvSpPr>
            <p:cNvPr id="10" name="TextBox 10"/>
            <p:cNvSpPr txBox="1"/>
            <p:nvPr/>
          </p:nvSpPr>
          <p:spPr>
            <a:xfrm>
              <a:off x="599122" y="1320641"/>
              <a:ext cx="4547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TRIGGER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148590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1543050"/>
              <a:ext cx="4991100" cy="914400"/>
            </a:xfrm>
            <a:prstGeom prst="roundRect">
              <a:avLst>
                <a:gd name="adj" fmla="val 6250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1543050"/>
              <a:ext cx="4991100" cy="28575"/>
            </a:xfrm>
            <a:prstGeom prst="roundRect">
              <a:avLst>
                <a:gd name="adj" fmla="val 50000"/>
              </a:avLst>
            </a:prstGeom>
            <a:solidFill>
              <a:srgbClr val="5E6AD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8670" y="1674495"/>
              <a:ext cx="24677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superpowers:requesting-code-review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7718" y="1856899"/>
              <a:ext cx="30863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tasks.md 中每 Group 末尾的 X.Z 任务显式调用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8670" y="2055495"/>
              <a:ext cx="34601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1.Z — Group 1 diff · 2.Z — Group 2 diff · 3.4 — 完整 diff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9622" y="2254091"/>
              <a:ext cx="26054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// 共 3 次，每次明确传入本 Group 的 diff 范围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" y="2571750"/>
              <a:ext cx="4991100" cy="647700"/>
            </a:xfrm>
            <a:prstGeom prst="roundRect">
              <a:avLst>
                <a:gd name="adj" fmla="val 8824"/>
              </a:avLst>
            </a:prstGeom>
            <a:solidFill>
              <a:srgbClr val="141414"/>
            </a:solidFill>
            <a:ln w="9525">
              <a:solidFill>
                <a:srgbClr val="30A46C">
                  <a:alpha val="40000"/>
                </a:srgbClr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9600" y="2571750"/>
              <a:ext cx="4991100" cy="28575"/>
            </a:xfrm>
            <a:prstGeom prst="roundRect">
              <a:avLst>
                <a:gd name="adj" fmla="val 50000"/>
              </a:avLst>
            </a:prstGeom>
            <a:solidFill>
              <a:srgbClr val="30A46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8670" y="2703195"/>
              <a:ext cx="294751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superpowers:verification-before-completion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7718" y="2885599"/>
              <a:ext cx="34423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任务 3.3 — 全测试 + stray console.log + 完整性核验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9622" y="3054191"/>
              <a:ext cx="17861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// 在 3.4 最终代码审查之前执行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9122" y="3358991"/>
              <a:ext cx="8041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REVIEW SCOPE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09600" y="352425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9600" y="3600450"/>
              <a:ext cx="2419350" cy="819150"/>
            </a:xfrm>
            <a:prstGeom prst="roundRect">
              <a:avLst>
                <a:gd name="adj" fmla="val 6977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9622" y="3701891"/>
              <a:ext cx="3824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安全性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8670" y="3865245"/>
              <a:ext cx="10481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硬编码凭据 · XSS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8670" y="4036695"/>
              <a:ext cx="9626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注入 · 路径遍历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9622" y="4216241"/>
              <a:ext cx="118369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MOCK_USER 明确标注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181350" y="3600450"/>
              <a:ext cx="2419350" cy="819150"/>
            </a:xfrm>
            <a:prstGeom prst="roundRect">
              <a:avLst>
                <a:gd name="adj" fmla="val 6977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361372" y="37018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代码质量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60420" y="3865245"/>
              <a:ext cx="12255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函数大小 · 嵌套深度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360420" y="4036695"/>
              <a:ext cx="1094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可读性 · 错误处理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361372" y="4216241"/>
              <a:ext cx="7860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无 debug 语句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09600" y="4514850"/>
              <a:ext cx="2419350" cy="819150"/>
            </a:xfrm>
            <a:prstGeom prst="roundRect">
              <a:avLst>
                <a:gd name="adj" fmla="val 6977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89622" y="4616291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测试覆盖率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8670" y="4779645"/>
              <a:ext cx="10744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新功能有对应测试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8670" y="495109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测试完整性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9622" y="5130641"/>
              <a:ext cx="8643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RED 先于 GREEN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181350" y="4514850"/>
              <a:ext cx="2419350" cy="819150"/>
            </a:xfrm>
            <a:prstGeom prst="roundRect">
              <a:avLst>
                <a:gd name="adj" fmla="val 6977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361372" y="46162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类型安全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360420" y="4779645"/>
              <a:ext cx="12781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TypeScript 严格模式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360420" y="4951095"/>
              <a:ext cx="8049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any 类型使用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361372" y="513064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类型推导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99122" y="5435441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SEVERITY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609600" y="560070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09600" y="5676900"/>
              <a:ext cx="4991100" cy="647700"/>
            </a:xfrm>
            <a:prstGeom prst="roundRect">
              <a:avLst>
                <a:gd name="adj" fmla="val 8824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88670" y="5770245"/>
              <a:ext cx="5354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5484D"/>
                  </a:solidFill>
                  <a:latin typeface="Consolas"/>
                  <a:ea typeface="Microsoft YaHei"/>
                  <a:cs typeface="Consolas"/>
                </a:rPr>
                <a:t>CRITICAL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607820" y="5770245"/>
              <a:ext cx="5223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→ BLOCK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407920" y="5770245"/>
              <a:ext cx="2791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HIGH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846070" y="5770245"/>
              <a:ext cx="4500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→ WARN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550920" y="5770245"/>
              <a:ext cx="2660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MED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912870" y="5770245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→ INFO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465320" y="5770245"/>
              <a:ext cx="2923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LOW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789170" y="5770245"/>
              <a:ext cx="4500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→ NOTE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8670" y="6113145"/>
              <a:ext cx="31841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CRITICAL/HIGH 必须在本 Group 内立即修复后才能继续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5829300" y="1257300"/>
            <a:ext cx="5753100" cy="5048250"/>
            <a:chOff x="5829300" y="1257300"/>
            <a:chExt cx="5753100" cy="5048250"/>
          </a:xfrm>
        </p:grpSpPr>
        <p:sp>
          <p:nvSpPr>
            <p:cNvPr id="58" name="Rectangle 58"/>
            <p:cNvSpPr/>
            <p:nvPr/>
          </p:nvSpPr>
          <p:spPr>
            <a:xfrm>
              <a:off x="5829300" y="1257300"/>
              <a:ext cx="5753100" cy="3810000"/>
            </a:xfrm>
            <a:prstGeom prst="roundRect">
              <a:avLst>
                <a:gd name="adj" fmla="val 2000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5829300" y="1257300"/>
              <a:ext cx="5753100" cy="28575"/>
            </a:xfrm>
            <a:prstGeom prst="roundRect">
              <a:avLst>
                <a:gd name="adj" fmla="val 50000"/>
              </a:avLst>
            </a:prstGeom>
            <a:solidFill>
              <a:srgbClr val="5E6AD2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829300" y="1285875"/>
              <a:ext cx="5753100" cy="304800"/>
            </a:xfrm>
            <a:prstGeom prst="roundRect">
              <a:avLst>
                <a:gd name="adj" fmla="val 25000"/>
              </a:avLst>
            </a:prstGeom>
            <a:solidFill>
              <a:srgbClr val="1A1A1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267551" y="1396841"/>
              <a:ext cx="28765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2.Z — superpowers:requesting-code-review 输出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046470" y="1712595"/>
              <a:ext cx="7523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## Security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046470" y="1884045"/>
              <a:ext cx="23560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MOCK_USER hardcoded in component: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046470" y="2055495"/>
              <a:ext cx="303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LOW — clearly labeled as mock-only; acceptable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6057900" y="228600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046470" y="2379345"/>
              <a:ext cx="6735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## Quality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046470" y="2550795"/>
              <a:ext cx="25794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LoginPage.tsx: 78 lines — within limits ✓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046470" y="2722245"/>
              <a:ext cx="18368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No console.log statements ✓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046470" y="2893695"/>
              <a:ext cx="23034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Error handling: explicit validation ✓</a:t>
              </a:r>
            </a:p>
          </p:txBody>
        </p:sp>
        <p:sp>
          <p:nvSpPr>
            <p:cNvPr id="70" name="Line 70"/>
            <p:cNvSpPr/>
            <p:nvPr/>
          </p:nvSpPr>
          <p:spPr>
            <a:xfrm>
              <a:off x="6057900" y="312420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046470" y="3217545"/>
              <a:ext cx="5683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## Tests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046470" y="3388995"/>
              <a:ext cx="32038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All scenarios covered (form / validation / auth) ✓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046470" y="3560445"/>
              <a:ext cx="2540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RED written before GREEN in each pair ✓</a:t>
              </a:r>
            </a:p>
          </p:txBody>
        </p:sp>
        <p:sp>
          <p:nvSpPr>
            <p:cNvPr id="74" name="Line 74"/>
            <p:cNvSpPr/>
            <p:nvPr/>
          </p:nvSpPr>
          <p:spPr>
            <a:xfrm>
              <a:off x="6057900" y="37909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6057900" y="3886200"/>
              <a:ext cx="5334000" cy="1028700"/>
            </a:xfrm>
            <a:prstGeom prst="roundRect">
              <a:avLst>
                <a:gd name="adj" fmla="val 5556"/>
              </a:avLst>
            </a:prstGeom>
            <a:solidFill>
              <a:srgbClr val="30A46C">
                <a:alpha val="6000"/>
              </a:srgbClr>
            </a:solidFill>
            <a:ln w="9525">
              <a:solidFill>
                <a:srgbClr val="30A46C">
                  <a:alpha val="40000"/>
                </a:srgbClr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286407" y="4023360"/>
              <a:ext cx="8769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APPROVED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459408" y="4276249"/>
              <a:ext cx="25309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CRITICAL: 0 HIGH: 0 MEDIUM: 0 LOW: 1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468029" y="4474845"/>
              <a:ext cx="25137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A5B66"/>
                  </a:solidFill>
                  <a:latin typeface="Arial"/>
                  <a:ea typeface="Microsoft YaHei"/>
                  <a:cs typeface="Arial"/>
                </a:rPr>
                <a:t>no blocking issues — proceed to Group 3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395734" y="4665345"/>
              <a:ext cx="26583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A5B66"/>
                  </a:solidFill>
                  <a:latin typeface="Arial"/>
                  <a:ea typeface="Microsoft YaHei"/>
                  <a:cs typeface="Arial"/>
                </a:rPr>
                <a:t>LOW: MOCK_USER 注释说明 (non-blocking)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5829300" y="5219700"/>
              <a:ext cx="5753100" cy="1085850"/>
            </a:xfrm>
            <a:prstGeom prst="roundRect">
              <a:avLst>
                <a:gd name="adj" fmla="val 7018"/>
              </a:avLst>
            </a:prstGeom>
            <a:solidFill>
              <a:srgbClr val="141414"/>
            </a:solidFill>
            <a:ln w="9525">
              <a:solidFill>
                <a:srgbClr val="5E6AD2">
                  <a:alpha val="30000"/>
                </a:srgbClr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5829300" y="5219700"/>
              <a:ext cx="5753100" cy="28575"/>
            </a:xfrm>
            <a:prstGeom prst="roundRect">
              <a:avLst>
                <a:gd name="adj" fmla="val 50000"/>
              </a:avLst>
            </a:prstGeom>
            <a:solidFill>
              <a:srgbClr val="5E6AD2">
                <a:alpha val="50000"/>
              </a:srgbClr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046470" y="5351145"/>
              <a:ext cx="22902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2.4 / 2.11 VISUAL DIFF — 人工验证节点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045518" y="5533549"/>
              <a:ext cx="35135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启动 dev server，在浏览器中对比实现与 mocks.html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045518" y="5724049"/>
              <a:ext cx="42255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3 个状态：Default / Error / Success — 颜色和文字必须完全匹配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047422" y="5930741"/>
              <a:ext cx="25030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// 需要开发者亲眼确认 — agent 暂停等待回报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047422" y="6102191"/>
              <a:ext cx="243680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// token/color/text drift 在此发现并修复</a:t>
              </a:r>
            </a:p>
          </p:txBody>
        </p:sp>
      </p:grpSp>
      <p:sp>
        <p:nvSpPr>
          <p:cNvPr id="88" name="Line 88"/>
          <p:cNvSpPr/>
          <p:nvPr/>
        </p:nvSpPr>
        <p:spPr>
          <a:xfrm>
            <a:off x="0" y="65913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2B2B2F"/>
            </a:solidFill>
          </a:ln>
        </p:spPr>
      </p:sp>
      <p:sp>
        <p:nvSpPr>
          <p:cNvPr id="89" name="TextBox 89"/>
          <p:cNvSpPr txBox="1"/>
          <p:nvPr/>
        </p:nvSpPr>
        <p:spPr>
          <a:xfrm>
            <a:off x="4139184" y="6665595"/>
            <a:ext cx="39136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5B66"/>
                </a:solidFill>
                <a:latin typeface="Arial"/>
                <a:ea typeface="Microsoft YaHei"/>
                <a:cs typeface="Arial"/>
              </a:rPr>
              <a:t>技术分享 · Austin · github.com/austinxyz/opsx-superpowers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1442478" y="6673691"/>
            <a:ext cx="932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5A5B66"/>
                </a:solidFill>
                <a:latin typeface="Consolas"/>
                <a:ea typeface="Microsoft YaHei"/>
                <a:cs typeface="Consolas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8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19050">
            <a:solidFill>
              <a:srgbClr val="5E6AD2">
                <a:alpha val="60000"/>
              </a:srgbClr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09600" y="400050"/>
            <a:ext cx="10984230" cy="621506"/>
            <a:chOff x="609600" y="400050"/>
            <a:chExt cx="10984230" cy="621506"/>
          </a:xfrm>
        </p:grpSpPr>
        <p:sp>
          <p:nvSpPr>
            <p:cNvPr id="4" name="Rectangle 4"/>
            <p:cNvSpPr/>
            <p:nvPr/>
          </p:nvSpPr>
          <p:spPr>
            <a:xfrm>
              <a:off x="609600" y="400050"/>
              <a:ext cx="28575" cy="533400"/>
            </a:xfrm>
            <a:prstGeom prst="roundRect">
              <a:avLst>
                <a:gd name="adj" fmla="val 50000"/>
              </a:avLst>
            </a:prstGeom>
            <a:solidFill>
              <a:srgbClr val="5E6AD2">
                <a:alpha val="85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9620" y="455295"/>
              <a:ext cx="226923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项目文件布局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89622" y="853916"/>
              <a:ext cx="123791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PROJECT FILE LAYOUT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459242" y="569595"/>
              <a:ext cx="134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12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104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2B2B2F"/>
            </a:solidFill>
          </a:ln>
        </p:spPr>
      </p:sp>
      <p:grpSp>
        <p:nvGrpSpPr>
          <p:cNvPr id="48" name="Group 48"/>
          <p:cNvGrpSpPr/>
          <p:nvPr/>
        </p:nvGrpSpPr>
        <p:grpSpPr>
          <a:xfrm>
            <a:off x="609600" y="1257300"/>
            <a:ext cx="6096000" cy="5143500"/>
            <a:chOff x="609600" y="1257300"/>
            <a:chExt cx="6096000" cy="5143500"/>
          </a:xfrm>
        </p:grpSpPr>
        <p:sp>
          <p:nvSpPr>
            <p:cNvPr id="10" name="Rectangle 10"/>
            <p:cNvSpPr/>
            <p:nvPr/>
          </p:nvSpPr>
          <p:spPr>
            <a:xfrm>
              <a:off x="609600" y="1257300"/>
              <a:ext cx="6096000" cy="5143500"/>
            </a:xfrm>
            <a:prstGeom prst="roundRect">
              <a:avLst>
                <a:gd name="adj" fmla="val 1481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1257300"/>
              <a:ext cx="6096000" cy="28575"/>
            </a:xfrm>
            <a:prstGeom prst="roundRect">
              <a:avLst>
                <a:gd name="adj" fmla="val 50000"/>
              </a:avLst>
            </a:prstGeom>
            <a:solidFill>
              <a:srgbClr val="5E6AD2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1285875"/>
              <a:ext cx="6096000" cy="304800"/>
            </a:xfrm>
            <a:prstGeom prst="roundRect">
              <a:avLst>
                <a:gd name="adj" fmla="val 25000"/>
              </a:avLst>
            </a:prstGeom>
            <a:solidFill>
              <a:srgbClr val="1A1A1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990445" y="1396841"/>
              <a:ext cx="13343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opsx-test/ (完整结构)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6770" y="1731645"/>
              <a:ext cx="17119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docs/superpowers/specs/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6770" y="1903095"/>
              <a:ext cx="25860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DEDEF"/>
                  </a:solidFill>
                  <a:latin typeface="Consolas"/>
                  <a:ea typeface="Microsoft YaHei"/>
                  <a:cs typeface="Consolas"/>
                </a:rPr>
                <a:t>2026-05-11-login-page-requirements.md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6770" y="2074545"/>
              <a:ext cx="25991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Status: REVIEWED · HAS_UI_SURFACE: yes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6770" y="2245995"/>
              <a:ext cx="4829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mocks/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6770" y="2417445"/>
              <a:ext cx="22245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DEDEF"/>
                  </a:solidFill>
                  <a:latin typeface="Consolas"/>
                  <a:ea typeface="Microsoft YaHei"/>
                  <a:cs typeface="Consolas"/>
                </a:rPr>
                <a:t>2026-05-11-login-page-mocks.html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38200" y="2647950"/>
              <a:ext cx="5676900" cy="9525"/>
            </a:xfrm>
            <a:custGeom>
              <a:avLst/>
              <a:gdLst/>
              <a:ahLst/>
              <a:cxnLst/>
              <a:rect l="l" t="t" r="r" b="b"/>
              <a:pathLst>
                <a:path w="5676900" h="9525">
                  <a:moveTo>
                    <a:pt x="0" y="0"/>
                  </a:moveTo>
                  <a:lnTo>
                    <a:pt x="56769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6770" y="2741295"/>
              <a:ext cx="6735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openspec/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6770" y="2912745"/>
              <a:ext cx="7786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config.yaml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09022" y="2920841"/>
              <a:ext cx="27380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← tech stack · test commands · design system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6770" y="3084195"/>
              <a:ext cx="11467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changes/archive/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6770" y="3255645"/>
              <a:ext cx="15147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2026-05-13-login-page/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6770" y="3427095"/>
              <a:ext cx="21391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DEDEF"/>
                  </a:solidFill>
                  <a:latin typeface="Consolas"/>
                  <a:ea typeface="Microsoft YaHei"/>
                  <a:cs typeface="Consolas"/>
                </a:rPr>
                <a:t>proposal.md design.md tasks.md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6770" y="3598545"/>
              <a:ext cx="17185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DEDEF"/>
                  </a:solidFill>
                  <a:latin typeface="Consolas"/>
                  <a:ea typeface="Microsoft YaHei"/>
                  <a:cs typeface="Consolas"/>
                </a:rPr>
                <a:t>specs/login-page/spec.md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6770" y="3769995"/>
              <a:ext cx="10284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.openspec.yaml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6770" y="3941445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specs/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09022" y="3949541"/>
              <a:ext cx="164156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← source of truth: 能力规格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6770" y="4112895"/>
              <a:ext cx="7260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DEDEF"/>
                  </a:solidFill>
                  <a:latin typeface="Consolas"/>
                  <a:ea typeface="Microsoft YaHei"/>
                  <a:cs typeface="Consolas"/>
                </a:rPr>
                <a:t>README.md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09022" y="4120991"/>
              <a:ext cx="93668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← Cleanup 2 更新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6770" y="4284345"/>
              <a:ext cx="12847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DEDEF"/>
                  </a:solidFill>
                  <a:latin typeface="Consolas"/>
                  <a:ea typeface="Microsoft YaHei"/>
                  <a:cs typeface="Consolas"/>
                </a:rPr>
                <a:t>login-page/spec.md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09022" y="4292441"/>
              <a:ext cx="140660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← Cleanup 1 填写 Purpose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838200" y="4514850"/>
              <a:ext cx="5676900" cy="9525"/>
            </a:xfrm>
            <a:custGeom>
              <a:avLst/>
              <a:gdLst/>
              <a:ahLst/>
              <a:cxnLst/>
              <a:rect l="l" t="t" r="r" b="b"/>
              <a:pathLst>
                <a:path w="5676900" h="9525">
                  <a:moveTo>
                    <a:pt x="0" y="0"/>
                  </a:moveTo>
                  <a:lnTo>
                    <a:pt x="56769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26770" y="4608195"/>
              <a:ext cx="16330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.claude/commands/opsx/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609022" y="4616291"/>
              <a:ext cx="11053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← opsx-install 部署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6770" y="4779645"/>
              <a:ext cx="15279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DEDEF"/>
                  </a:solidFill>
                  <a:latin typeface="Consolas"/>
                  <a:ea typeface="Microsoft YaHei"/>
                  <a:cs typeface="Consolas"/>
                </a:rPr>
                <a:t>explore.md propose.md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6770" y="4951095"/>
              <a:ext cx="13504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DEDEF"/>
                  </a:solidFill>
                  <a:latin typeface="Consolas"/>
                  <a:ea typeface="Microsoft YaHei"/>
                  <a:cs typeface="Consolas"/>
                </a:rPr>
                <a:t>apply.md archive.md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838200" y="5181600"/>
              <a:ext cx="5676900" cy="9525"/>
            </a:xfrm>
            <a:custGeom>
              <a:avLst/>
              <a:gdLst/>
              <a:ahLst/>
              <a:cxnLst/>
              <a:rect l="l" t="t" r="r" b="b"/>
              <a:pathLst>
                <a:path w="5676900" h="9525">
                  <a:moveTo>
                    <a:pt x="0" y="0"/>
                  </a:moveTo>
                  <a:lnTo>
                    <a:pt x="56769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26770" y="5274945"/>
              <a:ext cx="6998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DEDEF"/>
                  </a:solidFill>
                  <a:latin typeface="Consolas"/>
                  <a:ea typeface="Microsoft YaHei"/>
                  <a:cs typeface="Consolas"/>
                </a:rPr>
                <a:t>CLAUDE.md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609022" y="5283041"/>
              <a:ext cx="11776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← Cleanup 3 踩坑笔记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6770" y="5446395"/>
              <a:ext cx="7260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DEDEF"/>
                  </a:solidFill>
                  <a:latin typeface="Consolas"/>
                  <a:ea typeface="Microsoft YaHei"/>
                  <a:cs typeface="Consolas"/>
                </a:rPr>
                <a:t>README.md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609022" y="5454491"/>
              <a:ext cx="15511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← Cleanup 4 (用户可见变更)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6770" y="5617845"/>
              <a:ext cx="157391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docs/log/2026-05-13.md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609022" y="562594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← dev log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6770" y="5789295"/>
              <a:ext cx="20405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src/components/LoginPage.tsx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6770" y="5960745"/>
              <a:ext cx="24020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src/components/LoginPage.test.tsx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6953250" y="1257300"/>
            <a:ext cx="4629150" cy="5143500"/>
            <a:chOff x="6953250" y="1257300"/>
            <a:chExt cx="4629150" cy="5143500"/>
          </a:xfrm>
        </p:grpSpPr>
        <p:sp>
          <p:nvSpPr>
            <p:cNvPr id="49" name="Rectangle 49"/>
            <p:cNvSpPr/>
            <p:nvPr/>
          </p:nvSpPr>
          <p:spPr>
            <a:xfrm>
              <a:off x="6953250" y="1257300"/>
              <a:ext cx="4629150" cy="1485900"/>
            </a:xfrm>
            <a:prstGeom prst="roundRect">
              <a:avLst>
                <a:gd name="adj" fmla="val 5128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953250" y="1257300"/>
              <a:ext cx="4629150" cy="28575"/>
            </a:xfrm>
            <a:prstGeom prst="roundRect">
              <a:avLst>
                <a:gd name="adj" fmla="val 50000"/>
              </a:avLst>
            </a:prstGeom>
            <a:solidFill>
              <a:srgbClr val="5E6AD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133272" y="1415891"/>
              <a:ext cx="8824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PHASE 1 OUTPUT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31368" y="1590199"/>
              <a:ext cx="18332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requirements.md 必须经过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32320" y="1769745"/>
              <a:ext cx="18170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superpowers:brainstorming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131368" y="1933099"/>
              <a:ext cx="22390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审查后 Status 才能升为 REVIEWED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131368" y="2104549"/>
              <a:ext cx="26235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mocks.html 在 apply 时作为 MOCK 参照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133272" y="2520791"/>
              <a:ext cx="17982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// propose 拒绝 Status: DRAFT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953250" y="2895600"/>
              <a:ext cx="4629150" cy="1524000"/>
            </a:xfrm>
            <a:prstGeom prst="roundRect">
              <a:avLst>
                <a:gd name="adj" fmla="val 5000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953250" y="2895600"/>
              <a:ext cx="4629150" cy="28575"/>
            </a:xfrm>
            <a:prstGeom prst="roundRect">
              <a:avLst>
                <a:gd name="adj" fmla="val 50000"/>
              </a:avLst>
            </a:prstGeom>
            <a:solidFill>
              <a:srgbClr val="E5484D">
                <a:alpha val="70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133272" y="3054191"/>
              <a:ext cx="85836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5484D"/>
                  </a:solidFill>
                  <a:latin typeface="Consolas"/>
                  <a:ea typeface="Microsoft YaHei"/>
                  <a:cs typeface="Consolas"/>
                </a:rPr>
                <a:t>PHASE 3 SKILLS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132320" y="3255645"/>
              <a:ext cx="2540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5484D"/>
                  </a:solidFill>
                  <a:latin typeface="Consolas"/>
                  <a:ea typeface="Microsoft YaHei"/>
                  <a:cs typeface="Consolas"/>
                </a:rPr>
                <a:t>superpowers:test-driven-development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32320" y="3427095"/>
              <a:ext cx="22837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session-start，强制先 RED 后 GREEN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132320" y="3655695"/>
              <a:ext cx="24677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superpowers:requesting-code-review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132320" y="3827145"/>
              <a:ext cx="1987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X.Z 任务调用（1.Z · 2.Z · 3.4）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132320" y="4055745"/>
              <a:ext cx="294751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superpowers:verification-before-completion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132320" y="4227195"/>
              <a:ext cx="11992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任务 3.3，最终验证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953250" y="4572000"/>
              <a:ext cx="4629150" cy="1828800"/>
            </a:xfrm>
            <a:prstGeom prst="roundRect">
              <a:avLst>
                <a:gd name="adj" fmla="val 4167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953250" y="4572000"/>
              <a:ext cx="4629150" cy="28575"/>
            </a:xfrm>
            <a:prstGeom prst="roundRect">
              <a:avLst>
                <a:gd name="adj" fmla="val 50000"/>
              </a:avLst>
            </a:prstGeom>
            <a:solidFill>
              <a:srgbClr val="30A46C">
                <a:alpha val="80000"/>
              </a:srgbClr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133272" y="4730591"/>
              <a:ext cx="102103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PHASE 4 CLEANUPS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132320" y="4932045"/>
              <a:ext cx="16264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openspec archive &lt;topic&gt;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132320" y="5103495"/>
              <a:ext cx="27634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Arial"/>
                  <a:ea typeface="Microsoft YaHei"/>
                  <a:cs typeface="Arial"/>
                </a:rPr>
                <a:t>移动 changes/ → archive/，合并 spec deltas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131368" y="5304949"/>
              <a:ext cx="24384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Cleanup 1: 填写 spec.md ## Purpose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131368" y="5495449"/>
              <a:ext cx="30436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Cleanup 2: 更新 openspec/specs/README.md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131368" y="5685949"/>
              <a:ext cx="25523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Cleanup 3: CLAUDE.md 踩坑（有则记）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131368" y="5876449"/>
              <a:ext cx="28229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Cleanup 4: README.md（用户可见变更时）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133272" y="6121241"/>
              <a:ext cx="34549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// 四项清理是 /opsx:archive 追加的，openspec archive 不做</a:t>
              </a:r>
            </a:p>
          </p:txBody>
        </p:sp>
      </p:grpSp>
      <p:sp>
        <p:nvSpPr>
          <p:cNvPr id="77" name="Line 77"/>
          <p:cNvSpPr/>
          <p:nvPr/>
        </p:nvSpPr>
        <p:spPr>
          <a:xfrm>
            <a:off x="0" y="65913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2B2B2F"/>
            </a:solidFill>
          </a:ln>
        </p:spPr>
      </p:sp>
      <p:sp>
        <p:nvSpPr>
          <p:cNvPr id="78" name="TextBox 78"/>
          <p:cNvSpPr txBox="1"/>
          <p:nvPr/>
        </p:nvSpPr>
        <p:spPr>
          <a:xfrm>
            <a:off x="4139184" y="6665595"/>
            <a:ext cx="39136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5B66"/>
                </a:solidFill>
                <a:latin typeface="Arial"/>
                <a:ea typeface="Microsoft YaHei"/>
                <a:cs typeface="Arial"/>
              </a:rPr>
              <a:t>技术分享 · Austin · github.com/austinxyz/opsx-superpowers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1412355" y="6673691"/>
            <a:ext cx="123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5A5B66"/>
                </a:solidFill>
                <a:latin typeface="Consolas"/>
                <a:ea typeface="Microsoft YaHei"/>
                <a:cs typeface="Consolas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7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19050">
            <a:solidFill>
              <a:srgbClr val="5E6AD2">
                <a:alpha val="60000"/>
              </a:srgbClr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09600" y="400050"/>
            <a:ext cx="10984230" cy="742950"/>
            <a:chOff x="609600" y="400050"/>
            <a:chExt cx="10984230" cy="742950"/>
          </a:xfrm>
        </p:grpSpPr>
        <p:sp>
          <p:nvSpPr>
            <p:cNvPr id="4" name="Rectangle 4"/>
            <p:cNvSpPr/>
            <p:nvPr/>
          </p:nvSpPr>
          <p:spPr>
            <a:xfrm>
              <a:off x="609600" y="400050"/>
              <a:ext cx="28575" cy="533400"/>
            </a:xfrm>
            <a:prstGeom prst="roundRect">
              <a:avLst>
                <a:gd name="adj" fmla="val 50000"/>
              </a:avLst>
            </a:prstGeom>
            <a:solidFill>
              <a:srgbClr val="5E6AD2">
                <a:alpha val="85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87718" y="580549"/>
              <a:ext cx="6157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PHASE 00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9620" y="655320"/>
              <a:ext cx="263728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安装与快速开始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459242" y="588645"/>
              <a:ext cx="134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13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104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2B2B2F"/>
            </a:solidFill>
          </a:ln>
        </p:spPr>
      </p:sp>
      <p:grpSp>
        <p:nvGrpSpPr>
          <p:cNvPr id="50" name="Group 50"/>
          <p:cNvGrpSpPr/>
          <p:nvPr/>
        </p:nvGrpSpPr>
        <p:grpSpPr>
          <a:xfrm>
            <a:off x="599122" y="1320641"/>
            <a:ext cx="5001578" cy="4032409"/>
            <a:chOff x="599122" y="1320641"/>
            <a:chExt cx="5001578" cy="4032409"/>
          </a:xfrm>
        </p:grpSpPr>
        <p:sp>
          <p:nvSpPr>
            <p:cNvPr id="10" name="TextBox 10"/>
            <p:cNvSpPr txBox="1"/>
            <p:nvPr/>
          </p:nvSpPr>
          <p:spPr>
            <a:xfrm>
              <a:off x="599122" y="1320641"/>
              <a:ext cx="8463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PREREQUISITES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148590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1543050"/>
              <a:ext cx="4991100" cy="419100"/>
            </a:xfrm>
            <a:prstGeom prst="roundRect">
              <a:avLst>
                <a:gd name="adj" fmla="val 13636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843915" y="1721739"/>
              <a:ext cx="122682" cy="157734"/>
            </a:xfrm>
            <a:custGeom>
              <a:avLst/>
              <a:gdLst/>
              <a:ahLst/>
              <a:cxnLst/>
              <a:rect l="l" t="t" r="r" b="b"/>
              <a:pathLst>
                <a:path w="122682" h="157734">
                  <a:moveTo>
                    <a:pt x="70104" y="0"/>
                  </a:moveTo>
                  <a:lnTo>
                    <a:pt x="70104" y="61341"/>
                  </a:lnTo>
                  <a:lnTo>
                    <a:pt x="122682" y="61341"/>
                  </a:lnTo>
                  <a:lnTo>
                    <a:pt x="52578" y="157734"/>
                  </a:lnTo>
                  <a:lnTo>
                    <a:pt x="52578" y="96393"/>
                  </a:lnTo>
                  <a:lnTo>
                    <a:pt x="0" y="96393"/>
                  </a:lnTo>
                  <a:lnTo>
                    <a:pt x="70104" y="0"/>
                  </a:lnTo>
                </a:path>
              </a:pathLst>
            </a:custGeom>
            <a:noFill/>
            <a:ln w="14288" cap="rnd">
              <a:solidFill>
                <a:srgbClr val="5E6AD2"/>
              </a:solidFill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92518" y="1590199"/>
              <a:ext cx="19012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superpowers 技能基础设施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4422" y="1787366"/>
              <a:ext cx="18283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github.com/obra/superpowers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06340" y="1701641"/>
              <a:ext cx="26193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必需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09600" y="2019300"/>
              <a:ext cx="4991100" cy="419100"/>
            </a:xfrm>
            <a:prstGeom prst="roundRect">
              <a:avLst>
                <a:gd name="adj" fmla="val 13636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826389" y="2215515"/>
              <a:ext cx="157734" cy="122682"/>
              <a:chOff x="826389" y="2215515"/>
              <a:chExt cx="157734" cy="122682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826389" y="2215515"/>
                <a:ext cx="157734" cy="122682"/>
              </a:xfrm>
              <a:prstGeom prst="roundRect">
                <a:avLst>
                  <a:gd name="adj" fmla="val 14286"/>
                </a:avLst>
              </a:prstGeom>
              <a:noFill/>
              <a:ln w="14288" cap="rnd">
                <a:solidFill>
                  <a:srgbClr val="5E6AD2"/>
                </a:solidFill>
                <a:round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61441" y="2250567"/>
                <a:ext cx="26289" cy="52578"/>
              </a:xfrm>
              <a:custGeom>
                <a:avLst/>
                <a:gdLst/>
                <a:ahLst/>
                <a:cxnLst/>
                <a:rect l="l" t="t" r="r" b="b"/>
                <a:pathLst>
                  <a:path w="26289" h="52578">
                    <a:moveTo>
                      <a:pt x="0" y="0"/>
                    </a:moveTo>
                    <a:lnTo>
                      <a:pt x="26289" y="26289"/>
                    </a:lnTo>
                    <a:lnTo>
                      <a:pt x="0" y="52578"/>
                    </a:lnTo>
                  </a:path>
                </a:pathLst>
              </a:custGeom>
              <a:noFill/>
              <a:ln w="14288" cap="rnd">
                <a:solidFill>
                  <a:srgbClr val="5E6AD2"/>
                </a:solidFill>
                <a:round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914019" y="2303145"/>
                <a:ext cx="3505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5052" h="9525">
                    <a:moveTo>
                      <a:pt x="0" y="0"/>
                    </a:moveTo>
                    <a:lnTo>
                      <a:pt x="35052" y="0"/>
                    </a:lnTo>
                  </a:path>
                </a:pathLst>
              </a:custGeom>
              <a:noFill/>
              <a:ln w="14288" cap="rnd">
                <a:solidFill>
                  <a:srgbClr val="5E6AD2"/>
                </a:solidFill>
                <a:round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92518" y="2066449"/>
              <a:ext cx="21778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Node.js 20.19+ &amp; OpenSpec CLI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4422" y="2263616"/>
              <a:ext cx="25271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npm install -g @fission-ai/openspec@latest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06340" y="2177891"/>
              <a:ext cx="26193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必需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9122" y="2558891"/>
              <a:ext cx="4547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INSTALL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09600" y="272415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628650" y="2838450"/>
              <a:ext cx="266700" cy="266700"/>
            </a:xfrm>
            <a:prstGeom prst="ellipse">
              <a:avLst/>
            </a:prstGeom>
            <a:solidFill>
              <a:srgbClr val="1A1A1F"/>
            </a:solidFill>
            <a:ln w="14288">
              <a:solidFill>
                <a:srgbClr val="5E6AD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30853" y="2922270"/>
              <a:ext cx="622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8218" y="2837974"/>
              <a:ext cx="20582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安装 opsx-superpowers 插件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90600" y="3028950"/>
              <a:ext cx="4533900" cy="266700"/>
            </a:xfrm>
            <a:prstGeom prst="roundRect">
              <a:avLst>
                <a:gd name="adj" fmla="val 14286"/>
              </a:avLst>
            </a:prstGeom>
            <a:solidFill>
              <a:srgbClr val="1A1A1F"/>
            </a:solidFill>
            <a:ln w="9525">
              <a:solidFill>
                <a:srgbClr val="2B2B2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94422" y="3120866"/>
              <a:ext cx="41357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claude --plugin-url https://github.com/austinxyz/opsx-superpowers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762000" y="310515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9525">
              <a:solidFill>
                <a:srgbClr val="5E6AD2">
                  <a:alpha val="40000"/>
                </a:srgbClr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628650" y="3505200"/>
              <a:ext cx="266700" cy="266700"/>
            </a:xfrm>
            <a:prstGeom prst="ellipse">
              <a:avLst/>
            </a:prstGeom>
            <a:solidFill>
              <a:srgbClr val="1A1A1F"/>
            </a:solidFill>
            <a:ln w="14288">
              <a:solidFill>
                <a:srgbClr val="5E6AD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14423" y="358902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8218" y="3504724"/>
              <a:ext cx="13853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推送 schema 到项目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90600" y="3695700"/>
              <a:ext cx="4533900" cy="438150"/>
            </a:xfrm>
            <a:prstGeom prst="roundRect">
              <a:avLst>
                <a:gd name="adj" fmla="val 8696"/>
              </a:avLst>
            </a:prstGeom>
            <a:solidFill>
              <a:srgbClr val="1A1A1F"/>
            </a:solidFill>
            <a:ln w="9525">
              <a:solidFill>
                <a:srgbClr val="2B2B2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94422" y="3778091"/>
              <a:ext cx="74992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Mac / Linux: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94522" y="3778091"/>
              <a:ext cx="7258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opsx-install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94422" y="3968591"/>
              <a:ext cx="56919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Windows: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894522" y="3968591"/>
              <a:ext cx="23584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! bash /c/Users/&lt;you&gt;/.../opsx-install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762000" y="3771900"/>
              <a:ext cx="9525" cy="533400"/>
            </a:xfrm>
            <a:custGeom>
              <a:avLst/>
              <a:gdLst/>
              <a:ahLst/>
              <a:cxnLst/>
              <a:rect l="l" t="t" r="r" b="b"/>
              <a:pathLst>
                <a:path w="9525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9525">
              <a:solidFill>
                <a:srgbClr val="5E6AD2">
                  <a:alpha val="40000"/>
                </a:srgbClr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628650" y="4305300"/>
              <a:ext cx="266700" cy="266700"/>
            </a:xfrm>
            <a:prstGeom prst="ellipse">
              <a:avLst/>
            </a:prstGeom>
            <a:solidFill>
              <a:srgbClr val="30A46C">
                <a:alpha val="15000"/>
              </a:srgbClr>
            </a:solidFill>
            <a:ln w="14288">
              <a:solidFill>
                <a:srgbClr val="30A46C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14423" y="438912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78218" y="4304824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初始化项目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90600" y="4495800"/>
              <a:ext cx="4533900" cy="266700"/>
            </a:xfrm>
            <a:prstGeom prst="roundRect">
              <a:avLst>
                <a:gd name="adj" fmla="val 14286"/>
              </a:avLst>
            </a:prstGeom>
            <a:solidFill>
              <a:srgbClr val="1A1A1F"/>
            </a:solidFill>
            <a:ln w="9525">
              <a:solidFill>
                <a:srgbClr val="2B2B2F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94422" y="4587716"/>
              <a:ext cx="156324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openspec init --tools none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09600" y="4895850"/>
              <a:ext cx="4991100" cy="457200"/>
            </a:xfrm>
            <a:prstGeom prst="roundRect">
              <a:avLst>
                <a:gd name="adj" fmla="val 12500"/>
              </a:avLst>
            </a:prstGeom>
            <a:solidFill>
              <a:srgbClr val="1A1A1F"/>
            </a:solidFill>
            <a:ln w="9525">
              <a:solidFill>
                <a:srgbClr val="2B2B2F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88670" y="4998720"/>
              <a:ext cx="39990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初始化后将 config-template.yaml 复制为 openspec/config.yaml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8670" y="5170170"/>
              <a:ext cx="39662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Arial"/>
                  <a:ea typeface="Microsoft YaHei"/>
                  <a:cs typeface="Arial"/>
                </a:rPr>
                <a:t>配置 dev_stack_command、test_commands、design_system 等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818822" y="1320641"/>
            <a:ext cx="5763578" cy="4394359"/>
            <a:chOff x="5818822" y="1320641"/>
            <a:chExt cx="5763578" cy="4394359"/>
          </a:xfrm>
        </p:grpSpPr>
        <p:sp>
          <p:nvSpPr>
            <p:cNvPr id="51" name="TextBox 51"/>
            <p:cNvSpPr txBox="1"/>
            <p:nvPr/>
          </p:nvSpPr>
          <p:spPr>
            <a:xfrm>
              <a:off x="5818822" y="1320641"/>
              <a:ext cx="7137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QUICK START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5829300" y="1485900"/>
              <a:ext cx="5753100" cy="9525"/>
            </a:xfrm>
            <a:custGeom>
              <a:avLst/>
              <a:gdLst/>
              <a:ahLst/>
              <a:cxnLst/>
              <a:rect l="l" t="t" r="r" b="b"/>
              <a:pathLst>
                <a:path w="5753100" h="9525">
                  <a:moveTo>
                    <a:pt x="0" y="0"/>
                  </a:moveTo>
                  <a:lnTo>
                    <a:pt x="57531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5829300" y="1543050"/>
              <a:ext cx="5753100" cy="3448050"/>
            </a:xfrm>
            <a:prstGeom prst="roundRect">
              <a:avLst>
                <a:gd name="adj" fmla="val 2210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5829300" y="1543050"/>
              <a:ext cx="5753100" cy="342900"/>
            </a:xfrm>
            <a:prstGeom prst="roundRect">
              <a:avLst>
                <a:gd name="adj" fmla="val 22222"/>
              </a:avLst>
            </a:prstGeom>
            <a:solidFill>
              <a:srgbClr val="1A1A1F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6010275" y="1666875"/>
              <a:ext cx="95250" cy="95250"/>
            </a:xfrm>
            <a:prstGeom prst="ellipse">
              <a:avLst/>
            </a:prstGeom>
            <a:solidFill>
              <a:srgbClr val="E5484D">
                <a:alpha val="70000"/>
              </a:srgbClr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6200775" y="1666875"/>
              <a:ext cx="95250" cy="95250"/>
            </a:xfrm>
            <a:prstGeom prst="ellipse">
              <a:avLst/>
            </a:prstGeom>
            <a:solidFill>
              <a:srgbClr val="F0A429">
                <a:alpha val="70000"/>
              </a:srgbClr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6391275" y="1666875"/>
              <a:ext cx="95250" cy="95250"/>
            </a:xfrm>
            <a:prstGeom prst="ellipse">
              <a:avLst/>
            </a:prstGeom>
            <a:solidFill>
              <a:srgbClr val="30A46C">
                <a:alpha val="70000"/>
              </a:srgbClr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309800" y="1673066"/>
              <a:ext cx="79209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bash — claude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46470" y="1941195"/>
              <a:ext cx="13701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# 0. 进入并初始化项目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046470" y="2112645"/>
              <a:ext cx="2940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$ cd my-project &amp;&amp; openspec init --tools none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046470" y="2284095"/>
              <a:ext cx="21128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✓ openspec/ directory initialized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046470" y="2493645"/>
              <a:ext cx="17316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# 1. 探索需求，生成需求文档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046470" y="2665095"/>
              <a:ext cx="10415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$ /opsx:explore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046470" y="2836545"/>
              <a:ext cx="36573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✓ requirements.md created (docs/superpowers/specs/)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046470" y="3046095"/>
              <a:ext cx="15016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# 2. 描述需求，生成任务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046470" y="3217545"/>
              <a:ext cx="21654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$ /opsx:propose 添加用户登录页面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046470" y="3388995"/>
              <a:ext cx="18630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✓ changes/tasks.md created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046470" y="3598545"/>
              <a:ext cx="11401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# 3. 执行 TDD 任务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046470" y="3769995"/>
              <a:ext cx="8969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$ /opsx:apply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046470" y="3941445"/>
              <a:ext cx="19156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✓ 23 tasks · 3 reviews passed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046470" y="4150995"/>
              <a:ext cx="12387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# 4. 归档，沉淀能力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046470" y="4322445"/>
              <a:ext cx="10415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Consolas"/>
                  <a:ea typeface="Microsoft YaHei"/>
                  <a:cs typeface="Consolas"/>
                </a:rPr>
                <a:t>$ /opsx:archive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046470" y="4493895"/>
              <a:ext cx="24611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✓ archived · openspec/specs/ updated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057900" y="4686300"/>
              <a:ext cx="76200" cy="133350"/>
            </a:xfrm>
            <a:prstGeom prst="roundRect">
              <a:avLst>
                <a:gd name="adj" fmla="val 12500"/>
              </a:avLst>
            </a:prstGeom>
            <a:solidFill>
              <a:srgbClr val="5E6AD2">
                <a:alpha val="70000"/>
              </a:srgbClr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5829300" y="5143500"/>
              <a:ext cx="5753100" cy="571500"/>
            </a:xfrm>
            <a:prstGeom prst="roundRect">
              <a:avLst>
                <a:gd name="adj" fmla="val 13333"/>
              </a:avLst>
            </a:prstGeom>
            <a:solidFill>
              <a:srgbClr val="141414"/>
            </a:solidFill>
            <a:ln w="9525">
              <a:solidFill>
                <a:srgbClr val="5E6AD2">
                  <a:alpha val="40000"/>
                </a:srgbClr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6046089" y="5339486"/>
              <a:ext cx="148971" cy="159487"/>
            </a:xfrm>
            <a:custGeom>
              <a:avLst/>
              <a:gdLst/>
              <a:ahLst/>
              <a:cxnLst/>
              <a:rect l="l" t="t" r="r" b="b"/>
              <a:pathLst>
                <a:path w="148971" h="159487">
                  <a:moveTo>
                    <a:pt x="52578" y="141961"/>
                  </a:moveTo>
                  <a:cubicBezTo>
                    <a:pt x="14897" y="154229"/>
                    <a:pt x="14897" y="120053"/>
                    <a:pt x="0" y="115672"/>
                  </a:cubicBezTo>
                  <a:moveTo>
                    <a:pt x="105156" y="159487"/>
                  </a:moveTo>
                  <a:lnTo>
                    <a:pt x="105156" y="128816"/>
                  </a:lnTo>
                  <a:cubicBezTo>
                    <a:pt x="105156" y="120053"/>
                    <a:pt x="106032" y="116548"/>
                    <a:pt x="100775" y="111290"/>
                  </a:cubicBezTo>
                  <a:cubicBezTo>
                    <a:pt x="125311" y="108661"/>
                    <a:pt x="148971" y="99022"/>
                    <a:pt x="148971" y="58712"/>
                  </a:cubicBezTo>
                  <a:cubicBezTo>
                    <a:pt x="148960" y="48240"/>
                    <a:pt x="144875" y="38183"/>
                    <a:pt x="137579" y="30670"/>
                  </a:cubicBezTo>
                  <a:cubicBezTo>
                    <a:pt x="141001" y="21574"/>
                    <a:pt x="140686" y="11494"/>
                    <a:pt x="136703" y="2629"/>
                  </a:cubicBezTo>
                  <a:cubicBezTo>
                    <a:pt x="136703" y="2629"/>
                    <a:pt x="127064" y="0"/>
                    <a:pt x="106032" y="14021"/>
                  </a:cubicBezTo>
                  <a:cubicBezTo>
                    <a:pt x="88219" y="9382"/>
                    <a:pt x="69515" y="9382"/>
                    <a:pt x="51702" y="14021"/>
                  </a:cubicBezTo>
                  <a:cubicBezTo>
                    <a:pt x="30671" y="0"/>
                    <a:pt x="21031" y="2629"/>
                    <a:pt x="21031" y="2629"/>
                  </a:cubicBezTo>
                  <a:cubicBezTo>
                    <a:pt x="17048" y="11494"/>
                    <a:pt x="16733" y="21574"/>
                    <a:pt x="20155" y="30671"/>
                  </a:cubicBezTo>
                  <a:cubicBezTo>
                    <a:pt x="12859" y="38183"/>
                    <a:pt x="8774" y="48240"/>
                    <a:pt x="8763" y="58712"/>
                  </a:cubicBezTo>
                  <a:cubicBezTo>
                    <a:pt x="8763" y="99022"/>
                    <a:pt x="32423" y="108661"/>
                    <a:pt x="56960" y="111290"/>
                  </a:cubicBezTo>
                  <a:cubicBezTo>
                    <a:pt x="51702" y="116548"/>
                    <a:pt x="51702" y="121806"/>
                    <a:pt x="52578" y="128816"/>
                  </a:cubicBezTo>
                  <a:lnTo>
                    <a:pt x="52578" y="159487"/>
                  </a:lnTo>
                </a:path>
              </a:pathLst>
            </a:custGeom>
            <a:noFill/>
            <a:ln w="14288" cap="rnd">
              <a:solidFill>
                <a:srgbClr val="5E6AD2"/>
              </a:solidFill>
              <a:round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274118" y="5285899"/>
              <a:ext cx="29083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github.com/austinxyz/opsx-superpowers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275070" y="5465445"/>
              <a:ext cx="18368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README · 安装文档 · 示例项目</a:t>
              </a:r>
            </a:p>
          </p:txBody>
        </p:sp>
      </p:grpSp>
      <p:sp>
        <p:nvSpPr>
          <p:cNvPr id="80" name="Line 80"/>
          <p:cNvSpPr/>
          <p:nvPr/>
        </p:nvSpPr>
        <p:spPr>
          <a:xfrm>
            <a:off x="0" y="65913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2B2B2F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4139184" y="6665595"/>
            <a:ext cx="39136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5B66"/>
                </a:solidFill>
                <a:latin typeface="Arial"/>
                <a:ea typeface="Microsoft YaHei"/>
                <a:cs typeface="Arial"/>
              </a:rPr>
              <a:t>技术分享 · Austin · github.com/austinxyz/opsx-superpowers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1412355" y="6673691"/>
            <a:ext cx="123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5A5B66"/>
                </a:solidFill>
                <a:latin typeface="Consolas"/>
                <a:ea typeface="Microsoft YaHei"/>
                <a:cs typeface="Consolas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7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E6AD2">
                  <a:alpha val="8000"/>
                </a:srgbClr>
              </a:gs>
              <a:gs pos="100000">
                <a:srgbClr val="5E6AD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19050">
            <a:solidFill>
              <a:srgbClr val="5E6AD2">
                <a:alpha val="60000"/>
              </a:srgbClr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1459242" y="3600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5A5B66"/>
                </a:solidFill>
                <a:latin typeface="Consolas"/>
                <a:ea typeface="Microsoft YaHei"/>
                <a:cs typeface="Consolas"/>
              </a:rPr>
              <a:t>14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458021" y="952500"/>
            <a:ext cx="7275957" cy="1666875"/>
            <a:chOff x="2458021" y="952500"/>
            <a:chExt cx="7275957" cy="1666875"/>
          </a:xfrm>
        </p:grpSpPr>
        <p:sp>
          <p:nvSpPr>
            <p:cNvPr id="6" name="Rectangle 6"/>
            <p:cNvSpPr/>
            <p:nvPr/>
          </p:nvSpPr>
          <p:spPr>
            <a:xfrm>
              <a:off x="4667250" y="952500"/>
              <a:ext cx="2857500" cy="266700"/>
            </a:xfrm>
            <a:prstGeom prst="roundRect">
              <a:avLst>
                <a:gd name="adj" fmla="val 50000"/>
              </a:avLst>
            </a:prstGeom>
            <a:solidFill>
              <a:srgbClr val="5E6AD2">
                <a:alpha val="10000"/>
              </a:srgbClr>
            </a:solidFill>
            <a:ln w="9525">
              <a:solidFill>
                <a:srgbClr val="5E6AD2">
                  <a:alpha val="30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805249" y="1036320"/>
              <a:ext cx="5815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SUMMARY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58021" y="1445895"/>
              <a:ext cx="7275957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OpenSpec + Superpowers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54438" y="2184082"/>
              <a:ext cx="32831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让 AI 做正确的事，而不只是快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3619500" y="260985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857250" y="2819400"/>
            <a:ext cx="10001250" cy="1181100"/>
            <a:chOff x="857250" y="2819400"/>
            <a:chExt cx="10001250" cy="1181100"/>
          </a:xfrm>
        </p:grpSpPr>
        <p:sp>
          <p:nvSpPr>
            <p:cNvPr id="12" name="Rectangle 12"/>
            <p:cNvSpPr/>
            <p:nvPr/>
          </p:nvSpPr>
          <p:spPr>
            <a:xfrm>
              <a:off x="857250" y="2819400"/>
              <a:ext cx="2286000" cy="1181100"/>
            </a:xfrm>
            <a:prstGeom prst="roundRect">
              <a:avLst>
                <a:gd name="adj" fmla="val 6452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857250" y="2819400"/>
              <a:ext cx="2286000" cy="28575"/>
            </a:xfrm>
            <a:prstGeom prst="roundRect">
              <a:avLst>
                <a:gd name="adj" fmla="val 50000"/>
              </a:avLst>
            </a:prstGeom>
            <a:solidFill>
              <a:srgbClr val="5E6AD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754815" y="30922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PHASE 01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68866" y="3245168"/>
              <a:ext cx="14627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/opsx:explore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31871" y="351424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理解上下文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57432" y="3704749"/>
              <a:ext cx="10856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A5B66"/>
                  </a:solidFill>
                  <a:latin typeface="Arial"/>
                  <a:ea typeface="Microsoft YaHei"/>
                  <a:cs typeface="Arial"/>
                </a:rPr>
                <a:t>capabilities.md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3143250" y="340995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rgbClr val="5E6AD2">
                  <a:alpha val="50000"/>
                </a:srgbClr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3333750" y="33718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6AD2">
                <a:alpha val="50000"/>
              </a:srgbClr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3429000" y="2819400"/>
              <a:ext cx="2286000" cy="1181100"/>
            </a:xfrm>
            <a:prstGeom prst="roundRect">
              <a:avLst>
                <a:gd name="adj" fmla="val 6452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429000" y="2819400"/>
              <a:ext cx="2286000" cy="28575"/>
            </a:xfrm>
            <a:prstGeom prst="roundRect">
              <a:avLst>
                <a:gd name="adj" fmla="val 50000"/>
              </a:avLst>
            </a:prstGeom>
            <a:solidFill>
              <a:srgbClr val="5E6AD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311503" y="3092291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E6AD2"/>
                  </a:solidFill>
                  <a:latin typeface="Consolas"/>
                  <a:ea typeface="Microsoft YaHei"/>
                  <a:cs typeface="Consolas"/>
                </a:rPr>
                <a:t>PHASE 02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814737" y="3245168"/>
              <a:ext cx="15145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/opsx:propose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74820" y="35142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规划任务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01344" y="3704749"/>
              <a:ext cx="15413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A5B66"/>
                  </a:solidFill>
                  <a:latin typeface="Arial"/>
                  <a:ea typeface="Microsoft YaHei"/>
                  <a:cs typeface="Arial"/>
                </a:rPr>
                <a:t>tasks.md · design.md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5715000" y="340995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rgbClr val="5E6AD2">
                  <a:alpha val="50000"/>
                </a:srgbClr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5905500" y="33718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6AD2">
                <a:alpha val="50000"/>
              </a:srgbClr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00750" y="2819400"/>
              <a:ext cx="2286000" cy="1181100"/>
            </a:xfrm>
            <a:prstGeom prst="roundRect">
              <a:avLst>
                <a:gd name="adj" fmla="val 6452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00750" y="2819400"/>
              <a:ext cx="2286000" cy="28575"/>
            </a:xfrm>
            <a:prstGeom prst="roundRect">
              <a:avLst>
                <a:gd name="adj" fmla="val 50000"/>
              </a:avLst>
            </a:prstGeom>
            <a:solidFill>
              <a:srgbClr val="E5484D">
                <a:alpha val="8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83253" y="3092291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5484D"/>
                  </a:solidFill>
                  <a:latin typeface="Consolas"/>
                  <a:ea typeface="Microsoft YaHei"/>
                  <a:cs typeface="Consolas"/>
                </a:rPr>
                <a:t>PHASE 03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26230" y="3245168"/>
              <a:ext cx="12350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/opsx:apply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50130" y="3514249"/>
              <a:ext cx="5872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TDD 执行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62735" y="3704749"/>
              <a:ext cx="17620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A5B66"/>
                  </a:solidFill>
                  <a:latin typeface="Arial"/>
                  <a:ea typeface="Microsoft YaHei"/>
                  <a:cs typeface="Arial"/>
                </a:rPr>
                <a:t>mock · red · green · diff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8286750" y="340995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rgbClr val="5E6AD2">
                  <a:alpha val="50000"/>
                </a:srgbClr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8477250" y="33718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E6AD2">
                <a:alpha val="50000"/>
              </a:srgbClr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572500" y="2819400"/>
              <a:ext cx="2286000" cy="1181100"/>
            </a:xfrm>
            <a:prstGeom prst="roundRect">
              <a:avLst>
                <a:gd name="adj" fmla="val 6452"/>
              </a:avLst>
            </a:prstGeom>
            <a:solidFill>
              <a:srgbClr val="141414"/>
            </a:solidFill>
            <a:ln w="9525">
              <a:solidFill>
                <a:srgbClr val="2B2B2F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572500" y="2819400"/>
              <a:ext cx="2286000" cy="28575"/>
            </a:xfrm>
            <a:prstGeom prst="roundRect">
              <a:avLst>
                <a:gd name="adj" fmla="val 50000"/>
              </a:avLst>
            </a:prstGeom>
            <a:solidFill>
              <a:srgbClr val="30A46C">
                <a:alpha val="80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455003" y="3092291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30A46C"/>
                  </a:solidFill>
                  <a:latin typeface="Consolas"/>
                  <a:ea typeface="Microsoft YaHei"/>
                  <a:cs typeface="Consolas"/>
                </a:rPr>
                <a:t>PHASE 04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84116" y="3245168"/>
              <a:ext cx="14627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/opsx:archive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18320" y="35142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能力归档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95325" y="3704749"/>
              <a:ext cx="18403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A5B66"/>
                  </a:solidFill>
                  <a:latin typeface="Arial"/>
                  <a:ea typeface="Microsoft YaHei"/>
                  <a:cs typeface="Arial"/>
                </a:rPr>
                <a:t>archive/ · capabilities.md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2064544" y="4292441"/>
            <a:ext cx="8171355" cy="1222534"/>
            <a:chOff x="2064544" y="4292441"/>
            <a:chExt cx="8171355" cy="1222534"/>
          </a:xfrm>
        </p:grpSpPr>
        <p:sp>
          <p:nvSpPr>
            <p:cNvPr id="43" name="TextBox 43"/>
            <p:cNvSpPr txBox="1"/>
            <p:nvPr/>
          </p:nvSpPr>
          <p:spPr>
            <a:xfrm>
              <a:off x="5657779" y="4292441"/>
              <a:ext cx="87644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5B66"/>
                  </a:solidFill>
                  <a:latin typeface="Consolas"/>
                  <a:ea typeface="Microsoft YaHei"/>
                  <a:cs typeface="Consolas"/>
                </a:rPr>
                <a:t>KEY TAKEAWAYS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2438400" y="4476750"/>
              <a:ext cx="7315200" cy="9525"/>
            </a:xfrm>
            <a:custGeom>
              <a:avLst/>
              <a:gdLst/>
              <a:ahLst/>
              <a:cxnLst/>
              <a:rect l="l" t="t" r="r" b="b"/>
              <a:pathLst>
                <a:path w="7315200" h="9525">
                  <a:moveTo>
                    <a:pt x="0" y="0"/>
                  </a:moveTo>
                  <a:lnTo>
                    <a:pt x="7315200" y="0"/>
                  </a:lnTo>
                </a:path>
              </a:pathLst>
            </a:custGeom>
            <a:noFill/>
            <a:ln w="9525">
              <a:solidFill>
                <a:srgbClr val="2B2B2F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2838450" y="4667250"/>
              <a:ext cx="381000" cy="381000"/>
            </a:xfrm>
            <a:prstGeom prst="ellipse">
              <a:avLst/>
            </a:prstGeom>
            <a:solidFill>
              <a:srgbClr val="5E6AD2">
                <a:alpha val="10000"/>
              </a:srgbClr>
            </a:solidFill>
            <a:ln w="9525">
              <a:solidFill>
                <a:srgbClr val="5E6AD2">
                  <a:alpha val="40000"/>
                </a:srgbClr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2962275" y="481012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47625"/>
                  </a:moveTo>
                  <a:lnTo>
                    <a:pt x="47625" y="95250"/>
                  </a:lnTo>
                  <a:lnTo>
                    <a:pt x="142875" y="0"/>
                  </a:lnTo>
                </a:path>
              </a:pathLst>
            </a:custGeom>
            <a:noFill/>
            <a:ln w="14288" cap="rnd">
              <a:solidFill>
                <a:srgbClr val="5E6AD2"/>
              </a:solidFill>
              <a:round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478881" y="512540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有边界的自动化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064544" y="5332095"/>
              <a:ext cx="19288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GATE 把关，人工审批在正确位置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5905500" y="4667250"/>
              <a:ext cx="381000" cy="381000"/>
            </a:xfrm>
            <a:prstGeom prst="ellipse">
              <a:avLst/>
            </a:prstGeom>
            <a:solidFill>
              <a:srgbClr val="5E6AD2">
                <a:alpha val="10000"/>
              </a:srgbClr>
            </a:solidFill>
            <a:ln w="9525">
              <a:solidFill>
                <a:srgbClr val="5E6AD2">
                  <a:alpha val="40000"/>
                </a:srgbClr>
              </a:solidFill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010275" y="4772025"/>
              <a:ext cx="171450" cy="171450"/>
              <a:chOff x="6010275" y="4772025"/>
              <a:chExt cx="171450" cy="17145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067425" y="483870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4288" cap="rnd">
                <a:solidFill>
                  <a:srgbClr val="5E6AD2"/>
                </a:solidFill>
                <a:round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010275" y="47720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85725" y="0"/>
                    </a:moveTo>
                    <a:cubicBezTo>
                      <a:pt x="38380" y="0"/>
                      <a:pt x="0" y="38380"/>
                      <a:pt x="0" y="85725"/>
                    </a:cubicBez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5E6AD2"/>
                </a:solidFill>
                <a:round/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5775960" y="512540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质量内建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957429" y="5332095"/>
              <a:ext cx="22771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TDD + 自动代码审查，每个 Group 一次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8972550" y="4667250"/>
              <a:ext cx="381000" cy="381000"/>
            </a:xfrm>
            <a:prstGeom prst="ellipse">
              <a:avLst/>
            </a:prstGeom>
            <a:solidFill>
              <a:srgbClr val="5E6AD2">
                <a:alpha val="10000"/>
              </a:srgbClr>
            </a:solidFill>
            <a:ln w="9525">
              <a:solidFill>
                <a:srgbClr val="5E6AD2">
                  <a:alpha val="40000"/>
                </a:srgbClr>
              </a:solidFill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9077325" y="4819650"/>
              <a:ext cx="171450" cy="123825"/>
              <a:chOff x="9077325" y="4819650"/>
              <a:chExt cx="171450" cy="123825"/>
            </a:xfrm>
          </p:grpSpPr>
          <p:sp>
            <p:nvSpPr>
              <p:cNvPr id="56" name="Ellipse 56"/>
              <p:cNvSpPr/>
              <p:nvPr/>
            </p:nvSpPr>
            <p:spPr>
              <a:xfrm>
                <a:off x="9077325" y="4819650"/>
                <a:ext cx="171450" cy="76200"/>
              </a:xfrm>
              <a:prstGeom prst="ellipse">
                <a:avLst/>
              </a:prstGeom>
              <a:noFill/>
              <a:ln w="14288" cap="rnd">
                <a:solidFill>
                  <a:srgbClr val="5E6AD2"/>
                </a:solidFill>
                <a:round/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9077325" y="4857750"/>
                <a:ext cx="1714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38100">
                    <a:moveTo>
                      <a:pt x="0" y="0"/>
                    </a:moveTo>
                    <a:cubicBezTo>
                      <a:pt x="0" y="21050"/>
                      <a:pt x="38386" y="38100"/>
                      <a:pt x="85725" y="38100"/>
                    </a:cubicBezTo>
                    <a:cubicBezTo>
                      <a:pt x="133064" y="38100"/>
                      <a:pt x="171450" y="21050"/>
                      <a:pt x="171450" y="0"/>
                    </a:cubicBezTo>
                  </a:path>
                </a:pathLst>
              </a:custGeom>
              <a:noFill/>
              <a:ln w="14288" cap="rnd">
                <a:solidFill>
                  <a:srgbClr val="5E6AD2"/>
                </a:solidFill>
                <a:round/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9077325" y="4857750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0"/>
                    </a:moveTo>
                    <a:lnTo>
                      <a:pt x="0" y="47625"/>
                    </a:lnTo>
                    <a:cubicBezTo>
                      <a:pt x="0" y="68675"/>
                      <a:pt x="38386" y="85725"/>
                      <a:pt x="85725" y="85725"/>
                    </a:cubicBezTo>
                    <a:cubicBezTo>
                      <a:pt x="133064" y="85725"/>
                      <a:pt x="171450" y="68675"/>
                      <a:pt x="171450" y="47625"/>
                    </a:cubicBezTo>
                    <a:lnTo>
                      <a:pt x="171450" y="0"/>
                    </a:lnTo>
                  </a:path>
                </a:pathLst>
              </a:custGeom>
              <a:noFill/>
              <a:ln w="14288" cap="rnd">
                <a:solidFill>
                  <a:srgbClr val="5E6AD2"/>
                </a:solidFill>
                <a:round/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8843010" y="512540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DEDEF"/>
                  </a:solidFill>
                  <a:latin typeface="Arial"/>
                  <a:ea typeface="Microsoft YaHei"/>
                  <a:cs typeface="Arial"/>
                </a:rPr>
                <a:t>累积知识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90202" y="5332095"/>
              <a:ext cx="21456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8D98"/>
                  </a:solidFill>
                  <a:latin typeface="Arial"/>
                  <a:ea typeface="Microsoft YaHei"/>
                  <a:cs typeface="Arial"/>
                </a:rPr>
                <a:t>每次归档更新能力记忆，AI 不会失忆</a:t>
              </a:r>
            </a:p>
          </p:txBody>
        </p:sp>
      </p:grpSp>
      <p:sp>
        <p:nvSpPr>
          <p:cNvPr id="63" name="Line 63"/>
          <p:cNvSpPr/>
          <p:nvPr/>
        </p:nvSpPr>
        <p:spPr>
          <a:xfrm>
            <a:off x="0" y="62484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2B2B2F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4641830" y="6352699"/>
            <a:ext cx="29083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E6AD2"/>
                </a:solidFill>
                <a:latin typeface="Consolas"/>
                <a:ea typeface="Microsoft YaHei"/>
                <a:cs typeface="Consolas"/>
              </a:rPr>
              <a:t>github.com/austinxyz/opsx-superpowers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044107" y="6562249"/>
            <a:ext cx="21037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5B66"/>
                </a:solidFill>
                <a:latin typeface="Arial"/>
                <a:ea typeface="Microsoft YaHei"/>
                <a:cs typeface="Arial"/>
              </a:rPr>
              <a:t>技术分享 · Austin · 2026-05-14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2" grpId="0"/>
      <p:bldP spid="6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